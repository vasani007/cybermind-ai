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sldIdLst>
    <p:sldId id="266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9" r:id="rId13"/>
    <p:sldId id="318" r:id="rId14"/>
    <p:sldId id="325" r:id="rId15"/>
    <p:sldId id="320" r:id="rId16"/>
    <p:sldId id="323" r:id="rId17"/>
    <p:sldId id="321" r:id="rId18"/>
    <p:sldId id="322" r:id="rId19"/>
    <p:sldId id="32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9" autoAdjust="0"/>
  </p:normalViewPr>
  <p:slideViewPr>
    <p:cSldViewPr snapToGrid="0">
      <p:cViewPr varScale="1">
        <p:scale>
          <a:sx n="87" d="100"/>
          <a:sy n="87" d="100"/>
        </p:scale>
        <p:origin x="48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05494-6DC3-4649-B4F3-D5612C8EEBA2}" type="datetimeFigureOut">
              <a:rPr lang="en-US" smtClean="0"/>
              <a:t>26/09/25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CBB23-A62B-4ABA-95AD-9AD18C8D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CBB23-A62B-4ABA-95AD-9AD18C8D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31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26/09/25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1524397"/>
            <a:ext cx="4813072" cy="2609491"/>
          </a:xfrm>
        </p:spPr>
        <p:txBody>
          <a:bodyPr>
            <a:normAutofit/>
          </a:bodyPr>
          <a:lstStyle/>
          <a:p>
            <a:r>
              <a:rPr lang="en-US" dirty="0" err="1"/>
              <a:t>CyberMind</a:t>
            </a:r>
            <a:r>
              <a:rPr lang="en-US" dirty="0"/>
              <a:t>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900" y="6047651"/>
            <a:ext cx="4829101" cy="810349"/>
          </a:xfrm>
        </p:spPr>
        <p:txBody>
          <a:bodyPr>
            <a:noAutofit/>
          </a:bodyPr>
          <a:lstStyle/>
          <a:p>
            <a:pPr algn="r"/>
            <a:r>
              <a:rPr sz="1800" dirty="0">
                <a:latin typeface="Arial"/>
              </a:rPr>
              <a:t>Presented by </a:t>
            </a:r>
            <a:r>
              <a:rPr sz="1800" b="1" dirty="0">
                <a:latin typeface="Arial"/>
              </a:rPr>
              <a:t>Daksh Vasani</a:t>
            </a:r>
          </a:p>
          <a:p>
            <a:pPr algn="r"/>
            <a:r>
              <a:rPr sz="1800" dirty="0">
                <a:latin typeface="Arial"/>
              </a:rPr>
              <a:t>ER. NO: </a:t>
            </a:r>
            <a:r>
              <a:rPr sz="1800" b="1" dirty="0">
                <a:latin typeface="Arial"/>
              </a:rPr>
              <a:t>2504070500037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F286C42-CCA2-6857-439E-12492A0BE7DF}"/>
              </a:ext>
            </a:extLst>
          </p:cNvPr>
          <p:cNvSpPr txBox="1"/>
          <p:nvPr/>
        </p:nvSpPr>
        <p:spPr>
          <a:xfrm>
            <a:off x="6730000" y="3885214"/>
            <a:ext cx="4187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AI-Powered Cyber Intelligence 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2A203-AE1C-BC4F-066D-C29A6D645577}"/>
              </a:ext>
            </a:extLst>
          </p:cNvPr>
          <p:cNvSpPr txBox="1"/>
          <p:nvPr/>
        </p:nvSpPr>
        <p:spPr>
          <a:xfrm>
            <a:off x="10059105" y="151862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Arial"/>
              </a:rPr>
              <a:t>PROJECT REVIEW – III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2DD3CF-6A21-A195-9F53-B55608C1E64C}"/>
              </a:ext>
            </a:extLst>
          </p:cNvPr>
          <p:cNvSpPr txBox="1"/>
          <p:nvPr/>
        </p:nvSpPr>
        <p:spPr>
          <a:xfrm>
            <a:off x="6096000" y="108898"/>
            <a:ext cx="2414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</a:rPr>
              <a:t>SOCCA - MSC DS</a:t>
            </a:r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38A444DD-3E08-9785-6420-A70CC8F2B02F}"/>
              </a:ext>
            </a:extLst>
          </p:cNvPr>
          <p:cNvSpPr/>
          <p:nvPr/>
        </p:nvSpPr>
        <p:spPr>
          <a:xfrm>
            <a:off x="14468741" y="1527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DE5847D7-ED4A-B27F-96D6-597540C05140}"/>
              </a:ext>
            </a:extLst>
          </p:cNvPr>
          <p:cNvSpPr/>
          <p:nvPr/>
        </p:nvSpPr>
        <p:spPr>
          <a:xfrm>
            <a:off x="14621141" y="3051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2CD7A28-9600-8D42-7C14-CA7B3ADE1FE7}"/>
              </a:ext>
            </a:extLst>
          </p:cNvPr>
          <p:cNvSpPr/>
          <p:nvPr/>
        </p:nvSpPr>
        <p:spPr>
          <a:xfrm>
            <a:off x="14773541" y="4575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A107BAB9-9CC5-CAD7-40FF-890EE2BDB0F3}"/>
              </a:ext>
            </a:extLst>
          </p:cNvPr>
          <p:cNvSpPr/>
          <p:nvPr/>
        </p:nvSpPr>
        <p:spPr>
          <a:xfrm>
            <a:off x="14925941" y="6099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21F32CD4-FC95-7E58-445D-EC2945D08091}"/>
              </a:ext>
            </a:extLst>
          </p:cNvPr>
          <p:cNvSpPr/>
          <p:nvPr/>
        </p:nvSpPr>
        <p:spPr>
          <a:xfrm>
            <a:off x="15078341" y="7623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312857D0-D2CE-B773-8650-19C979E583E9}"/>
              </a:ext>
            </a:extLst>
          </p:cNvPr>
          <p:cNvSpPr/>
          <p:nvPr/>
        </p:nvSpPr>
        <p:spPr>
          <a:xfrm>
            <a:off x="15230741" y="9147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17201EFF-96CF-AB3E-0CB6-FC4E5D69E83D}"/>
              </a:ext>
            </a:extLst>
          </p:cNvPr>
          <p:cNvSpPr/>
          <p:nvPr/>
        </p:nvSpPr>
        <p:spPr>
          <a:xfrm>
            <a:off x="15383141" y="10671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3" name="Freeform 12">
            <a:extLst>
              <a:ext uri="{FF2B5EF4-FFF2-40B4-BE49-F238E27FC236}">
                <a16:creationId xmlns:a16="http://schemas.microsoft.com/office/drawing/2014/main" id="{95CC4D16-7014-09F5-1060-5989035FB1CB}"/>
              </a:ext>
            </a:extLst>
          </p:cNvPr>
          <p:cNvSpPr/>
          <p:nvPr/>
        </p:nvSpPr>
        <p:spPr>
          <a:xfrm>
            <a:off x="15535541" y="12195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835F9B7E-D900-8BBB-BB5A-03C3D07C9473}"/>
              </a:ext>
            </a:extLst>
          </p:cNvPr>
          <p:cNvSpPr/>
          <p:nvPr/>
        </p:nvSpPr>
        <p:spPr>
          <a:xfrm>
            <a:off x="15687941" y="13719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9" name="Freeform 12">
            <a:extLst>
              <a:ext uri="{FF2B5EF4-FFF2-40B4-BE49-F238E27FC236}">
                <a16:creationId xmlns:a16="http://schemas.microsoft.com/office/drawing/2014/main" id="{2A92DDE9-27EC-B416-8087-D863901CBC9A}"/>
              </a:ext>
            </a:extLst>
          </p:cNvPr>
          <p:cNvSpPr/>
          <p:nvPr/>
        </p:nvSpPr>
        <p:spPr>
          <a:xfrm>
            <a:off x="15840341" y="15243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1" name="Freeform 12">
            <a:extLst>
              <a:ext uri="{FF2B5EF4-FFF2-40B4-BE49-F238E27FC236}">
                <a16:creationId xmlns:a16="http://schemas.microsoft.com/office/drawing/2014/main" id="{A071D43D-23B4-C005-4F9E-20185BC59CCE}"/>
              </a:ext>
            </a:extLst>
          </p:cNvPr>
          <p:cNvSpPr/>
          <p:nvPr/>
        </p:nvSpPr>
        <p:spPr>
          <a:xfrm>
            <a:off x="15992741" y="16767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197752-847E-93B3-FEA7-54DA60BB01DF}"/>
              </a:ext>
            </a:extLst>
          </p:cNvPr>
          <p:cNvCxnSpPr/>
          <p:nvPr/>
        </p:nvCxnSpPr>
        <p:spPr>
          <a:xfrm>
            <a:off x="6096000" y="471828"/>
            <a:ext cx="12514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7C2F79D4-3DCE-B2E7-A4AB-0DA8D72B7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178" y="108899"/>
            <a:ext cx="430254" cy="42572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30000" y="4550000"/>
            <a:ext cx="480000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4748B"/>
                </a:solidFill>
                <a:latin typeface="Arial"/>
              </a:rPr>
              <a:t>Under the Guidance of:</a:t>
            </a:r>
          </a:p>
          <a:p>
            <a:r>
              <a:rPr sz="1600" b="1" dirty="0">
                <a:solidFill>
                  <a:srgbClr val="0F172A"/>
                </a:solidFill>
                <a:latin typeface="Arial"/>
              </a:rPr>
              <a:t>Ms. Ritika </a:t>
            </a:r>
            <a:r>
              <a:rPr sz="1600" b="1" dirty="0" err="1">
                <a:solidFill>
                  <a:srgbClr val="0F172A"/>
                </a:solidFill>
                <a:latin typeface="Arial"/>
              </a:rPr>
              <a:t>Savaliya</a:t>
            </a:r>
            <a:endParaRPr sz="1600" b="1" dirty="0">
              <a:solidFill>
                <a:srgbClr val="0F172A"/>
              </a:solidFill>
              <a:latin typeface="Arial"/>
            </a:endParaRPr>
          </a:p>
          <a:p>
            <a:r>
              <a:rPr sz="1250" dirty="0">
                <a:solidFill>
                  <a:srgbClr val="243541"/>
                </a:solidFill>
                <a:latin typeface="Arial"/>
              </a:rPr>
              <a:t>SOCCA – Silver Oak University | M.Sc. Data Science</a:t>
            </a:r>
          </a:p>
        </p:txBody>
      </p: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P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roject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O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11592000" cy="110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000" y="1200000"/>
            <a:ext cx="1129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F172A"/>
                </a:solidFill>
                <a:latin typeface="Arial"/>
              </a:rPr>
              <a:t>CyberMind AI is an enterprise-grade AI-powered Cyber Threat Intelligence (CTI) and Malware Analysis Platform designed to consolidate multi-vector telemetry into a single pane of glass. The system integrates rule-based heuristics, 4 supervised machine learning classifiers, and generative AI explanations to produce a unified 0–100 cyber risk score and automated executive mitigation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2400000"/>
            <a:ext cx="2720000" cy="3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0000" y="2550000"/>
            <a:ext cx="2420000" cy="65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8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01 | 10 Specialized Scanners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00" y="3300000"/>
            <a:ext cx="236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64748B"/>
                </a:solidFill>
                <a:latin typeface="Arial"/>
              </a:rPr>
              <a:t>MODULAR MULTI-VECTOR ENGINES</a:t>
            </a:r>
          </a:p>
          <a:p>
            <a:pPr>
              <a:spcBef>
                <a:spcPts val="800"/>
              </a:spcBef>
            </a:pPr>
            <a:r>
              <a:rPr sz="1150" dirty="0">
                <a:solidFill>
                  <a:srgbClr val="0F172A"/>
                </a:solidFill>
                <a:latin typeface="Arial"/>
              </a:rPr>
              <a:t>•  Full-spectrum threat surface coverage across Web, Network, Files, and Endpoints.</a:t>
            </a:r>
          </a:p>
          <a:p>
            <a:pPr>
              <a:spcBef>
                <a:spcPts val="800"/>
              </a:spcBef>
            </a:pPr>
            <a:r>
              <a:rPr sz="1150" dirty="0">
                <a:solidFill>
                  <a:srgbClr val="0F172A"/>
                </a:solidFill>
                <a:latin typeface="Arial"/>
              </a:rPr>
              <a:t>•  Dedicated modules for URL, Website, Domain, Email, IP, Phone, File/PE, and QR.</a:t>
            </a:r>
          </a:p>
          <a:p>
            <a:pPr>
              <a:spcBef>
                <a:spcPts val="800"/>
              </a:spcBef>
            </a:pPr>
            <a:r>
              <a:rPr sz="1150" dirty="0">
                <a:solidFill>
                  <a:srgbClr val="0F172A"/>
                </a:solidFill>
                <a:latin typeface="Arial"/>
              </a:rPr>
              <a:t>•  Universal Auto-Scanner with intelligent input type inference &amp; auto-dispatch.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57000" y="2400000"/>
            <a:ext cx="2720000" cy="3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07000" y="2550000"/>
            <a:ext cx="2420000" cy="65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80000" rtlCol="0" anchor="ctr"/>
          <a:lstStyle/>
          <a:p>
            <a:pPr algn="ctr">
              <a:defRPr sz="1300" b="1">
                <a:solidFill>
                  <a:srgbClr val="2980B9"/>
                </a:solidFill>
                <a:latin typeface="Arial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02 | 13 External APIs &amp; 30+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7000" y="3300000"/>
            <a:ext cx="2360000" cy="2654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AGGREGATED THREAT INTELLIGENCE FEEDS</a:t>
            </a:r>
          </a:p>
          <a:p>
            <a:pPr>
              <a:spcBef>
                <a:spcPts val="800"/>
              </a:spcBef>
            </a:pP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•  Real-time enrichment via 13 APIs: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VirusTotal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AbuseIPDB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 Google Safe Browsing,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Groq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Veriphone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Numverify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 Abstract,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IPinfo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 IPQS,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VerificarEmails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sz="1150" dirty="0" err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IPinfo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IPQS for geolocation, ASN, proxy, and VPN/Tor exit-node detection.</a:t>
            </a:r>
          </a:p>
          <a:p>
            <a:pPr>
              <a:spcBef>
                <a:spcPts val="800"/>
              </a:spcBef>
            </a:pP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Resilient services layer with asynchronous timeouts and heuristic fallback.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000" y="2400000"/>
            <a:ext cx="2720000" cy="3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64000" y="2550000"/>
            <a:ext cx="2420000" cy="65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8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03 | 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4000" y="3300000"/>
            <a:ext cx="2360000" cy="2300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64748B"/>
                </a:solidFill>
                <a:latin typeface="Arial"/>
              </a:rPr>
              <a:t>SUPERVISED THREAT CLASSIFIERS</a:t>
            </a:r>
          </a:p>
          <a:p>
            <a:pPr>
              <a:spcBef>
                <a:spcPts val="800"/>
              </a:spcBef>
            </a:pP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•  4 Scikit-Learn Random Forest models trained on 242,341 verified security samples.</a:t>
            </a:r>
          </a:p>
          <a:p>
            <a:pPr>
              <a:spcBef>
                <a:spcPts val="800"/>
              </a:spcBef>
            </a:pP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50 lexical and structural URL features extracted in real time for phishing.</a:t>
            </a:r>
          </a:p>
          <a:p>
            <a:pPr>
              <a:spcBef>
                <a:spcPts val="800"/>
              </a:spcBef>
            </a:pP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PE header anomaly detection, section entropy, and hex signature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71000" y="2400000"/>
            <a:ext cx="2720000" cy="3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321000" y="2550000"/>
            <a:ext cx="2420000" cy="65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8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04 | Generative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1000" y="3300000"/>
            <a:ext cx="236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rial"/>
              </a:rPr>
              <a:t>GROQ LLAMA-3 70B SYNTHESIS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Translates complex JSON telemetry into concise 3-sentence executive summaries.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Tailored defensive recommendations for both analysts and executive leaders.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Rule-based advisory fallback ensures continuous intelligence even offline.</a:t>
            </a:r>
          </a:p>
        </p:txBody>
      </p:sp>
    </p:spTree>
    <p:extLst>
      <p:ext uri="{BB962C8B-B14F-4D97-AF65-F5344CB8AC3E}">
        <p14:creationId xmlns:p14="http://schemas.microsoft.com/office/powerpoint/2010/main" val="3327920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R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eview 2 ➔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R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eview 3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P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000" y="1150000"/>
            <a:ext cx="5600000" cy="47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4639" y="1397977"/>
            <a:ext cx="5027607" cy="452023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rial"/>
              </a:rPr>
              <a:t>REVIEW 2 — SYSTEM DESIGN &amp; ARCHITECTURE (Completed)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1930000"/>
            <a:ext cx="5450000" cy="3388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dirty="0">
                <a:solidFill>
                  <a:srgbClr val="0F172A"/>
                </a:solidFill>
                <a:latin typeface="Arial"/>
              </a:rPr>
              <a:t>✔ Requirement Analysis &amp; Feasibility Study
</a:t>
            </a:r>
            <a:r>
              <a:rPr sz="1150" dirty="0">
                <a:solidFill>
                  <a:srgbClr val="64748B"/>
                </a:solidFill>
                <a:latin typeface="Arial"/>
              </a:rPr>
              <a:t>    Problem formulation, operational constraints, and multi-feed threat intelligence research.</a:t>
            </a:r>
          </a:p>
          <a:p>
            <a:pPr>
              <a:spcBef>
                <a:spcPts val="500"/>
              </a:spcBef>
            </a:pPr>
            <a:r>
              <a:rPr sz="1150" b="1" dirty="0">
                <a:solidFill>
                  <a:srgbClr val="0F172A"/>
                </a:solidFill>
                <a:latin typeface="Arial"/>
              </a:rPr>
              <a:t>✔ Decoupled 3-Tier System Architecture
</a:t>
            </a:r>
            <a:r>
              <a:rPr sz="1150" dirty="0">
                <a:solidFill>
                  <a:srgbClr val="64748B"/>
                </a:solidFill>
                <a:latin typeface="Arial"/>
              </a:rPr>
              <a:t>    Presentation, application services, and persistent database layers strictly decoupled.</a:t>
            </a:r>
          </a:p>
          <a:p>
            <a:pPr>
              <a:spcBef>
                <a:spcPts val="500"/>
              </a:spcBef>
            </a:pPr>
            <a:r>
              <a:rPr sz="1150" b="1" dirty="0">
                <a:solidFill>
                  <a:srgbClr val="0F172A"/>
                </a:solidFill>
                <a:latin typeface="Arial"/>
              </a:rPr>
              <a:t>✔ Data Flow Diagrams (DFD Level 0 &amp; Level 1)
</a:t>
            </a:r>
            <a:r>
              <a:rPr sz="1150" dirty="0">
                <a:solidFill>
                  <a:srgbClr val="64748B"/>
                </a:solidFill>
                <a:latin typeface="Arial"/>
              </a:rPr>
              <a:t>    Context diagram and 5 operational sub-processes mapping target processing workflows.</a:t>
            </a:r>
          </a:p>
          <a:p>
            <a:pPr>
              <a:spcBef>
                <a:spcPts val="500"/>
              </a:spcBef>
            </a:pPr>
            <a:r>
              <a:rPr sz="1150" b="1" dirty="0">
                <a:solidFill>
                  <a:srgbClr val="0F172A"/>
                </a:solidFill>
                <a:latin typeface="Arial"/>
              </a:rPr>
              <a:t>✔ Peter Chen Style ER Diagram (15 DB Tables)
</a:t>
            </a:r>
            <a:r>
              <a:rPr sz="1150" dirty="0">
                <a:solidFill>
                  <a:srgbClr val="64748B"/>
                </a:solidFill>
                <a:latin typeface="Arial"/>
              </a:rPr>
              <a:t>    Master scan history entity correlated with 10 scanner-specific detail tables.</a:t>
            </a:r>
          </a:p>
          <a:p>
            <a:pPr>
              <a:spcBef>
                <a:spcPts val="500"/>
              </a:spcBef>
            </a:pPr>
            <a:r>
              <a:rPr sz="1150" b="1" dirty="0">
                <a:solidFill>
                  <a:srgbClr val="0F172A"/>
                </a:solidFill>
                <a:latin typeface="Arial"/>
              </a:rPr>
              <a:t>✔ 4-Tier UML Class, Sequence &amp; Activity Diagrams
</a:t>
            </a:r>
            <a:r>
              <a:rPr sz="1150" dirty="0">
                <a:solidFill>
                  <a:srgbClr val="64748B"/>
                </a:solidFill>
                <a:latin typeface="Arial"/>
              </a:rPr>
              <a:t>    Static structure, dynamic call lifecycles, and parallel scanning activity models.</a:t>
            </a:r>
          </a:p>
          <a:p>
            <a:pPr>
              <a:spcBef>
                <a:spcPts val="500"/>
              </a:spcBef>
            </a:pPr>
            <a:r>
              <a:rPr sz="1150" b="1" dirty="0">
                <a:solidFill>
                  <a:srgbClr val="0F172A"/>
                </a:solidFill>
                <a:latin typeface="Arial"/>
              </a:rPr>
              <a:t>✔ </a:t>
            </a:r>
            <a:r>
              <a:rPr sz="1150" b="1" dirty="0" err="1">
                <a:solidFill>
                  <a:srgbClr val="0F172A"/>
                </a:solidFill>
                <a:latin typeface="Arial"/>
              </a:rPr>
              <a:t>Streamlit</a:t>
            </a:r>
            <a:r>
              <a:rPr sz="1150" b="1" dirty="0">
                <a:solidFill>
                  <a:srgbClr val="0F172A"/>
                </a:solidFill>
                <a:latin typeface="Arial"/>
              </a:rPr>
              <a:t> UI Prototype &amp; Component Wireframes
</a:t>
            </a:r>
            <a:r>
              <a:rPr sz="1150" dirty="0">
                <a:solidFill>
                  <a:srgbClr val="64748B"/>
                </a:solidFill>
                <a:latin typeface="Arial"/>
              </a:rPr>
              <a:t>    Initial navigation mockups and dark cybersecurity themed interface</a:t>
            </a:r>
            <a:r>
              <a:rPr lang="en-US" sz="1150" dirty="0">
                <a:solidFill>
                  <a:srgbClr val="64748B"/>
                </a:solidFill>
                <a:latin typeface="Arial"/>
              </a:rPr>
              <a:t> </a:t>
            </a:r>
            <a:r>
              <a:rPr sz="1150" dirty="0">
                <a:solidFill>
                  <a:srgbClr val="64748B"/>
                </a:solidFill>
                <a:latin typeface="Arial"/>
              </a:rPr>
              <a:t>prototypes.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0000" y="1150000"/>
            <a:ext cx="5600000" cy="47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76646" y="1397977"/>
            <a:ext cx="4980715" cy="452022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REVIEW 3 — WORKING PROTOTYPE &amp; IMPLEMENTATION (Current)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1930000"/>
            <a:ext cx="5442000" cy="3018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 10/10 Core Scanner Modules Operational
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URL, Website, Domain, Email, IP, Phone, File/PE, QR, Device, &amp; Universal modules active.</a:t>
            </a:r>
          </a:p>
          <a:p>
            <a:pPr>
              <a:spcBef>
                <a:spcPts val="500"/>
              </a:spcBef>
            </a:pP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✔ 13 External APIs &amp; 30+ Threat Intelligence Services Layer</a:t>
            </a:r>
          </a:p>
          <a:p>
            <a:pPr>
              <a:spcBef>
                <a:spcPts val="500"/>
              </a:spcBef>
            </a:pP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    Random Forest models achieving 96.67% CV accuracy (99.40% ROC-AUC) for phishing, malware, &amp; breaches.</a:t>
            </a:r>
          </a:p>
          <a:p>
            <a:pPr>
              <a:spcBef>
                <a:spcPts val="500"/>
              </a:spcBef>
            </a:pPr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 Multi-Factor 0–100 Unified Risk Engine
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Mathematical weighted risk scoring with 5 severity bands and critical override triggers.</a:t>
            </a:r>
          </a:p>
          <a:p>
            <a:pPr>
              <a:spcBef>
                <a:spcPts val="500"/>
              </a:spcBef>
            </a:pP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    Live persistence across 15 relational tables with 131 real scan records logged in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cybermind.db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Bef>
                <a:spcPts val="500"/>
              </a:spcBef>
            </a:pPr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 Interactive </a:t>
            </a:r>
            <a:r>
              <a:rPr sz="1150" b="1" dirty="0" err="1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Dashboard &amp; Testing
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Production UI with 156 automated </a:t>
            </a:r>
            <a:r>
              <a:rPr sz="1150" dirty="0" err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Pytest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 cases passing (100% pass rate) and 12 bug fixes.</a:t>
            </a:r>
          </a:p>
        </p:txBody>
      </p:sp>
    </p:spTree>
    <p:extLst>
      <p:ext uri="{BB962C8B-B14F-4D97-AF65-F5344CB8AC3E}">
        <p14:creationId xmlns:p14="http://schemas.microsoft.com/office/powerpoint/2010/main" val="4064175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mplemented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S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ystem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A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680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50000" y="1548920"/>
            <a:ext cx="6300000" cy="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30000" rtlCol="0" anchor="ctr"/>
          <a:lstStyle/>
          <a:p>
            <a:pPr algn="ctr"/>
            <a:r>
              <a:rPr sz="1200" b="1" dirty="0">
                <a:solidFill>
                  <a:srgbClr val="2980B9"/>
                </a:solidFill>
                <a:latin typeface="Arial"/>
              </a:rPr>
              <a:t>1. Analyst Target Input: </a:t>
            </a:r>
            <a:r>
              <a:rPr sz="1100" dirty="0">
                <a:solidFill>
                  <a:srgbClr val="0F172A"/>
                </a:solidFill>
                <a:latin typeface="Arial"/>
              </a:rPr>
              <a:t>URL, Domain, IP, Email, Phone, File, or QR code submitted via Dashboard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600000" y="1988920"/>
            <a:ext cx="180000" cy="150000"/>
          </a:xfrm>
          <a:prstGeom prst="downArrow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50000" y="2158920"/>
            <a:ext cx="6300000" cy="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30000" rtlCol="0" anchor="ctr"/>
          <a:lstStyle/>
          <a:p>
            <a:pPr algn="ctr"/>
            <a:r>
              <a:rPr sz="1200" b="1">
                <a:solidFill>
                  <a:srgbClr val="243541"/>
                </a:solidFill>
                <a:latin typeface="Arial"/>
              </a:rPr>
              <a:t>2. Input Validation &amp; Sanitization: </a:t>
            </a:r>
            <a:r>
              <a:rPr sz="1100">
                <a:solidFill>
                  <a:srgbClr val="0F172A"/>
                </a:solidFill>
                <a:latin typeface="Arial"/>
              </a:rPr>
              <a:t>core/validator.py validates schemas, regex patterns, and type boundaries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600000" y="2598920"/>
            <a:ext cx="180000" cy="150000"/>
          </a:xfrm>
          <a:prstGeom prst="downArrow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50000" y="2768920"/>
            <a:ext cx="6300000" cy="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30000" rtlCol="0" anchor="ctr"/>
          <a:lstStyle/>
          <a:p>
            <a:pPr algn="ctr"/>
            <a:r>
              <a:rPr sz="1200" b="1">
                <a:solidFill>
                  <a:srgbClr val="243541"/>
                </a:solidFill>
                <a:latin typeface="Arial"/>
              </a:rPr>
              <a:t>3. Scanner Engine &amp; Router: </a:t>
            </a:r>
            <a:r>
              <a:rPr sz="1100">
                <a:solidFill>
                  <a:srgbClr val="0F172A"/>
                </a:solidFill>
                <a:latin typeface="Arial"/>
              </a:rPr>
              <a:t>modules/scanner_engine.py routes sanitized target to specialized scanner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600000" y="3208920"/>
            <a:ext cx="180000" cy="150000"/>
          </a:xfrm>
          <a:prstGeom prst="downArrow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50000" y="3378920"/>
            <a:ext cx="6300000" cy="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30000" rtlCol="0" anchor="ctr"/>
          <a:lstStyle/>
          <a:p>
            <a:pPr algn="ctr"/>
            <a:r>
              <a:rPr sz="1200" b="1">
                <a:solidFill>
                  <a:srgbClr val="33B67D"/>
                </a:solidFill>
                <a:latin typeface="Arial"/>
              </a:rPr>
              <a:t>4. Threat Intelligence + ML Inference: </a:t>
            </a:r>
            <a:r>
              <a:rPr sz="1100">
                <a:solidFill>
                  <a:srgbClr val="0F172A"/>
                </a:solidFill>
                <a:latin typeface="Arial"/>
              </a:rPr>
              <a:t>Parallel execution of 30+ TI APIs (services/) and Random Forest classifiers (ml/)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600000" y="3818920"/>
            <a:ext cx="180000" cy="150000"/>
          </a:xfrm>
          <a:prstGeom prst="downArrow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50000" y="3988920"/>
            <a:ext cx="6300000" cy="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30000" rtlCol="0" anchor="ctr"/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5. Unified Risk Engine: </a:t>
            </a:r>
            <a:r>
              <a:rPr sz="1100">
                <a:solidFill>
                  <a:srgbClr val="0F172A"/>
                </a:solidFill>
                <a:latin typeface="Arial"/>
              </a:rPr>
              <a:t>modules/risk_engine.py aggregates multi-source scores into a 0–100 risk score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600000" y="4428920"/>
            <a:ext cx="180000" cy="150000"/>
          </a:xfrm>
          <a:prstGeom prst="downArrow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0000" y="4598920"/>
            <a:ext cx="6300000" cy="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30000" rtlCol="0" anchor="ctr"/>
          <a:lstStyle/>
          <a:p>
            <a:pPr algn="ctr"/>
            <a:r>
              <a:rPr sz="1200" b="1">
                <a:solidFill>
                  <a:srgbClr val="243541"/>
                </a:solidFill>
                <a:latin typeface="Arial"/>
              </a:rPr>
              <a:t>6. Groq Llama-3 Generative AI: </a:t>
            </a:r>
            <a:r>
              <a:rPr sz="1100">
                <a:solidFill>
                  <a:srgbClr val="0F172A"/>
                </a:solidFill>
                <a:latin typeface="Arial"/>
              </a:rPr>
              <a:t>modules/ai_assistant.py generates plain-English summary and mitigation steps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600000" y="5038920"/>
            <a:ext cx="180000" cy="150000"/>
          </a:xfrm>
          <a:prstGeom prst="downArrow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50000" y="5208920"/>
            <a:ext cx="6300000" cy="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30000" rtlCol="0" anchor="ctr"/>
          <a:lstStyle/>
          <a:p>
            <a:pPr algn="ctr"/>
            <a:r>
              <a:rPr sz="1200" b="1" dirty="0">
                <a:solidFill>
                  <a:srgbClr val="22C55E"/>
                </a:solidFill>
                <a:latin typeface="Arial"/>
              </a:rPr>
              <a:t>7. SQLite Persistence &amp; </a:t>
            </a:r>
            <a:r>
              <a:rPr sz="1200" b="1" dirty="0" err="1">
                <a:solidFill>
                  <a:srgbClr val="22C55E"/>
                </a:solidFill>
                <a:latin typeface="Arial"/>
              </a:rPr>
              <a:t>Streamlit</a:t>
            </a:r>
            <a:r>
              <a:rPr sz="1200" b="1" dirty="0">
                <a:solidFill>
                  <a:srgbClr val="22C55E"/>
                </a:solidFill>
                <a:latin typeface="Arial"/>
              </a:rPr>
              <a:t> UI: </a:t>
            </a:r>
            <a:r>
              <a:rPr sz="1100" dirty="0">
                <a:solidFill>
                  <a:srgbClr val="0F172A"/>
                </a:solidFill>
                <a:latin typeface="Arial"/>
              </a:rPr>
              <a:t>Persisted in database/</a:t>
            </a:r>
            <a:r>
              <a:rPr sz="1100" dirty="0" err="1">
                <a:solidFill>
                  <a:srgbClr val="0F172A"/>
                </a:solidFill>
                <a:latin typeface="Arial"/>
              </a:rPr>
              <a:t>cybermind.db</a:t>
            </a:r>
            <a:r>
              <a:rPr sz="1100" dirty="0">
                <a:solidFill>
                  <a:srgbClr val="0F172A"/>
                </a:solidFill>
                <a:latin typeface="Arial"/>
              </a:rPr>
              <a:t> &amp; visualized in </a:t>
            </a:r>
            <a:r>
              <a:rPr sz="1100" dirty="0" err="1">
                <a:solidFill>
                  <a:srgbClr val="0F172A"/>
                </a:solidFill>
                <a:latin typeface="Arial"/>
              </a:rPr>
              <a:t>Streamlit</a:t>
            </a:r>
            <a:r>
              <a:rPr sz="1100" dirty="0">
                <a:solidFill>
                  <a:srgbClr val="0F172A"/>
                </a:solidFill>
                <a:latin typeface="Arial"/>
              </a:rPr>
              <a:t> + PDF reports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0000" y="1150000"/>
            <a:ext cx="455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00000" y="1416840"/>
            <a:ext cx="415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243541"/>
                </a:solidFill>
                <a:latin typeface="Arial"/>
              </a:rPr>
              <a:t>✔ Decoupled 3-Tier Architecture
</a:t>
            </a:r>
            <a:r>
              <a:rPr sz="1050" dirty="0">
                <a:solidFill>
                  <a:srgbClr val="0F172A"/>
                </a:solidFill>
                <a:latin typeface="Arial"/>
              </a:rPr>
              <a:t>Presentation (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Streamlit</a:t>
            </a:r>
            <a:r>
              <a:rPr sz="1050" dirty="0">
                <a:solidFill>
                  <a:srgbClr val="0F172A"/>
                </a:solidFill>
                <a:latin typeface="Arial"/>
              </a:rPr>
              <a:t>), Application (Services/Modules/ML), and Data (SQLite) layers are strictly decoupled for maintainability and independent testing.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243541"/>
                </a:solidFill>
                <a:latin typeface="Arial"/>
              </a:rPr>
              <a:t>✔ Provider-Agnostic Services Layer
</a:t>
            </a:r>
            <a:r>
              <a:rPr sz="1050" dirty="0">
                <a:solidFill>
                  <a:srgbClr val="0F172A"/>
                </a:solidFill>
                <a:latin typeface="Arial"/>
              </a:rPr>
              <a:t>External APIs are queried exclusively through modular adapters in services/, ensuring core scanner logic remains vendor-independent.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243541"/>
                </a:solidFill>
                <a:latin typeface="Arial"/>
              </a:rPr>
              <a:t>✔ Hybrid Machine Learning + Generative AI
</a:t>
            </a:r>
            <a:r>
              <a:rPr sz="1050" dirty="0">
                <a:solidFill>
                  <a:srgbClr val="0F172A"/>
                </a:solidFill>
                <a:latin typeface="Arial"/>
              </a:rPr>
              <a:t>Combines high-speed supervised Random Forest models for anomaly classification with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Groq</a:t>
            </a:r>
            <a:r>
              <a:rPr sz="1050" dirty="0">
                <a:solidFill>
                  <a:srgbClr val="0F172A"/>
                </a:solidFill>
                <a:latin typeface="Arial"/>
              </a:rPr>
              <a:t> Llama-3 70B for explainable contextual intelligence.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243541"/>
                </a:solidFill>
                <a:latin typeface="Arial"/>
              </a:rPr>
              <a:t>✔ Centralized Telemetry &amp; Indexing
</a:t>
            </a:r>
            <a:r>
              <a:rPr sz="1050" dirty="0">
                <a:solidFill>
                  <a:srgbClr val="0F172A"/>
                </a:solidFill>
                <a:latin typeface="Arial"/>
              </a:rPr>
              <a:t>Every scan event, API response latency, and detection flag is logged in SQLite with 11 performance indexes ensuring sub-second lookups.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243541"/>
                </a:solidFill>
                <a:latin typeface="Arial"/>
              </a:rPr>
              <a:t>✔ Automated Offline Fallbacks
</a:t>
            </a:r>
            <a:r>
              <a:rPr sz="1050" dirty="0">
                <a:solidFill>
                  <a:srgbClr val="0F172A"/>
                </a:solidFill>
                <a:latin typeface="Arial"/>
              </a:rPr>
              <a:t>Every external service dependency implements graceful local heuristic fallbacks to guarantee platform uptime during network outages.</a:t>
            </a:r>
          </a:p>
        </p:txBody>
      </p:sp>
    </p:spTree>
    <p:extLst>
      <p:ext uri="{BB962C8B-B14F-4D97-AF65-F5344CB8AC3E}">
        <p14:creationId xmlns:p14="http://schemas.microsoft.com/office/powerpoint/2010/main" val="296445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mplemented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S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canner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M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000" y="115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000" y="119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01. </a:t>
            </a:r>
            <a:r>
              <a:rPr sz="1300" b="1">
                <a:solidFill>
                  <a:srgbClr val="0F172A"/>
                </a:solidFill>
                <a:latin typeface="Arial"/>
              </a:rPr>
              <a:t>URL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Phishing detection, lexical feature extraction, suspicious keyword entropy, and redirect trace.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modules/url_scanner.py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000" y="212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000" y="216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02. </a:t>
            </a:r>
            <a:r>
              <a:rPr sz="1300" b="1">
                <a:solidFill>
                  <a:srgbClr val="0F172A"/>
                </a:solidFill>
                <a:latin typeface="Arial"/>
              </a:rPr>
              <a:t>Website Security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SSL/TLS certificate verification, cipher audit, security headers (CSP/HSTS), and tech stack.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modules/website_scanner.py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000" y="309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000" y="313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03. </a:t>
            </a:r>
            <a:r>
              <a:rPr sz="1300" b="1">
                <a:solidFill>
                  <a:srgbClr val="0F172A"/>
                </a:solidFill>
                <a:latin typeface="Arial"/>
              </a:rPr>
              <a:t>Domain WHOIS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Registrar lookup, domain creation/expiration age, DNSSEC verification, and nameserver audit.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modules/domain_scanner.py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000" y="406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0" y="410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04. </a:t>
            </a:r>
            <a:r>
              <a:rPr sz="1300" b="1">
                <a:solidFill>
                  <a:srgbClr val="0F172A"/>
                </a:solidFill>
                <a:latin typeface="Arial"/>
              </a:rPr>
              <a:t>Email Deliverability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SPF, DKIM, DMARC record checks, MX host resolution, and disposable email domain filtering.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modules/email_scanner.py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000" y="503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000" y="507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05. </a:t>
            </a:r>
            <a:r>
              <a:rPr sz="1300" b="1">
                <a:solidFill>
                  <a:srgbClr val="0F172A"/>
                </a:solidFill>
                <a:latin typeface="Arial"/>
              </a:rPr>
              <a:t>IP Address &amp; Abuse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AbuseIPDB reputation scoring, IPinfo geolocation, ASN lookup, and Tor exit-node detection.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modules/ip_scanner.py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0000" y="115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0000" y="119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06. </a:t>
            </a:r>
            <a:r>
              <a:rPr sz="1300" b="1">
                <a:solidFill>
                  <a:srgbClr val="0F172A"/>
                </a:solidFill>
                <a:latin typeface="Arial"/>
              </a:rPr>
              <a:t>Phone Threat Intelligence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Veriphone API carrier identification, line type validation, international E.164 formatting.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modules/phone_scanner.py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0000" y="212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000" y="216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07. </a:t>
            </a:r>
            <a:r>
              <a:rPr sz="1300" b="1">
                <a:solidFill>
                  <a:srgbClr val="0F172A"/>
                </a:solidFill>
                <a:latin typeface="Arial"/>
              </a:rPr>
              <a:t>File &amp; PE Malware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MD5/SHA-256 hash lookup, section entropy calculation, PE header parsing, and hex signatures.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modules/file_scanner.py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0000" y="309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0000" y="313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08. </a:t>
            </a:r>
            <a:r>
              <a:rPr sz="1300" b="1">
                <a:solidFill>
                  <a:srgbClr val="0F172A"/>
                </a:solidFill>
                <a:latin typeface="Arial"/>
              </a:rPr>
              <a:t>QR &amp; Payment Fraud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QR payload decoding, UPI payment URI parameter validation, and malicious redirect checking.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modules/qr_scanner.py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0000" y="406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70000" y="410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09. </a:t>
            </a:r>
            <a:r>
              <a:rPr sz="1300" b="1">
                <a:solidFill>
                  <a:srgbClr val="0F172A"/>
                </a:solidFill>
                <a:latin typeface="Arial"/>
              </a:rPr>
              <a:t>Device Security Audit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Local OS hardening inspection, open ports scanning, Windows firewall status, and update audit.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modules/device_security_module.py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0000" y="503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70000" y="507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10. </a:t>
            </a:r>
            <a:r>
              <a:rPr sz="1300" b="1">
                <a:solidFill>
                  <a:srgbClr val="0F172A"/>
                </a:solidFill>
                <a:latin typeface="Arial"/>
              </a:rPr>
              <a:t>Universal Auto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Intelligent multi-pattern regex detector auto-identifying target type with consolidated dispatch.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modules/universal_scan_module.py</a:t>
            </a:r>
          </a:p>
        </p:txBody>
      </p:sp>
    </p:spTree>
    <p:extLst>
      <p:ext uri="{BB962C8B-B14F-4D97-AF65-F5344CB8AC3E}">
        <p14:creationId xmlns:p14="http://schemas.microsoft.com/office/powerpoint/2010/main" val="301164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A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PI &amp;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T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hreat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ntelligence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11592000" cy="60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0000" y="1190000"/>
            <a:ext cx="11392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980B9"/>
                </a:solidFill>
                <a:latin typeface="Arial"/>
              </a:defRPr>
            </a:pPr>
            <a:r>
              <a:t>13 EXTERNAL APIS &amp; 30+ THREAT SERVICES: Scanner Engine ➔ Provider-Agnostic Services Layer (services/) ➔ External TI APIs ➔ Normalized Schema ➔ Risk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0000" y="5330000"/>
            <a:ext cx="11592000" cy="68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0000" y="5380000"/>
            <a:ext cx="1139200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2C55E"/>
                </a:solidFill>
                <a:latin typeface="Arial"/>
              </a:rPr>
              <a:t>Resilience &amp; Fallback Architecture: </a:t>
            </a:r>
            <a:r>
              <a:rPr sz="1100">
                <a:solidFill>
                  <a:srgbClr val="0F172A"/>
                </a:solidFill>
                <a:latin typeface="Arial"/>
              </a:rPr>
              <a:t>All API connectors implement strict 5-second asynchronous timeouts, connection retry limits, rate-limit backoffs, and automated fallback to local heuristic threat algorithms to maintain 100% platform availability.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0000" y="1830000"/>
            <a:ext cx="2720000" cy="16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0000" y="1880000"/>
            <a:ext cx="2540000" cy="1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2980B9"/>
                </a:solidFill>
                <a:latin typeface="Arial"/>
              </a:defRPr>
            </a:pPr>
            <a:r>
              <a:t>VirusTotal API</a:t>
            </a:r>
          </a:p>
          <a:p>
            <a:pPr>
              <a:spcAft>
                <a:spcPts val="400"/>
              </a:spcAft>
              <a:defRPr sz="850" i="1">
                <a:solidFill>
                  <a:srgbClr val="64748B"/>
                </a:solidFill>
                <a:latin typeface="Arial"/>
              </a:defRPr>
            </a:pPr>
            <a:r>
              <a:t>70+ AV Engines | services/virustotal_service.py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Queries 70+ antivirus vendor engines simultaneously.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Extracts detection ratios, engine flags, &amp; reputation score.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Covers URLs, domain reputation, &amp; SHA-256/MD5 hashes.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90000" y="1830000"/>
            <a:ext cx="2720000" cy="16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90000" y="1880000"/>
            <a:ext cx="2540000" cy="1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EF4444"/>
                </a:solidFill>
                <a:latin typeface="Arial"/>
              </a:defRPr>
            </a:pPr>
            <a:r>
              <a:t>AbuseIPDB API</a:t>
            </a:r>
          </a:p>
          <a:p>
            <a:pPr>
              <a:spcAft>
                <a:spcPts val="400"/>
              </a:spcAft>
              <a:defRPr sz="850" i="1">
                <a:solidFill>
                  <a:srgbClr val="64748B"/>
                </a:solidFill>
                <a:latin typeface="Arial"/>
              </a:defRPr>
            </a:pPr>
            <a:r>
              <a:t>IP Reputation | services/abuseipdb_service.py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Calculates confidence of abuse score (0–100%).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Retrieves total reported abuse incidents &amp; reporter count.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Checks ISP name, usage type (Datacenter/VPN), &amp; country.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000" y="1830000"/>
            <a:ext cx="2720000" cy="16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80000" y="1880000"/>
            <a:ext cx="2540000" cy="1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22C55E"/>
                </a:solidFill>
                <a:latin typeface="Arial"/>
              </a:defRPr>
            </a:pPr>
            <a:r>
              <a:t>Google Safe Browsing</a:t>
            </a:r>
          </a:p>
          <a:p>
            <a:pPr>
              <a:spcAft>
                <a:spcPts val="400"/>
              </a:spcAft>
              <a:defRPr sz="850" i="1">
                <a:solidFill>
                  <a:srgbClr val="64748B"/>
                </a:solidFill>
                <a:latin typeface="Arial"/>
              </a:defRPr>
            </a:pPr>
            <a:r>
              <a:t>Real-Time Blacklist | google_safe_browsing_service.py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Lookup against Google's global threat databases v4.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Identifies active malware distribution &amp; deceptive phishing.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Instantly escalates target severity score upon match.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0000" y="1830000"/>
            <a:ext cx="2720000" cy="16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70000" y="1880000"/>
            <a:ext cx="2540000" cy="1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8B5CF6"/>
                </a:solidFill>
                <a:latin typeface="Arial"/>
              </a:defRPr>
            </a:pPr>
            <a:r>
              <a:t>Groq Cloud Generative AI</a:t>
            </a:r>
          </a:p>
          <a:p>
            <a:pPr>
              <a:spcAft>
                <a:spcPts val="400"/>
              </a:spcAft>
              <a:defRPr sz="850" i="1">
                <a:solidFill>
                  <a:srgbClr val="64748B"/>
                </a:solidFill>
                <a:latin typeface="Arial"/>
              </a:defRPr>
            </a:pPr>
            <a:r>
              <a:t>Llama-3 70B Engine | modules/ai_assistant.py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Translates complex JSON telemetry in &lt;1.2s latency.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Plain-language threat diagnosis for non-technical stakeholders.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Actionable mitigation steps for SOC analysts &amp; executives.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0000" y="3580000"/>
            <a:ext cx="2720000" cy="16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0000" y="3630000"/>
            <a:ext cx="2540000" cy="1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243541"/>
                </a:solidFill>
                <a:latin typeface="Arial"/>
              </a:defRPr>
            </a:pPr>
            <a:r>
              <a:t>Veriphone &amp; Numverify</a:t>
            </a:r>
          </a:p>
          <a:p>
            <a:pPr>
              <a:spcAft>
                <a:spcPts val="400"/>
              </a:spcAft>
              <a:defRPr sz="850" i="1">
                <a:solidFill>
                  <a:srgbClr val="64748B"/>
                </a:solidFill>
                <a:latin typeface="Arial"/>
              </a:defRPr>
            </a:pPr>
            <a:r>
              <a:t>Telephony Intel | veriphone &amp; numverify_service.py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Parses international phone numbers to E.164 standard.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Identifies carrier name, line type (Mobile/VoIP/Landline).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Flags disposable VoIP numbers used in phishing &amp; scams.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90000" y="3580000"/>
            <a:ext cx="2720000" cy="16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90000" y="3630000"/>
            <a:ext cx="2540000" cy="1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Abstract IP &amp; Phone APIs</a:t>
            </a:r>
          </a:p>
          <a:p>
            <a:pPr>
              <a:spcAft>
                <a:spcPts val="400"/>
              </a:spcAft>
              <a:defRPr sz="850" i="1">
                <a:solidFill>
                  <a:srgbClr val="64748B"/>
                </a:solidFill>
                <a:latin typeface="Arial"/>
              </a:defRPr>
            </a:pPr>
            <a:r>
              <a:t>Telecom &amp; IP Risk | abstract_ip &amp; phone services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Deep telecom carrier fraud profiling &amp; country risk scores.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IP security assessment, commercial proxy &amp; VPN flags.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Real-time roaming status &amp; telecom validity verification.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0000" y="3580000"/>
            <a:ext cx="2720000" cy="16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80000" y="3630000"/>
            <a:ext cx="2540000" cy="1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33B67D"/>
                </a:solidFill>
                <a:latin typeface="Arial"/>
              </a:defRPr>
            </a:pPr>
            <a:r>
              <a:t>IPinfo &amp; IPQS Services</a:t>
            </a:r>
          </a:p>
          <a:p>
            <a:pPr>
              <a:spcAft>
                <a:spcPts val="400"/>
              </a:spcAft>
              <a:defRPr sz="850" i="1">
                <a:solidFill>
                  <a:srgbClr val="64748B"/>
                </a:solidFill>
                <a:latin typeface="Arial"/>
              </a:defRPr>
            </a:pPr>
            <a:r>
              <a:t>Geo &amp; Fraud Scoring | ipinfo_service &amp; ipqs_service.py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Provides city, country, &amp; precise latitude/longitude.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Extracts Autonomous System Number (ASN) &amp; org info.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Flags commercial VPNs, open proxies, &amp; Tor exit nodes.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70000" y="3580000"/>
            <a:ext cx="2720000" cy="16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70000" y="3630000"/>
            <a:ext cx="2540000" cy="1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F59E0B"/>
                </a:solidFill>
                <a:latin typeface="Arial"/>
              </a:defRPr>
            </a:pPr>
            <a:r>
              <a:t>VerificarEmails &amp; WHOIS</a:t>
            </a:r>
          </a:p>
          <a:p>
            <a:pPr>
              <a:spcAft>
                <a:spcPts val="400"/>
              </a:spcAft>
              <a:defRPr sz="850" i="1">
                <a:solidFill>
                  <a:srgbClr val="64748B"/>
                </a:solidFill>
                <a:latin typeface="Arial"/>
              </a:defRPr>
            </a:pPr>
            <a:r>
              <a:t>Email &amp; Domain | verificaremails, whois, dns_service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Deep email verification, disposable domain &amp; SMTP handshake.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Executes RDAP/WHOIS for registrar &amp; creation/expiry dates.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Validates DNSSEC, MX records, &amp; crt.sh CT certificate logs.</a:t>
            </a:r>
          </a:p>
        </p:txBody>
      </p:sp>
    </p:spTree>
    <p:extLst>
      <p:ext uri="{BB962C8B-B14F-4D97-AF65-F5344CB8AC3E}">
        <p14:creationId xmlns:p14="http://schemas.microsoft.com/office/powerpoint/2010/main" val="1866243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M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achine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L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earning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560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2708" y="1433146"/>
            <a:ext cx="5055577" cy="446854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ML ARCHITECTURE &amp; FEATURE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915168"/>
            <a:ext cx="53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2980B9"/>
                </a:solidFill>
                <a:latin typeface="Arial"/>
              </a:rPr>
              <a:t>✔ Real-Time Feature Engineering (ml/feature_engineering.py)
</a:t>
            </a:r>
            <a:r>
              <a:rPr sz="1050" dirty="0">
                <a:solidFill>
                  <a:srgbClr val="0F172A"/>
                </a:solidFill>
                <a:latin typeface="Arial"/>
              </a:rPr>
              <a:t>    Extracts 50 dynamic lexical and structural features from target URLs: character counts, suspicious token entropy, TLD risk weights, path depths, and brand keyword similarity.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2980B9"/>
                </a:solidFill>
                <a:latin typeface="Arial"/>
              </a:rPr>
              <a:t>✔ Binary &amp; Multi-Class Classifiers (ml/inference.py)
</a:t>
            </a:r>
            <a:r>
              <a:rPr sz="1050" dirty="0">
                <a:solidFill>
                  <a:srgbClr val="0F172A"/>
                </a:solidFill>
                <a:latin typeface="Arial"/>
              </a:rPr>
              <a:t>    Scikit-Learn Random Forest ensemble models calibrated with 5-fold Stratified Cross-Validation for robust decision boundary convergence.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2980B9"/>
                </a:solidFill>
                <a:latin typeface="Arial"/>
              </a:rPr>
              <a:t>✔ Portable Serialized Artifacts (ml/models/*.</a:t>
            </a:r>
            <a:r>
              <a:rPr sz="1200" b="1" dirty="0" err="1">
                <a:solidFill>
                  <a:srgbClr val="2980B9"/>
                </a:solidFill>
                <a:latin typeface="Arial"/>
              </a:rPr>
              <a:t>pkl</a:t>
            </a:r>
            <a:r>
              <a:rPr sz="1200" b="1" dirty="0">
                <a:solidFill>
                  <a:srgbClr val="2980B9"/>
                </a:solidFill>
                <a:latin typeface="Arial"/>
              </a:rPr>
              <a:t>)
</a:t>
            </a:r>
            <a:r>
              <a:rPr sz="1050" dirty="0">
                <a:solidFill>
                  <a:srgbClr val="0F172A"/>
                </a:solidFill>
                <a:latin typeface="Arial"/>
              </a:rPr>
              <a:t>    Pre-trained models loaded via thread-safe singleton cache in ml/model_loader.py, enabling sub-20ms inference latency per query.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2980B9"/>
                </a:solidFill>
                <a:latin typeface="Arial"/>
              </a:rPr>
              <a:t>✔ Explainability &amp; Risk Contribution
</a:t>
            </a:r>
            <a:r>
              <a:rPr sz="1050" dirty="0">
                <a:solidFill>
                  <a:srgbClr val="0F172A"/>
                </a:solidFill>
                <a:latin typeface="Arial"/>
              </a:rPr>
              <a:t>    Extracts feature importance weights feeding into the Unified Risk Engine to directly modulate risk scores based on ML model confidence.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0000" y="1150000"/>
            <a:ext cx="560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97515" y="1433146"/>
            <a:ext cx="5131777" cy="446854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ACTUAL MEASURED MODEL BENCHMARKS (cybermind_metrics.json)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1923960"/>
            <a:ext cx="53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dirty="0">
                <a:latin typeface="Arial" panose="020B0604020202020204" pitchFamily="34" charset="0"/>
                <a:cs typeface="Arial" panose="020B0604020202020204" pitchFamily="34" charset="0"/>
              </a:rPr>
              <a:t>OVERALL SYSTEM ML PERFORMANCE (5-Fold Stratified CV):</a:t>
            </a:r>
            <a:b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• Accuracy: 96.67%  |  Precision: 96.84%  |  Recall: 96.67%</a:t>
            </a:r>
            <a:b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• F1-Score: 96.63%  |  ROC-AUC: 0.9940  |  Ensemble: Random Forest</a:t>
            </a:r>
          </a:p>
          <a:p>
            <a:pPr>
              <a:spcBef>
                <a:spcPts val="500"/>
              </a:spcBef>
            </a:pPr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 </a:t>
            </a:r>
            <a:r>
              <a:rPr sz="1150" b="1" dirty="0" err="1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PhiUSIIL</a:t>
            </a:r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Phishing URL Model (</a:t>
            </a:r>
            <a:r>
              <a:rPr sz="1150" b="1" dirty="0" err="1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phishing_url_model.pkl</a:t>
            </a:r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
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234,987 samples, 50 features | Binary Classification
</a:t>
            </a:r>
            <a:r>
              <a:rPr lang="en-US"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Training CV Accuracy: 100.0% | ROC-AUC: 1.0000
</a:t>
            </a:r>
            <a:r>
              <a:rPr lang="en-US"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External </a:t>
            </a:r>
            <a:r>
              <a:rPr sz="1150" dirty="0" err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OpenPhish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Feed Benchmark (1,000 samples): 94.50% Accuracy</a:t>
            </a:r>
          </a:p>
          <a:p>
            <a:pPr>
              <a:spcBef>
                <a:spcPts val="500"/>
              </a:spcBef>
            </a:pPr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 File Signatures Model (</a:t>
            </a:r>
            <a:r>
              <a:rPr sz="1150" b="1" dirty="0" err="1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file_signatures_model.pkl</a:t>
            </a:r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1,024 samples, 9 features | Multi-Class Risk Classification
</a:t>
            </a:r>
            <a:r>
              <a:rPr lang="en-US"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Accuracy: 97.56% | Precision: 97.67% | ROC-AUC: 0.9985
</a:t>
            </a:r>
            <a:r>
              <a:rPr lang="en-US"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High: 98.15% F1 | Medium: 97.76% F1 | Low: 96.85% F1</a:t>
            </a:r>
          </a:p>
          <a:p>
            <a:pPr>
              <a:spcBef>
                <a:spcPts val="500"/>
              </a:spcBef>
            </a:pPr>
            <a:r>
              <a:rPr sz="1150" b="1" dirty="0">
                <a:latin typeface="Arial" panose="020B0604020202020204" pitchFamily="34" charset="0"/>
                <a:cs typeface="Arial" panose="020B0604020202020204" pitchFamily="34" charset="0"/>
              </a:rPr>
              <a:t>✔ Online-Valid Phishing Model (</a:t>
            </a:r>
            <a:r>
              <a:rPr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online_valid_model.pkl</a:t>
            </a:r>
            <a:r>
              <a:rPr sz="115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15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5,810 samples, 10,080 features | Multi-Class Target Classifier</a:t>
            </a:r>
            <a:b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• Accuracy: 90.26% | Precision: 90.79% | F1: 90.19% | ROC-AUC: 0.9777 (PayPal, Blizzard, Orkut,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Sulake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 Other)</a:t>
            </a:r>
          </a:p>
          <a:p>
            <a:pPr>
              <a:spcBef>
                <a:spcPts val="500"/>
              </a:spcBef>
            </a:pPr>
            <a:r>
              <a:rPr sz="1150" b="1" dirty="0">
                <a:latin typeface="Arial" panose="020B0604020202020204" pitchFamily="34" charset="0"/>
                <a:cs typeface="Arial" panose="020B0604020202020204" pitchFamily="34" charset="0"/>
              </a:rPr>
              <a:t>✔ Data Breaches Model (</a:t>
            </a:r>
            <a:r>
              <a:rPr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breaches_model.pkl</a:t>
            </a:r>
            <a:r>
              <a:rPr sz="115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15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sz="115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520 samples, 6 features | 5-Class Root-Cause Classifier</a:t>
            </a:r>
            <a:b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 •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 Accuracy: 98.85% | Precision: 98.88% | F1: 98.75% | ROC-AUC: 1.0000</a:t>
            </a:r>
          </a:p>
        </p:txBody>
      </p:sp>
    </p:spTree>
    <p:extLst>
      <p:ext uri="{BB962C8B-B14F-4D97-AF65-F5344CB8AC3E}">
        <p14:creationId xmlns:p14="http://schemas.microsoft.com/office/powerpoint/2010/main" val="3045115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R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isk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E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ngine &amp;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A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I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E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xplanation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560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5123" y="1459522"/>
            <a:ext cx="5073162" cy="420477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rial"/>
              </a:rPr>
              <a:t>UNIFIED 0–100 RISK ENGINE (modules/risk_engine.py)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880000"/>
            <a:ext cx="5300000" cy="319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dirty="0">
                <a:solidFill>
                  <a:srgbClr val="2980B9"/>
                </a:solidFill>
                <a:latin typeface="Arial"/>
              </a:rPr>
              <a:t>Multi-Factor Mathematical Formulation:
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  Risk Score = (w1 · </a:t>
            </a:r>
            <a:r>
              <a:rPr sz="1100" b="1" dirty="0" err="1">
                <a:solidFill>
                  <a:srgbClr val="0F172A"/>
                </a:solidFill>
                <a:latin typeface="Arial"/>
              </a:rPr>
              <a:t>API_Score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) + (w2 · </a:t>
            </a:r>
            <a:r>
              <a:rPr sz="1100" b="1" dirty="0" err="1">
                <a:solidFill>
                  <a:srgbClr val="0F172A"/>
                </a:solidFill>
                <a:latin typeface="Arial"/>
              </a:rPr>
              <a:t>ML_Prob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) + (w3 · Heuristics)
  Where w1=0.45, w2=0.35, w3=0.20 (dynamically weighted).
</a:t>
            </a:r>
          </a:p>
          <a:p>
            <a:pPr>
              <a:spcBef>
                <a:spcPts val="600"/>
              </a:spcBef>
            </a:pPr>
            <a:r>
              <a:rPr sz="1250" b="1" dirty="0">
                <a:solidFill>
                  <a:srgbClr val="EF4444"/>
                </a:solidFill>
                <a:latin typeface="Arial"/>
              </a:rPr>
              <a:t>Critical Override Logic:
</a:t>
            </a:r>
            <a:r>
              <a:rPr sz="1100" dirty="0">
                <a:solidFill>
                  <a:srgbClr val="0F172A"/>
                </a:solidFill>
                <a:latin typeface="Arial"/>
              </a:rPr>
              <a:t> If </a:t>
            </a:r>
            <a:r>
              <a:rPr sz="1100" dirty="0" err="1">
                <a:solidFill>
                  <a:srgbClr val="0F172A"/>
                </a:solidFill>
                <a:latin typeface="Arial"/>
              </a:rPr>
              <a:t>VirusTotal</a:t>
            </a:r>
            <a:r>
              <a:rPr sz="1100" dirty="0">
                <a:solidFill>
                  <a:srgbClr val="0F172A"/>
                </a:solidFill>
                <a:latin typeface="Arial"/>
              </a:rPr>
              <a:t> engine flags &gt; 5 OR Google Safe Browsing triggers, the score is automatically escalated to 90–100 (Critical), overriding benign weights.
</a:t>
            </a:r>
          </a:p>
          <a:p>
            <a:pPr>
              <a:spcBef>
                <a:spcPts val="600"/>
              </a:spcBef>
            </a:pPr>
            <a:r>
              <a:rPr sz="1250" b="1" dirty="0">
                <a:solidFill>
                  <a:srgbClr val="243541"/>
                </a:solidFill>
                <a:latin typeface="Arial"/>
              </a:rPr>
              <a:t>5 Standardized Severity Bands:</a:t>
            </a:r>
          </a:p>
          <a:p>
            <a:pPr>
              <a:spcBef>
                <a:spcPts val="3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🟢 SAFE (0–20): </a:t>
            </a:r>
            <a:r>
              <a:rPr sz="1050" dirty="0">
                <a:solidFill>
                  <a:srgbClr val="64748B"/>
                </a:solidFill>
                <a:latin typeface="Arial"/>
              </a:rPr>
              <a:t>Clean reputation, valid SSL, zero engine blacklist hits.</a:t>
            </a:r>
          </a:p>
          <a:p>
            <a:pPr>
              <a:spcBef>
                <a:spcPts val="3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🔵 LOW (21–40): </a:t>
            </a:r>
            <a:r>
              <a:rPr sz="1050" dirty="0">
                <a:solidFill>
                  <a:srgbClr val="64748B"/>
                </a:solidFill>
                <a:latin typeface="Arial"/>
              </a:rPr>
              <a:t>Minor misconfigurations (missing CSP headers, new domain).</a:t>
            </a:r>
          </a:p>
          <a:p>
            <a:pPr>
              <a:spcBef>
                <a:spcPts val="3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🟡 MEDIUM (41–60): </a:t>
            </a:r>
            <a:r>
              <a:rPr sz="1050" dirty="0">
                <a:solidFill>
                  <a:srgbClr val="64748B"/>
                </a:solidFill>
                <a:latin typeface="Arial"/>
              </a:rPr>
              <a:t>Elevated entropy, suspicious redirects, or spam keywords.</a:t>
            </a:r>
          </a:p>
          <a:p>
            <a:pPr>
              <a:spcBef>
                <a:spcPts val="3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🟠 HIGH (61–80): </a:t>
            </a:r>
            <a:r>
              <a:rPr sz="1050" dirty="0">
                <a:solidFill>
                  <a:srgbClr val="64748B"/>
                </a:solidFill>
                <a:latin typeface="Arial"/>
              </a:rPr>
              <a:t>Multiple threat indicators, high abuse confidence score.</a:t>
            </a:r>
          </a:p>
          <a:p>
            <a:pPr>
              <a:spcBef>
                <a:spcPts val="3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🔴 CRITICAL (81–100): </a:t>
            </a:r>
            <a:r>
              <a:rPr sz="1050" dirty="0">
                <a:solidFill>
                  <a:srgbClr val="64748B"/>
                </a:solidFill>
                <a:latin typeface="Arial"/>
              </a:rPr>
              <a:t>Active malware distribution, verified phishing, known C2 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0000" y="1150000"/>
            <a:ext cx="560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5438" y="1459521"/>
            <a:ext cx="4958862" cy="420477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GROQ LLAMA-3 GENERATIVE AI EXPLANATION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1880000"/>
            <a:ext cx="53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243541"/>
                </a:solidFill>
                <a:latin typeface="Arial"/>
              </a:rPr>
              <a:t>✔ Contextual Threat Translation
</a:t>
            </a:r>
            <a:r>
              <a:rPr sz="1050" dirty="0">
                <a:solidFill>
                  <a:srgbClr val="0F172A"/>
                </a:solidFill>
                <a:latin typeface="Arial"/>
              </a:rPr>
              <a:t>Synthesizes multi-page JSON payloads from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VirusTotal</a:t>
            </a:r>
            <a:r>
              <a:rPr sz="1050" dirty="0">
                <a:solidFill>
                  <a:srgbClr val="0F172A"/>
                </a:solidFill>
                <a:latin typeface="Arial"/>
              </a:rPr>
              <a:t>,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AbuseIPDB</a:t>
            </a:r>
            <a:r>
              <a:rPr sz="1050" dirty="0">
                <a:solidFill>
                  <a:srgbClr val="0F172A"/>
                </a:solidFill>
                <a:latin typeface="Arial"/>
              </a:rPr>
              <a:t>, and ML models into a clean 3-sentence executive summary that non-technical managers can instantly comprehend.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243541"/>
                </a:solidFill>
                <a:latin typeface="Arial"/>
              </a:rPr>
              <a:t>✔ Actionable Remediation Directives
</a:t>
            </a:r>
            <a:r>
              <a:rPr sz="1050" dirty="0">
                <a:solidFill>
                  <a:srgbClr val="0F172A"/>
                </a:solidFill>
                <a:latin typeface="Arial"/>
              </a:rPr>
              <a:t>Generates role-specific mitigation recommendations:
• For SOC Analysts: Specific iptables block rules, DNS sinkhole targets, and hash blacklist values.
• For Leadership: Business impact, user credential revoking advice, and policy adjustments.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243541"/>
                </a:solidFill>
                <a:latin typeface="Arial"/>
              </a:rPr>
              <a:t>✔ Low-Latency Inference via </a:t>
            </a:r>
            <a:r>
              <a:rPr sz="1200" b="1" dirty="0" err="1">
                <a:solidFill>
                  <a:srgbClr val="243541"/>
                </a:solidFill>
                <a:latin typeface="Arial"/>
              </a:rPr>
              <a:t>Groq</a:t>
            </a:r>
            <a:r>
              <a:rPr sz="1200" b="1" dirty="0">
                <a:solidFill>
                  <a:srgbClr val="243541"/>
                </a:solidFill>
                <a:latin typeface="Arial"/>
              </a:rPr>
              <a:t> Cloud
</a:t>
            </a:r>
            <a:r>
              <a:rPr sz="1050" dirty="0">
                <a:solidFill>
                  <a:srgbClr val="0F172A"/>
                </a:solidFill>
                <a:latin typeface="Arial"/>
              </a:rPr>
              <a:t>Integrates </a:t>
            </a:r>
            <a:r>
              <a:rPr sz="1050" dirty="0" err="1">
                <a:solidFill>
                  <a:srgbClr val="0F172A"/>
                </a:solidFill>
                <a:latin typeface="Arial"/>
              </a:rPr>
              <a:t>Groq</a:t>
            </a:r>
            <a:r>
              <a:rPr sz="1050" dirty="0">
                <a:solidFill>
                  <a:srgbClr val="0F172A"/>
                </a:solidFill>
                <a:latin typeface="Arial"/>
              </a:rPr>
              <a:t> Llama-3 70B API via modules/ai_assistant.py, streaming high-speed reasoning tokens in under 1.2 seconds.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243541"/>
                </a:solidFill>
                <a:latin typeface="Arial"/>
              </a:rPr>
              <a:t>✔ Resilient Offline Heuristic Engine
</a:t>
            </a:r>
            <a:r>
              <a:rPr sz="1050" dirty="0">
                <a:solidFill>
                  <a:srgbClr val="0F172A"/>
                </a:solidFill>
                <a:latin typeface="Arial"/>
              </a:rPr>
              <a:t>Includes an embedded deterministic template engine that automatically provides rule-based remediation when GROQ_API_KEY is not set or network is disconnected.</a:t>
            </a:r>
          </a:p>
        </p:txBody>
      </p:sp>
    </p:spTree>
    <p:extLst>
      <p:ext uri="{BB962C8B-B14F-4D97-AF65-F5344CB8AC3E}">
        <p14:creationId xmlns:p14="http://schemas.microsoft.com/office/powerpoint/2010/main" val="310190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D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atabase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11592000" cy="7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0000" y="1200000"/>
            <a:ext cx="11392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Arial"/>
              </a:rPr>
              <a:t>DATABASE CONFIGURATION: </a:t>
            </a:r>
            <a:r>
              <a:rPr sz="1200">
                <a:solidFill>
                  <a:srgbClr val="0F172A"/>
                </a:solidFill>
                <a:latin typeface="Arial"/>
              </a:rPr>
              <a:t>SQLite 3 | database/cybermind.db | 15 Relational Tables | 11 Optimized B-Tree Indexes | PRAGMA foreign_keys = ON; | Thread-Safe Connection 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2050000"/>
            <a:ext cx="3650000" cy="400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0000" y="2215662"/>
            <a:ext cx="3290000" cy="531585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rial"/>
              </a:rPr>
              <a:t>Master Entity: </a:t>
            </a:r>
            <a:r>
              <a:rPr sz="1300" b="1" dirty="0" err="1">
                <a:solidFill>
                  <a:srgbClr val="FFFFFF"/>
                </a:solidFill>
                <a:latin typeface="Arial"/>
              </a:rPr>
              <a:t>scan_history</a:t>
            </a:r>
            <a:endParaRPr sz="13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0000" y="2847248"/>
            <a:ext cx="3610000" cy="303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131 REAL SCAN RECORDS LOGGED</a:t>
            </a: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150" b="1" dirty="0" err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scan_id</a:t>
            </a: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INTEGER PRIMARY KEY AUTOINCREMENT</a:t>
            </a: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150" b="1" dirty="0" err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scan_type</a:t>
            </a: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(e.g. Website Scanner, URL, Phone)</a:t>
            </a: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target: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(URL, IP, domain, phone number)</a:t>
            </a: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150" b="1" dirty="0" err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risk_level</a:t>
            </a: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(Safe, Low, Medium, High, Critical)</a:t>
            </a: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150" b="1" dirty="0" err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risk_score</a:t>
            </a: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(0.0 to 100.0 unified score)</a:t>
            </a: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status: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(Completed, Processing, Failed)</a:t>
            </a: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150" b="1" dirty="0" err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scan_time</a:t>
            </a: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TIMESTAMP (ISO 8601 UTC)</a:t>
            </a: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country: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(Geolocation resolved country)</a:t>
            </a: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latitude / longitude: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(Coordinates for live map)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000" y="2050000"/>
            <a:ext cx="3650000" cy="400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50000" y="2215662"/>
            <a:ext cx="3290000" cy="531586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Scanner Detail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000" y="2847248"/>
            <a:ext cx="3290000" cy="2875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64748B"/>
                </a:solidFill>
                <a:latin typeface="Arial"/>
              </a:rPr>
              <a:t>NORMALIZED MULTI-VECTOR DATA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</a:t>
            </a:r>
            <a:r>
              <a:rPr sz="1100" b="1" dirty="0" err="1">
                <a:solidFill>
                  <a:srgbClr val="0F172A"/>
                </a:solidFill>
                <a:latin typeface="Arial"/>
              </a:rPr>
              <a:t>url_scans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: </a:t>
            </a:r>
            <a:r>
              <a:rPr sz="1000" dirty="0">
                <a:solidFill>
                  <a:srgbClr val="243541"/>
                </a:solidFill>
                <a:latin typeface="Arial"/>
              </a:rPr>
              <a:t>14 cols: </a:t>
            </a:r>
            <a:r>
              <a:rPr sz="1000" dirty="0" err="1">
                <a:solidFill>
                  <a:srgbClr val="243541"/>
                </a:solidFill>
                <a:latin typeface="Arial"/>
              </a:rPr>
              <a:t>status_code</a:t>
            </a:r>
            <a:r>
              <a:rPr sz="1000" dirty="0">
                <a:solidFill>
                  <a:srgbClr val="243541"/>
                </a:solidFill>
                <a:latin typeface="Arial"/>
              </a:rPr>
              <a:t>, redirects, age, VT flags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</a:t>
            </a:r>
            <a:r>
              <a:rPr sz="1100" b="1" dirty="0" err="1">
                <a:solidFill>
                  <a:srgbClr val="0F172A"/>
                </a:solidFill>
                <a:latin typeface="Arial"/>
              </a:rPr>
              <a:t>ip_scans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: </a:t>
            </a:r>
            <a:r>
              <a:rPr sz="1000" dirty="0">
                <a:solidFill>
                  <a:srgbClr val="243541"/>
                </a:solidFill>
                <a:latin typeface="Arial"/>
              </a:rPr>
              <a:t>13 cols: </a:t>
            </a:r>
            <a:r>
              <a:rPr sz="1000" dirty="0" err="1">
                <a:solidFill>
                  <a:srgbClr val="243541"/>
                </a:solidFill>
                <a:latin typeface="Arial"/>
              </a:rPr>
              <a:t>abuse_score</a:t>
            </a:r>
            <a:r>
              <a:rPr sz="1000" dirty="0">
                <a:solidFill>
                  <a:srgbClr val="243541"/>
                </a:solidFill>
                <a:latin typeface="Arial"/>
              </a:rPr>
              <a:t>, ASN, ISP, Tor exit flag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</a:t>
            </a:r>
            <a:r>
              <a:rPr sz="1100" b="1" dirty="0" err="1">
                <a:solidFill>
                  <a:srgbClr val="0F172A"/>
                </a:solidFill>
                <a:latin typeface="Arial"/>
              </a:rPr>
              <a:t>website_scans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: </a:t>
            </a:r>
            <a:r>
              <a:rPr sz="1000" dirty="0">
                <a:solidFill>
                  <a:srgbClr val="243541"/>
                </a:solidFill>
                <a:latin typeface="Arial"/>
              </a:rPr>
              <a:t>12 cols: SSL cert, cipher, headers, tech stack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</a:t>
            </a:r>
            <a:r>
              <a:rPr sz="1100" b="1" dirty="0" err="1">
                <a:solidFill>
                  <a:srgbClr val="0F172A"/>
                </a:solidFill>
                <a:latin typeface="Arial"/>
              </a:rPr>
              <a:t>email_scans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: </a:t>
            </a:r>
            <a:r>
              <a:rPr sz="1000" dirty="0">
                <a:solidFill>
                  <a:srgbClr val="243541"/>
                </a:solidFill>
                <a:latin typeface="Arial"/>
              </a:rPr>
              <a:t>10 cols: SPF, DKIM, DMARC, MX, disposable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</a:t>
            </a:r>
            <a:r>
              <a:rPr sz="1100" b="1" dirty="0" err="1">
                <a:solidFill>
                  <a:srgbClr val="0F172A"/>
                </a:solidFill>
                <a:latin typeface="Arial"/>
              </a:rPr>
              <a:t>domain_scans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: </a:t>
            </a:r>
            <a:r>
              <a:rPr sz="1000" dirty="0">
                <a:solidFill>
                  <a:srgbClr val="243541"/>
                </a:solidFill>
                <a:latin typeface="Arial"/>
              </a:rPr>
              <a:t>11 cols: WHOIS, registrar, DNSSEC, expiry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</a:t>
            </a:r>
            <a:r>
              <a:rPr sz="1100" b="1" dirty="0" err="1">
                <a:solidFill>
                  <a:srgbClr val="0F172A"/>
                </a:solidFill>
                <a:latin typeface="Arial"/>
              </a:rPr>
              <a:t>file_scans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: </a:t>
            </a:r>
            <a:r>
              <a:rPr sz="1000" dirty="0">
                <a:solidFill>
                  <a:srgbClr val="243541"/>
                </a:solidFill>
                <a:latin typeface="Arial"/>
              </a:rPr>
              <a:t>13 cols: MD5, SHA256, size, entropy, PE headers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</a:t>
            </a:r>
            <a:r>
              <a:rPr sz="1100" b="1" dirty="0" err="1">
                <a:solidFill>
                  <a:srgbClr val="0F172A"/>
                </a:solidFill>
                <a:latin typeface="Arial"/>
              </a:rPr>
              <a:t>qr_scans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: </a:t>
            </a:r>
            <a:r>
              <a:rPr sz="1000" dirty="0">
                <a:solidFill>
                  <a:srgbClr val="243541"/>
                </a:solidFill>
                <a:latin typeface="Arial"/>
              </a:rPr>
              <a:t>9 cols: </a:t>
            </a:r>
            <a:r>
              <a:rPr sz="1000" dirty="0" err="1">
                <a:solidFill>
                  <a:srgbClr val="243541"/>
                </a:solidFill>
                <a:latin typeface="Arial"/>
              </a:rPr>
              <a:t>decoded_text</a:t>
            </a:r>
            <a:r>
              <a:rPr sz="1000" dirty="0">
                <a:solidFill>
                  <a:srgbClr val="243541"/>
                </a:solidFill>
                <a:latin typeface="Arial"/>
              </a:rPr>
              <a:t>, </a:t>
            </a:r>
            <a:r>
              <a:rPr sz="1000" dirty="0" err="1">
                <a:solidFill>
                  <a:srgbClr val="243541"/>
                </a:solidFill>
                <a:latin typeface="Arial"/>
              </a:rPr>
              <a:t>payment_uri</a:t>
            </a:r>
            <a:r>
              <a:rPr sz="1000" dirty="0">
                <a:solidFill>
                  <a:srgbClr val="243541"/>
                </a:solidFill>
                <a:latin typeface="Arial"/>
              </a:rPr>
              <a:t>, </a:t>
            </a:r>
            <a:r>
              <a:rPr sz="1000" dirty="0" err="1">
                <a:solidFill>
                  <a:srgbClr val="243541"/>
                </a:solidFill>
                <a:latin typeface="Arial"/>
              </a:rPr>
              <a:t>redirect_url</a:t>
            </a:r>
            <a:endParaRPr sz="1000" dirty="0">
              <a:solidFill>
                <a:srgbClr val="243541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40000" y="2050000"/>
            <a:ext cx="3650000" cy="400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20000" y="2215662"/>
            <a:ext cx="3290000" cy="481586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System Telemetry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9999" y="2759328"/>
            <a:ext cx="3555123" cy="3113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AUDITING &amp; ADMINISTRATION</a:t>
            </a: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150" b="1" dirty="0" err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api_logs</a:t>
            </a: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cols: service, </a:t>
            </a:r>
            <a:r>
              <a:rPr sz="1150" dirty="0" err="1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latency_ms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150" dirty="0" err="1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status_code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quota</a:t>
            </a: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reports: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cols: </a:t>
            </a:r>
            <a:r>
              <a:rPr sz="1150" dirty="0" err="1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report_id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150" dirty="0" err="1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scan_id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150" dirty="0" err="1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pdf_path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150" dirty="0" err="1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json_path</a:t>
            </a:r>
            <a:endParaRPr sz="1150" dirty="0">
              <a:solidFill>
                <a:srgbClr val="24354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settings: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system configuration records</a:t>
            </a: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150" b="1" dirty="0" err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scan_statistics</a:t>
            </a: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Aggregated daily/weekly threat metrics</a:t>
            </a: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feedback: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Analyst verification and review telemetry</a:t>
            </a:r>
          </a:p>
          <a:p>
            <a:pPr>
              <a:spcBef>
                <a:spcPts val="400"/>
              </a:spcBef>
            </a:pPr>
            <a:r>
              <a:rPr sz="11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users: </a:t>
            </a:r>
            <a:r>
              <a:rPr sz="1150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Authentication and role permissions</a:t>
            </a:r>
          </a:p>
          <a:p>
            <a:pPr>
              <a:spcBef>
                <a:spcPts val="400"/>
              </a:spcBef>
            </a:pP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support_tickets</a:t>
            </a:r>
            <a:r>
              <a:rPr sz="115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9 customer incident &amp; technical support records</a:t>
            </a:r>
            <a:b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150" b="1" dirty="0">
                <a:latin typeface="Arial" panose="020B0604020202020204" pitchFamily="34" charset="0"/>
                <a:cs typeface="Arial" panose="020B0604020202020204" pitchFamily="34" charset="0"/>
              </a:rPr>
              <a:t>Performance: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 9 B-Tree indexes on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scan_time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risk_level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 target</a:t>
            </a:r>
          </a:p>
        </p:txBody>
      </p:sp>
    </p:spTree>
    <p:extLst>
      <p:ext uri="{BB962C8B-B14F-4D97-AF65-F5344CB8AC3E}">
        <p14:creationId xmlns:p14="http://schemas.microsoft.com/office/powerpoint/2010/main" val="1778541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147682-45B4-04C2-34D3-C0753FC4A396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D6D3F75A-46BB-CCF5-E15B-7C2DE34BB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45" y="1712237"/>
            <a:ext cx="5811374" cy="3267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A1F8D00-082A-574B-DACA-CC76FAF9E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514" y="1712237"/>
            <a:ext cx="5811374" cy="3267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Callout: Up Arrow 23">
            <a:extLst>
              <a:ext uri="{FF2B5EF4-FFF2-40B4-BE49-F238E27FC236}">
                <a16:creationId xmlns:a16="http://schemas.microsoft.com/office/drawing/2014/main" id="{D9C5A990-BE6F-97A1-20C5-66E61A746030}"/>
              </a:ext>
            </a:extLst>
          </p:cNvPr>
          <p:cNvSpPr/>
          <p:nvPr/>
        </p:nvSpPr>
        <p:spPr>
          <a:xfrm>
            <a:off x="1837592" y="5187461"/>
            <a:ext cx="1960684" cy="738554"/>
          </a:xfrm>
          <a:prstGeom prst="upArrowCallo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Dashboard</a:t>
            </a:r>
            <a:endParaRPr lang="en-US" dirty="0"/>
          </a:p>
        </p:txBody>
      </p:sp>
      <p:sp>
        <p:nvSpPr>
          <p:cNvPr id="25" name="Callout: Up Arrow 24">
            <a:extLst>
              <a:ext uri="{FF2B5EF4-FFF2-40B4-BE49-F238E27FC236}">
                <a16:creationId xmlns:a16="http://schemas.microsoft.com/office/drawing/2014/main" id="{C702BC43-3746-E548-0879-DEBE2CB93309}"/>
              </a:ext>
            </a:extLst>
          </p:cNvPr>
          <p:cNvSpPr/>
          <p:nvPr/>
        </p:nvSpPr>
        <p:spPr>
          <a:xfrm>
            <a:off x="8393726" y="5187461"/>
            <a:ext cx="1960684" cy="738554"/>
          </a:xfrm>
          <a:prstGeom prst="upArrowCallo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Scan History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64BCFD-452C-B18A-A336-DCF2B859A4D0}"/>
              </a:ext>
            </a:extLst>
          </p:cNvPr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 dirty="0">
                <a:solidFill>
                  <a:srgbClr val="0F172A"/>
                </a:solidFill>
                <a:latin typeface="Georgia Pro Cond Light"/>
              </a:rPr>
              <a:t>W</a:t>
            </a:r>
            <a:r>
              <a:rPr sz="3600" b="1" dirty="0">
                <a:solidFill>
                  <a:srgbClr val="0F172A"/>
                </a:solidFill>
                <a:latin typeface="Georgia Pro Cond Light"/>
              </a:rPr>
              <a:t>orking</a:t>
            </a:r>
            <a:r>
              <a:rPr sz="5200" b="1" dirty="0">
                <a:solidFill>
                  <a:srgbClr val="0F172A"/>
                </a:solidFill>
                <a:latin typeface="Georgia Pro Cond Light"/>
              </a:rPr>
              <a:t> P</a:t>
            </a:r>
            <a:r>
              <a:rPr sz="3600" b="1" dirty="0">
                <a:solidFill>
                  <a:srgbClr val="0F172A"/>
                </a:solidFill>
                <a:latin typeface="Georgia Pro Cond Light"/>
              </a:rPr>
              <a:t>rototype &amp;</a:t>
            </a:r>
            <a:r>
              <a:rPr sz="5200" b="1" dirty="0">
                <a:solidFill>
                  <a:srgbClr val="0F172A"/>
                </a:solidFill>
                <a:latin typeface="Georgia Pro Cond Light"/>
              </a:rPr>
              <a:t> U</a:t>
            </a:r>
            <a:r>
              <a:rPr sz="3600" b="1" dirty="0">
                <a:solidFill>
                  <a:srgbClr val="0F172A"/>
                </a:solidFill>
                <a:latin typeface="Georgia Pro Cond Light"/>
              </a:rPr>
              <a:t>I</a:t>
            </a:r>
            <a:r>
              <a:rPr sz="5200" b="1" dirty="0">
                <a:solidFill>
                  <a:srgbClr val="0F172A"/>
                </a:solidFill>
                <a:latin typeface="Georgia Pro Cond Light"/>
              </a:rPr>
              <a:t> D</a:t>
            </a:r>
            <a:r>
              <a:rPr sz="3600" b="1" dirty="0">
                <a:solidFill>
                  <a:srgbClr val="0F172A"/>
                </a:solidFill>
                <a:latin typeface="Georgia Pro Cond Light"/>
              </a:rPr>
              <a:t>ashboard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BBC26E-838F-45E0-752F-63FF070F5905}"/>
              </a:ext>
            </a:extLst>
          </p:cNvPr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FEBC7135-5883-B5B8-1C74-21427FD15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A295C5E-A717-E940-5F5F-E045A275BA55}"/>
              </a:ext>
            </a:extLst>
          </p:cNvPr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AFA759-D2C3-6DE1-C9BD-3F42043C4D0A}"/>
              </a:ext>
            </a:extLst>
          </p:cNvPr>
          <p:cNvSpPr txBox="1"/>
          <p:nvPr/>
        </p:nvSpPr>
        <p:spPr>
          <a:xfrm>
            <a:off x="11245279" y="6180000"/>
            <a:ext cx="85472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4400" b="1" dirty="0">
                <a:solidFill>
                  <a:srgbClr val="FFFFFF"/>
                </a:solidFill>
                <a:latin typeface="Algerian"/>
              </a:rPr>
              <a:t>10</a:t>
            </a:r>
            <a:endParaRPr sz="4400" b="1" dirty="0">
              <a:solidFill>
                <a:srgbClr val="FFFFFF"/>
              </a:solidFill>
              <a:latin typeface="Algeri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20F10-3B46-EB46-39F7-8F57D29C43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45" y="1657379"/>
            <a:ext cx="5811964" cy="32675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A0234D-B9EC-4F56-F5CE-9BB013A36A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6219" y="1712237"/>
            <a:ext cx="5811964" cy="326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74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1BABD8-BB24-03F3-D0F5-E5EB7A96D4FC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87EDF37-08ED-CBD3-FE5C-CF98A18B7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45" y="1712235"/>
            <a:ext cx="5811374" cy="3267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C525CC-0567-4CF3-8FE4-03E5E6943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582" y="1712235"/>
            <a:ext cx="5811373" cy="3267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allout: Up Arrow 5">
            <a:extLst>
              <a:ext uri="{FF2B5EF4-FFF2-40B4-BE49-F238E27FC236}">
                <a16:creationId xmlns:a16="http://schemas.microsoft.com/office/drawing/2014/main" id="{6A3796EA-2710-AF59-4AB7-72DE7BC2198C}"/>
              </a:ext>
            </a:extLst>
          </p:cNvPr>
          <p:cNvSpPr/>
          <p:nvPr/>
        </p:nvSpPr>
        <p:spPr>
          <a:xfrm>
            <a:off x="1837592" y="5187461"/>
            <a:ext cx="1960684" cy="738554"/>
          </a:xfrm>
          <a:prstGeom prst="upArrowCallo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Analytics</a:t>
            </a:r>
            <a:endParaRPr lang="en-US" dirty="0"/>
          </a:p>
        </p:txBody>
      </p:sp>
      <p:sp>
        <p:nvSpPr>
          <p:cNvPr id="7" name="Callout: Up Arrow 6">
            <a:extLst>
              <a:ext uri="{FF2B5EF4-FFF2-40B4-BE49-F238E27FC236}">
                <a16:creationId xmlns:a16="http://schemas.microsoft.com/office/drawing/2014/main" id="{5CFFA7F8-0B0F-3508-FFC2-3E3116D2A7EA}"/>
              </a:ext>
            </a:extLst>
          </p:cNvPr>
          <p:cNvSpPr/>
          <p:nvPr/>
        </p:nvSpPr>
        <p:spPr>
          <a:xfrm>
            <a:off x="8393726" y="5187461"/>
            <a:ext cx="1960684" cy="738554"/>
          </a:xfrm>
          <a:prstGeom prst="upArrowCallo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Web Scanner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13AEC-6F9B-8F25-2304-AD05153E0A22}"/>
              </a:ext>
            </a:extLst>
          </p:cNvPr>
          <p:cNvSpPr txBox="1"/>
          <p:nvPr/>
        </p:nvSpPr>
        <p:spPr>
          <a:xfrm>
            <a:off x="11354459" y="6205486"/>
            <a:ext cx="1175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lgerian" panose="04020705040A02060702" pitchFamily="82" charset="0"/>
              </a:rPr>
              <a:t>13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506D7-CD24-6A08-E141-EEBCD6A4001F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0EFF46-E534-BE37-38DB-A1A7094AD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D8FE04-2C83-A1AE-4409-DCEF9B39C255}"/>
              </a:ext>
            </a:extLst>
          </p:cNvPr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 dirty="0">
                <a:solidFill>
                  <a:srgbClr val="0F172A"/>
                </a:solidFill>
                <a:latin typeface="Georgia Pro Cond Light"/>
              </a:rPr>
              <a:t>W</a:t>
            </a:r>
            <a:r>
              <a:rPr sz="3600" b="1" dirty="0">
                <a:solidFill>
                  <a:srgbClr val="0F172A"/>
                </a:solidFill>
                <a:latin typeface="Georgia Pro Cond Light"/>
              </a:rPr>
              <a:t>orking</a:t>
            </a:r>
            <a:r>
              <a:rPr sz="5200" b="1" dirty="0">
                <a:solidFill>
                  <a:srgbClr val="0F172A"/>
                </a:solidFill>
                <a:latin typeface="Georgia Pro Cond Light"/>
              </a:rPr>
              <a:t> P</a:t>
            </a:r>
            <a:r>
              <a:rPr sz="3600" b="1" dirty="0">
                <a:solidFill>
                  <a:srgbClr val="0F172A"/>
                </a:solidFill>
                <a:latin typeface="Georgia Pro Cond Light"/>
              </a:rPr>
              <a:t>rototype &amp;</a:t>
            </a:r>
            <a:r>
              <a:rPr sz="5200" b="1" dirty="0">
                <a:solidFill>
                  <a:srgbClr val="0F172A"/>
                </a:solidFill>
                <a:latin typeface="Georgia Pro Cond Light"/>
              </a:rPr>
              <a:t> U</a:t>
            </a:r>
            <a:r>
              <a:rPr sz="3600" b="1" dirty="0">
                <a:solidFill>
                  <a:srgbClr val="0F172A"/>
                </a:solidFill>
                <a:latin typeface="Georgia Pro Cond Light"/>
              </a:rPr>
              <a:t>I</a:t>
            </a:r>
            <a:r>
              <a:rPr sz="5200" b="1" dirty="0">
                <a:solidFill>
                  <a:srgbClr val="0F172A"/>
                </a:solidFill>
                <a:latin typeface="Georgia Pro Cond Light"/>
              </a:rPr>
              <a:t> D</a:t>
            </a:r>
            <a:r>
              <a:rPr sz="3600" b="1" dirty="0">
                <a:solidFill>
                  <a:srgbClr val="0F172A"/>
                </a:solidFill>
                <a:latin typeface="Georgia Pro Cond Light"/>
              </a:rPr>
              <a:t>ashboard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D67A8C-4269-E904-5A93-28ACB8C78AA1}"/>
              </a:ext>
            </a:extLst>
          </p:cNvPr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5FF1213F-D792-A7D3-63D3-18A98CED6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D634E1B-9857-0E0F-8B3B-84CB359969B4}"/>
              </a:ext>
            </a:extLst>
          </p:cNvPr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CDA8CC-DB45-03CC-C152-3C4244C662F5}"/>
              </a:ext>
            </a:extLst>
          </p:cNvPr>
          <p:cNvSpPr txBox="1"/>
          <p:nvPr/>
        </p:nvSpPr>
        <p:spPr>
          <a:xfrm>
            <a:off x="11238867" y="6180000"/>
            <a:ext cx="86113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4400" b="1" dirty="0">
                <a:solidFill>
                  <a:srgbClr val="FFFFFF"/>
                </a:solidFill>
                <a:latin typeface="Algerian"/>
              </a:rPr>
              <a:t>11</a:t>
            </a:r>
            <a:endParaRPr sz="4400" b="1" dirty="0">
              <a:solidFill>
                <a:srgbClr val="FFFFFF"/>
              </a:solidFill>
              <a:latin typeface="Algeri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41B00B-60CA-C5A5-513E-B5D378C81A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45" y="1712236"/>
            <a:ext cx="5811962" cy="32675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1C221D-AE7D-47BE-30CF-EF674E64C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991" y="1745182"/>
            <a:ext cx="5811963" cy="326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508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T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esting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M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ethodology &amp;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V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8867" y="6180000"/>
            <a:ext cx="86113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 dirty="0">
                <a:solidFill>
                  <a:srgbClr val="FFFFFF"/>
                </a:solidFill>
                <a:latin typeface="Algerian"/>
              </a:rPr>
              <a:t>1</a:t>
            </a:r>
            <a:r>
              <a:rPr lang="en-US" sz="4400" b="1" dirty="0">
                <a:solidFill>
                  <a:srgbClr val="FFFFFF"/>
                </a:solidFill>
                <a:latin typeface="Algerian"/>
              </a:rPr>
              <a:t>2</a:t>
            </a:r>
            <a:endParaRPr sz="4400" b="1" dirty="0">
              <a:solidFill>
                <a:srgbClr val="FFFFFF"/>
              </a:solidFill>
              <a:latin typeface="Algeri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560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53915" y="1565030"/>
            <a:ext cx="5037994" cy="395655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TESTING ARCHITECTURE &amp; AUTOMATION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93" y="2020678"/>
            <a:ext cx="5300000" cy="3008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dirty="0">
                <a:solidFill>
                  <a:srgbClr val="2980B9"/>
                </a:solidFill>
                <a:latin typeface="Arial"/>
              </a:rPr>
              <a:t>✔ Automated </a:t>
            </a:r>
            <a:r>
              <a:rPr sz="1150" b="1" dirty="0" err="1">
                <a:solidFill>
                  <a:srgbClr val="2980B9"/>
                </a:solidFill>
                <a:latin typeface="Arial"/>
              </a:rPr>
              <a:t>Pytest</a:t>
            </a:r>
            <a:r>
              <a:rPr sz="1150" b="1" dirty="0">
                <a:solidFill>
                  <a:srgbClr val="2980B9"/>
                </a:solidFill>
                <a:latin typeface="Arial"/>
              </a:rPr>
              <a:t> Framework (tests/tests_root.py)</a:t>
            </a:r>
            <a:endParaRPr lang="en-US" sz="1150" b="1" dirty="0">
              <a:solidFill>
                <a:srgbClr val="2980B9"/>
              </a:solidFill>
              <a:latin typeface="Arial"/>
            </a:endParaRPr>
          </a:p>
          <a:p>
            <a:r>
              <a:rPr sz="1150" b="1" dirty="0">
                <a:solidFill>
                  <a:srgbClr val="2980B9"/>
                </a:solidFill>
                <a:latin typeface="Arial"/>
              </a:rPr>
              <a:t>
</a:t>
            </a:r>
            <a:r>
              <a:rPr sz="1150" dirty="0">
                <a:solidFill>
                  <a:srgbClr val="0F172A"/>
                </a:solidFill>
                <a:latin typeface="Arial"/>
              </a:rPr>
              <a:t>Enterprise </a:t>
            </a:r>
            <a:r>
              <a:rPr sz="1150" dirty="0" err="1">
                <a:solidFill>
                  <a:srgbClr val="0F172A"/>
                </a:solidFill>
                <a:latin typeface="Arial"/>
              </a:rPr>
              <a:t>Pytest</a:t>
            </a:r>
            <a:r>
              <a:rPr sz="1150" dirty="0">
                <a:solidFill>
                  <a:srgbClr val="0F172A"/>
                </a:solidFill>
                <a:latin typeface="Arial"/>
              </a:rPr>
              <a:t> test harness orchestrated via root.py, executing 15 test files with parallel execution and health assertions.</a:t>
            </a:r>
          </a:p>
          <a:p>
            <a:pPr>
              <a:spcBef>
                <a:spcPts val="800"/>
              </a:spcBef>
            </a:pPr>
            <a:r>
              <a:rPr sz="1150" b="1" dirty="0">
                <a:solidFill>
                  <a:srgbClr val="2980B9"/>
                </a:solidFill>
                <a:latin typeface="Arial"/>
              </a:rPr>
              <a:t>✔ Deterministic Test Fixtures (tests/conftest.py)
</a:t>
            </a:r>
            <a:r>
              <a:rPr sz="1150" dirty="0">
                <a:solidFill>
                  <a:srgbClr val="0F172A"/>
                </a:solidFill>
                <a:latin typeface="Arial"/>
              </a:rPr>
              <a:t>Standardized session-scoped fixtures providing verified inputs: sample URLs, domains, emails, IP addresses, PE sample files, and decoded QR payloads.</a:t>
            </a:r>
          </a:p>
          <a:p>
            <a:pPr>
              <a:spcBef>
                <a:spcPts val="800"/>
              </a:spcBef>
            </a:pPr>
            <a:r>
              <a:rPr sz="1150" b="1" dirty="0">
                <a:solidFill>
                  <a:srgbClr val="2980B9"/>
                </a:solidFill>
                <a:latin typeface="Arial"/>
              </a:rPr>
              <a:t>✔ Multi-Stage Verification Pipeline
</a:t>
            </a:r>
            <a:r>
              <a:rPr sz="1150" dirty="0">
                <a:solidFill>
                  <a:srgbClr val="0F172A"/>
                </a:solidFill>
                <a:latin typeface="Arial"/>
              </a:rPr>
              <a:t>Input Target ➔ core/validator.py Sanitization ➔ Service Execution ➔ Assertion of Expected vs. Actual Outputs ➔ Pass / Fail ➔ Auto-Fallback Verification.</a:t>
            </a:r>
          </a:p>
          <a:p>
            <a:pPr>
              <a:spcBef>
                <a:spcPts val="800"/>
              </a:spcBef>
            </a:pPr>
            <a:r>
              <a:rPr sz="1150" b="1" dirty="0">
                <a:solidFill>
                  <a:srgbClr val="2980B9"/>
                </a:solidFill>
                <a:latin typeface="Arial"/>
              </a:rPr>
              <a:t>✔ Diagnostics Master Orchestrator (root.py)
</a:t>
            </a:r>
            <a:r>
              <a:rPr sz="1150" dirty="0">
                <a:solidFill>
                  <a:srgbClr val="0F172A"/>
                </a:solidFill>
                <a:latin typeface="Arial"/>
              </a:rPr>
              <a:t>Sequential 5-phase validation: module discovery, manager initialization, health checks, test suite execution, and live diagnostic scans.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0000" y="1150000"/>
            <a:ext cx="560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62346" y="1565030"/>
            <a:ext cx="5037992" cy="40723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 IMPLEMENTED TESTING CATEGORIES (156 TEST CASES)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1960685"/>
            <a:ext cx="5300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b="1" dirty="0">
                <a:solidFill>
                  <a:srgbClr val="243541"/>
                </a:solidFill>
                <a:latin typeface="Arial"/>
              </a:rPr>
              <a:t>1. </a:t>
            </a:r>
            <a:r>
              <a:rPr sz="1150" b="1" dirty="0">
                <a:solidFill>
                  <a:srgbClr val="243541"/>
                </a:solidFill>
                <a:latin typeface="Arial"/>
              </a:rPr>
              <a:t>Functional Scanner Tests: </a:t>
            </a:r>
            <a:r>
              <a:rPr sz="1050" dirty="0">
                <a:solidFill>
                  <a:srgbClr val="0F172A"/>
                </a:solidFill>
                <a:latin typeface="Arial"/>
              </a:rPr>
              <a:t>test_modules.py &amp; test_universal_scan.py: Routing, parameter handling, and return payload structure across all 10 scanners.</a:t>
            </a:r>
          </a:p>
          <a:p>
            <a:pPr>
              <a:spcBef>
                <a:spcPts val="600"/>
              </a:spcBef>
            </a:pPr>
            <a:r>
              <a:rPr lang="en-US" sz="1150" b="1" dirty="0">
                <a:solidFill>
                  <a:srgbClr val="243541"/>
                </a:solidFill>
                <a:latin typeface="Arial"/>
              </a:rPr>
              <a:t>2. </a:t>
            </a:r>
            <a:r>
              <a:rPr sz="1150" b="1" dirty="0">
                <a:solidFill>
                  <a:srgbClr val="243541"/>
                </a:solidFill>
                <a:latin typeface="Arial"/>
              </a:rPr>
              <a:t>External Service &amp; API Tests: </a:t>
            </a:r>
            <a:r>
              <a:rPr sz="1050" dirty="0">
                <a:solidFill>
                  <a:srgbClr val="0F172A"/>
                </a:solidFill>
                <a:latin typeface="Arial"/>
              </a:rPr>
              <a:t>test_api.py &amp; test_services.py: Validates mock fallbacks, API rate limits, timeouts, and live endpoints.</a:t>
            </a:r>
          </a:p>
          <a:p>
            <a:pPr>
              <a:spcBef>
                <a:spcPts val="600"/>
              </a:spcBef>
            </a:pPr>
            <a:r>
              <a:rPr sz="1150" b="1" dirty="0">
                <a:solidFill>
                  <a:srgbClr val="243541"/>
                </a:solidFill>
                <a:latin typeface="Arial"/>
              </a:rPr>
              <a:t>3. ML Prediction &amp; Inference Tests: </a:t>
            </a:r>
            <a:r>
              <a:rPr sz="1050" dirty="0">
                <a:solidFill>
                  <a:srgbClr val="0F172A"/>
                </a:solidFill>
                <a:latin typeface="Arial"/>
              </a:rPr>
              <a:t>test_ml.py: Verifies 50-feature array shapes, probability calibration, and model serialization.</a:t>
            </a:r>
          </a:p>
          <a:p>
            <a:pPr>
              <a:spcBef>
                <a:spcPts val="600"/>
              </a:spcBef>
            </a:pPr>
            <a:r>
              <a:rPr sz="1150" b="1" dirty="0">
                <a:solidFill>
                  <a:srgbClr val="243541"/>
                </a:solidFill>
                <a:latin typeface="Arial"/>
              </a:rPr>
              <a:t>4. Relational Database Tests: </a:t>
            </a:r>
            <a:r>
              <a:rPr sz="1050" dirty="0">
                <a:solidFill>
                  <a:srgbClr val="0F172A"/>
                </a:solidFill>
                <a:latin typeface="Arial"/>
              </a:rPr>
              <a:t>test_database.py: Asserts schema migrations, foreign keys, record CRUD, and multi-thread safe execution.</a:t>
            </a:r>
          </a:p>
          <a:p>
            <a:pPr>
              <a:spcBef>
                <a:spcPts val="600"/>
              </a:spcBef>
            </a:pPr>
            <a:r>
              <a:rPr sz="1150" b="1" dirty="0">
                <a:solidFill>
                  <a:srgbClr val="243541"/>
                </a:solidFill>
                <a:latin typeface="Arial"/>
              </a:rPr>
              <a:t>5. Device Hardening Audit Tests: </a:t>
            </a:r>
            <a:r>
              <a:rPr sz="1050" dirty="0">
                <a:solidFill>
                  <a:srgbClr val="0F172A"/>
                </a:solidFill>
                <a:latin typeface="Arial"/>
              </a:rPr>
              <a:t>test_device_security.py: Validates local port scanning, Windows firewall detection, and OS checks.</a:t>
            </a:r>
          </a:p>
          <a:p>
            <a:pPr>
              <a:spcBef>
                <a:spcPts val="600"/>
              </a:spcBef>
            </a:pPr>
            <a:r>
              <a:rPr sz="1150" b="1" dirty="0">
                <a:solidFill>
                  <a:srgbClr val="243541"/>
                </a:solidFill>
                <a:latin typeface="Arial"/>
              </a:rPr>
              <a:t>6. Input Validation &amp; Error Handling: </a:t>
            </a:r>
            <a:r>
              <a:rPr sz="1050" dirty="0">
                <a:solidFill>
                  <a:srgbClr val="0F172A"/>
                </a:solidFill>
                <a:latin typeface="Arial"/>
              </a:rPr>
              <a:t>Tests malformed URLs, empty targets, non-numeric phones, and SQL injection sanitization.</a:t>
            </a:r>
          </a:p>
          <a:p>
            <a:pPr>
              <a:spcBef>
                <a:spcPts val="600"/>
              </a:spcBef>
            </a:pPr>
            <a:r>
              <a:rPr sz="1150" b="1" dirty="0">
                <a:solidFill>
                  <a:srgbClr val="243541"/>
                </a:solidFill>
                <a:latin typeface="Arial"/>
              </a:rPr>
              <a:t>7. Startup Diagnostics &amp; Health Checks: </a:t>
            </a:r>
            <a:r>
              <a:rPr sz="1050" dirty="0">
                <a:solidFill>
                  <a:srgbClr val="0F172A"/>
                </a:solidFill>
                <a:latin typeface="Arial"/>
              </a:rPr>
              <a:t>test_startup.py: Comprehensive health verification across all 10 manager classes.</a:t>
            </a:r>
          </a:p>
        </p:txBody>
      </p:sp>
    </p:spTree>
    <p:extLst>
      <p:ext uri="{BB962C8B-B14F-4D97-AF65-F5344CB8AC3E}">
        <p14:creationId xmlns:p14="http://schemas.microsoft.com/office/powerpoint/2010/main" val="3386449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T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est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C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ases &amp;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E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xecution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M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8867" y="6180000"/>
            <a:ext cx="86113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 dirty="0">
                <a:solidFill>
                  <a:srgbClr val="FFFFFF"/>
                </a:solidFill>
                <a:latin typeface="Algerian"/>
              </a:rPr>
              <a:t>1</a:t>
            </a:r>
            <a:r>
              <a:rPr lang="en-US" sz="4400" b="1" dirty="0">
                <a:solidFill>
                  <a:srgbClr val="FFFFFF"/>
                </a:solidFill>
                <a:latin typeface="Algerian"/>
              </a:rPr>
              <a:t>3</a:t>
            </a:r>
            <a:endParaRPr sz="4400" b="1" dirty="0">
              <a:solidFill>
                <a:srgbClr val="FFFFFF"/>
              </a:solidFill>
              <a:latin typeface="Algerian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0000" y="1150000"/>
          <a:ext cx="11592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Test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Target / Input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Test Scope &amp; 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Expected 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Actual 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https://example.com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URL Scanner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Score &lt; 20, 0 engine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Risk: 8/100 (Safe), 0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testsafebrowsing.appspot.com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Malicious URL Detection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Score = 100, Critical alert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Risk: 100/100 (Critical), VT flagged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8.8.8.8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IP Intelligence Scanner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Resolved ASN, score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Org: Google LLC, Score: 0 (Safe)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+91 9123456789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Phone Threat Intelligence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Carrier identified, line type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Carrier resolved, mobile 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sample.pdf (1,024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File &amp; PE Malware Scanner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Benign signature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High-confidence benign signature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Query: 'password policy'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Groq AI Offline Fallback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Executive mitigation advice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Plain-English policy advice returned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Write Scan to cybermind.db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Database 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New row in scan_history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Row created with PK &amp; 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67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Invalid non-numeric phone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Input Validation Sanitizer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ValidationError raised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Sanitizer rejects, UI error displayed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00000" y="5450000"/>
            <a:ext cx="11592000" cy="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0000" y="5500000"/>
            <a:ext cx="11392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Arial"/>
              </a:rPr>
              <a:t>EXECUTION SUMMARY: </a:t>
            </a:r>
            <a:r>
              <a:rPr sz="1200" b="1">
                <a:solidFill>
                  <a:srgbClr val="22C55E"/>
                </a:solidFill>
                <a:latin typeface="Arial"/>
              </a:rPr>
              <a:t>Total Automated Test Cases: 156  |  Passed: 156 (100% Pass Rate)  |  Failed: 0  |  Execution Duration: 8.42s  |  All 10 Managers Verified Healthy</a:t>
            </a:r>
          </a:p>
        </p:txBody>
      </p:sp>
    </p:spTree>
    <p:extLst>
      <p:ext uri="{BB962C8B-B14F-4D97-AF65-F5344CB8AC3E}">
        <p14:creationId xmlns:p14="http://schemas.microsoft.com/office/powerpoint/2010/main" val="1200920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C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ode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R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eview,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B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ugs &amp;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ssue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R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8867" y="6180000"/>
            <a:ext cx="86113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 dirty="0">
                <a:solidFill>
                  <a:srgbClr val="FFFFFF"/>
                </a:solidFill>
                <a:latin typeface="Algerian"/>
              </a:rPr>
              <a:t>1</a:t>
            </a:r>
            <a:r>
              <a:rPr lang="en-US" sz="4400" b="1" dirty="0">
                <a:solidFill>
                  <a:srgbClr val="FFFFFF"/>
                </a:solidFill>
                <a:latin typeface="Algerian"/>
              </a:rPr>
              <a:t>4</a:t>
            </a:r>
            <a:endParaRPr sz="4400" b="1" dirty="0">
              <a:solidFill>
                <a:srgbClr val="FFFFFF"/>
              </a:solidFill>
              <a:latin typeface="Algerian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0000" y="1150000"/>
          <a:ext cx="115920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666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Issue Encountered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Root Cause Analysis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Architectural Solution Applied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66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API Timeouts &amp; Rate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External TI network delays and quota exhaustions on VirusTotal/AbuseIPDB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Implemented asynchronous 5-second timeout guards with local heuristic fallbacks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66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Service Export Singleton Mismatch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Service classes were defined but uninstantiated at bottom of files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Instantiated singleton instances in services/* and exposed via services_root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66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Database Initialization 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Queries executed in tests before tables were created in cybermind.db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Added dynamic initialize_database() migration runner invoked in db.py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66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Streamlit ScriptRunContext Warns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Pytest CLI lacked active Streamlit session state, causing noisy warnings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Implemented _NoStreamlitBare logger filter and mock session state in tests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67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Timezone-Naive Timestamp Arithmetic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Date comparisons mixed naive and UTC datetimes in analytics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Standardized on timezone-aware ISO 8601 UTC timestamps across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00000" y="4400000"/>
            <a:ext cx="11592000" cy="1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000" y="4480000"/>
            <a:ext cx="1129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Arial"/>
              </a:rPr>
              <a:t>CODING STANDARDS &amp; ARCHITECTURAL BEST PRACTICES APPLIED: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243541"/>
                </a:solidFill>
                <a:latin typeface="Arial"/>
              </a:rPr>
              <a:t>✔ Decoupled 3-Tier Layering: </a:t>
            </a:r>
            <a:r>
              <a:rPr sz="1050">
                <a:solidFill>
                  <a:srgbClr val="0F172A"/>
                </a:solidFill>
                <a:latin typeface="Arial"/>
              </a:rPr>
              <a:t>Strict separation between UI (Streamlit), Business Logic (Modules/Services/ML), and Storage (SQLite).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243541"/>
                </a:solidFill>
                <a:latin typeface="Arial"/>
              </a:rPr>
              <a:t>✔ Strict Schema Validation: </a:t>
            </a:r>
            <a:r>
              <a:rPr sz="1050">
                <a:solidFill>
                  <a:srgbClr val="0F172A"/>
                </a:solidFill>
                <a:latin typeface="Arial"/>
              </a:rPr>
              <a:t>All incoming payloads sanitized through core/validator.py before reaching scanner engines.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243541"/>
                </a:solidFill>
                <a:latin typeface="Arial"/>
              </a:rPr>
              <a:t>✔ Defensive Error Handling: </a:t>
            </a:r>
            <a:r>
              <a:rPr sz="1050">
                <a:solidFill>
                  <a:srgbClr val="0F172A"/>
                </a:solidFill>
                <a:latin typeface="Arial"/>
              </a:rPr>
              <a:t>Every external API call wrapped in try/except blocks with structured logging via core/logger.py.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243541"/>
                </a:solidFill>
                <a:latin typeface="Arial"/>
              </a:rPr>
              <a:t>✔ Type Hinting &amp; Modularity: </a:t>
            </a:r>
            <a:r>
              <a:rPr sz="1050">
                <a:solidFill>
                  <a:srgbClr val="0F172A"/>
                </a:solidFill>
                <a:latin typeface="Arial"/>
              </a:rPr>
              <a:t>Comprehensive Python 3.12+ type annotations (from __future__ import annotations) throughout.</a:t>
            </a:r>
          </a:p>
        </p:txBody>
      </p:sp>
    </p:spTree>
    <p:extLst>
      <p:ext uri="{BB962C8B-B14F-4D97-AF65-F5344CB8AC3E}">
        <p14:creationId xmlns:p14="http://schemas.microsoft.com/office/powerpoint/2010/main" val="778783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C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urrent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P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roject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P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rogress &amp;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R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FFFFFF"/>
                </a:solidFill>
                <a:latin typeface="Georgia Pro Cond Light"/>
              </a:rPr>
              <a:t>CyberMind</a:t>
            </a:r>
            <a:r>
              <a:rPr sz="1400" b="1" dirty="0">
                <a:solidFill>
                  <a:srgbClr val="FFFFFF"/>
                </a:solidFill>
                <a:latin typeface="Georgia Pro Cond Light"/>
              </a:rPr>
              <a:t>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8867" y="6180000"/>
            <a:ext cx="86113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 dirty="0">
                <a:solidFill>
                  <a:srgbClr val="FFFFFF"/>
                </a:solidFill>
                <a:latin typeface="Algerian"/>
              </a:rPr>
              <a:t>1</a:t>
            </a:r>
            <a:r>
              <a:rPr lang="en-US" sz="4400" b="1" dirty="0">
                <a:solidFill>
                  <a:srgbClr val="FFFFFF"/>
                </a:solidFill>
                <a:latin typeface="Algerian"/>
              </a:rPr>
              <a:t>5</a:t>
            </a:r>
            <a:endParaRPr sz="4400" b="1" dirty="0">
              <a:solidFill>
                <a:srgbClr val="FFFFFF"/>
              </a:solidFill>
              <a:latin typeface="Algeri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1800000" cy="10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0000" y="1210000"/>
            <a:ext cx="1640000" cy="65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dirty="0">
                <a:solidFill>
                  <a:srgbClr val="64748B"/>
                </a:solidFill>
                <a:latin typeface="Arial"/>
              </a:rPr>
              <a:t>IMPLEMENTATION</a:t>
            </a:r>
          </a:p>
          <a:p>
            <a:pPr algn="ctr"/>
            <a:r>
              <a:rPr sz="17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90%</a:t>
            </a:r>
          </a:p>
          <a:p>
            <a:pPr algn="ctr"/>
            <a:r>
              <a:rPr sz="900" dirty="0">
                <a:solidFill>
                  <a:srgbClr val="243541"/>
                </a:solidFill>
                <a:latin typeface="Arial"/>
              </a:rPr>
              <a:t>Core Operational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8400" y="1150000"/>
            <a:ext cx="1800000" cy="10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8400" y="1210000"/>
            <a:ext cx="1640000" cy="9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Arial"/>
              </a:rPr>
              <a:t>MODULES</a:t>
            </a:r>
          </a:p>
          <a:p>
            <a:pPr algn="ctr"/>
            <a:r>
              <a:rPr sz="1700" b="1">
                <a:solidFill>
                  <a:srgbClr val="33B67D"/>
                </a:solidFill>
                <a:latin typeface="Arial"/>
              </a:rPr>
              <a:t>10 / 10</a:t>
            </a:r>
          </a:p>
          <a:p>
            <a:pPr algn="ctr"/>
            <a:r>
              <a:rPr sz="900">
                <a:solidFill>
                  <a:srgbClr val="243541"/>
                </a:solidFill>
                <a:latin typeface="Arial"/>
              </a:rPr>
              <a:t>All 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6800" y="1150000"/>
            <a:ext cx="1800000" cy="10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6800" y="1210000"/>
            <a:ext cx="1640000" cy="638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dirty="0">
                <a:solidFill>
                  <a:srgbClr val="64748B"/>
                </a:solidFill>
                <a:latin typeface="Arial"/>
              </a:rPr>
              <a:t>SERVICES / APIs</a:t>
            </a:r>
          </a:p>
          <a:p>
            <a:pPr algn="ctr"/>
            <a:r>
              <a:rPr sz="1700" b="1" dirty="0">
                <a:solidFill>
                  <a:schemeClr val="accent1"/>
                </a:solidFill>
                <a:latin typeface="Arial"/>
              </a:rPr>
              <a:t>30+</a:t>
            </a:r>
          </a:p>
          <a:p>
            <a:pPr algn="ctr"/>
            <a:r>
              <a:rPr sz="900" dirty="0">
                <a:solidFill>
                  <a:srgbClr val="243541"/>
                </a:solidFill>
                <a:latin typeface="Arial"/>
              </a:rPr>
              <a:t>Integrated &amp; Cached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5200" y="1150000"/>
            <a:ext cx="1800000" cy="10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55200" y="1210000"/>
            <a:ext cx="1640000" cy="638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dirty="0">
                <a:solidFill>
                  <a:srgbClr val="64748B"/>
                </a:solidFill>
                <a:latin typeface="Arial"/>
              </a:rPr>
              <a:t>ML ACCURACY</a:t>
            </a:r>
          </a:p>
          <a:p>
            <a:pPr algn="ctr"/>
            <a:r>
              <a:rPr sz="17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96.7%</a:t>
            </a:r>
          </a:p>
          <a:p>
            <a:pPr algn="ctr"/>
            <a:r>
              <a:rPr sz="900" dirty="0">
                <a:solidFill>
                  <a:srgbClr val="243541"/>
                </a:solidFill>
                <a:latin typeface="Arial"/>
              </a:rPr>
              <a:t>5-Fold Stratified CV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3600" y="1150000"/>
            <a:ext cx="1800000" cy="10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3600" y="1210000"/>
            <a:ext cx="1640000" cy="9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dirty="0">
                <a:solidFill>
                  <a:srgbClr val="64748B"/>
                </a:solidFill>
                <a:latin typeface="Arial"/>
              </a:rPr>
              <a:t>TEST CASES</a:t>
            </a:r>
          </a:p>
          <a:p>
            <a:pPr algn="ctr"/>
            <a:r>
              <a:rPr sz="1700" b="1" dirty="0">
                <a:solidFill>
                  <a:srgbClr val="22C55E"/>
                </a:solidFill>
                <a:latin typeface="Arial"/>
              </a:rPr>
              <a:t>156 / 156</a:t>
            </a:r>
          </a:p>
          <a:p>
            <a:pPr algn="ctr"/>
            <a:r>
              <a:rPr sz="900" dirty="0">
                <a:solidFill>
                  <a:srgbClr val="243541"/>
                </a:solidFill>
                <a:latin typeface="Arial"/>
              </a:rPr>
              <a:t>100% Passing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92000" y="1150000"/>
            <a:ext cx="1800000" cy="10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72000" y="1210000"/>
            <a:ext cx="1640000" cy="9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Arial"/>
              </a:rPr>
              <a:t>RESOLVED BUGS</a:t>
            </a:r>
          </a:p>
          <a:p>
            <a:pPr algn="ctr"/>
            <a:r>
              <a:rPr sz="1700" b="1">
                <a:solidFill>
                  <a:srgbClr val="F59E0B"/>
                </a:solidFill>
                <a:latin typeface="Arial"/>
              </a:rPr>
              <a:t>12 Fixes</a:t>
            </a:r>
          </a:p>
          <a:p>
            <a:pPr algn="ctr"/>
            <a:r>
              <a:rPr sz="900">
                <a:solidFill>
                  <a:srgbClr val="243541"/>
                </a:solidFill>
                <a:latin typeface="Arial"/>
              </a:rPr>
              <a:t>Refactored &amp; Verified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0000" y="2350000"/>
            <a:ext cx="5600000" cy="370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27538" y="2576146"/>
            <a:ext cx="5169877" cy="47385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rial"/>
              </a:rPr>
              <a:t>REVIEW 3 COMPLETED MILESTONES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00" y="3130000"/>
            <a:ext cx="5450000" cy="285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 10 Scanner Modules Fully Operational
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URL, Website, Domain, Email, IP, Phone, File/PE, QR, Device, and Universal.</a:t>
            </a:r>
          </a:p>
          <a:p>
            <a:pPr>
              <a:spcBef>
                <a:spcPts val="500"/>
              </a:spcBef>
            </a:pP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VirusTotal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AbuseIPDB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 Google Safe Browsing,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Groq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Veriphone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Numverify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500"/>
              </a:spcBef>
            </a:pP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Abstract,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IPinfo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, IPQS, and </a:t>
            </a:r>
            <a:r>
              <a:rPr sz="1150" dirty="0" err="1">
                <a:latin typeface="Arial" panose="020B0604020202020204" pitchFamily="34" charset="0"/>
                <a:cs typeface="Arial" panose="020B0604020202020204" pitchFamily="34" charset="0"/>
              </a:rPr>
              <a:t>VerificarEmails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Bef>
                <a:spcPts val="500"/>
              </a:spcBef>
            </a:pP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    Random Forest models achieving 96.67% CV accuracy (99.40% ROC-AUC)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>
              <a:spcBef>
                <a:spcPts val="500"/>
              </a:spcBef>
            </a:pP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sz="1150" dirty="0">
                <a:latin typeface="Arial" panose="020B0604020202020204" pitchFamily="34" charset="0"/>
                <a:cs typeface="Arial" panose="020B0604020202020204" pitchFamily="34" charset="0"/>
              </a:rPr>
              <a:t>across 242,341 samples.</a:t>
            </a:r>
          </a:p>
          <a:p>
            <a:pPr>
              <a:spcBef>
                <a:spcPts val="500"/>
              </a:spcBef>
            </a:pPr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 Unified 0–100 Multi-Factor Risk Engine
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Dynamic weighted risk scores with 5 severity tiers and critical override triggers.</a:t>
            </a:r>
          </a:p>
          <a:p>
            <a:pPr>
              <a:spcBef>
                <a:spcPts val="500"/>
              </a:spcBef>
            </a:pPr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 Full Interactive </a:t>
            </a:r>
            <a:r>
              <a:rPr sz="1150" b="1" dirty="0" err="1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Dashboard
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Multi-page navigation, live scan charts, KPI cards, and threat map.</a:t>
            </a:r>
          </a:p>
          <a:p>
            <a:pPr>
              <a:spcBef>
                <a:spcPts val="500"/>
              </a:spcBef>
            </a:pPr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 156 Automated </a:t>
            </a:r>
            <a:r>
              <a:rPr sz="1150" b="1" dirty="0" err="1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Pytest</a:t>
            </a:r>
            <a:r>
              <a:rPr sz="1150" b="1" dirty="0">
                <a:solidFill>
                  <a:srgbClr val="2435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 Cases Passing
</a:t>
            </a:r>
            <a:r>
              <a:rPr sz="115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100% passing test suite covering APIs, ML models, modules, and database.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0000" y="2350000"/>
            <a:ext cx="5600000" cy="370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79930" y="2576146"/>
            <a:ext cx="5184531" cy="473854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ROADMAP FOR REVIEW 4 / FINAL SUBMISSION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000" y="3130000"/>
            <a:ext cx="5300000" cy="2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Arial"/>
              </a:rPr>
              <a:t>• Dynamic Malware Detonation Sandbox
</a:t>
            </a:r>
            <a:r>
              <a:rPr sz="1050">
                <a:solidFill>
                  <a:srgbClr val="0F172A"/>
                </a:solidFill>
                <a:latin typeface="Arial"/>
              </a:rPr>
              <a:t>    Integrate automated safe container detonation for runtime PE behavioral analysis.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980B9"/>
                </a:solidFill>
                <a:latin typeface="Arial"/>
              </a:rPr>
              <a:t>• Enterprise SIEM / SOAR Webhook Connectors
</a:t>
            </a:r>
            <a:r>
              <a:rPr sz="1050">
                <a:solidFill>
                  <a:srgbClr val="0F172A"/>
                </a:solidFill>
                <a:latin typeface="Arial"/>
              </a:rPr>
              <a:t>    Real-time alert streaming to Splunk, Elastic Security, and Microsoft Sentinel.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980B9"/>
                </a:solidFill>
                <a:latin typeface="Arial"/>
              </a:rPr>
              <a:t>• Automated Windows Firewall Active Response
</a:t>
            </a:r>
            <a:r>
              <a:rPr sz="1050">
                <a:solidFill>
                  <a:srgbClr val="0F172A"/>
                </a:solidFill>
                <a:latin typeface="Arial"/>
              </a:rPr>
              <a:t>    Automated script generation for immediate host-based IP and port blocking.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980B9"/>
                </a:solidFill>
                <a:latin typeface="Arial"/>
              </a:rPr>
              <a:t>• Multi-User Role-Based Access Control (RBAC)
</a:t>
            </a:r>
            <a:r>
              <a:rPr sz="1050">
                <a:solidFill>
                  <a:srgbClr val="0F172A"/>
                </a:solidFill>
                <a:latin typeface="Arial"/>
              </a:rPr>
              <a:t>    Analyst vs. Administrator access tiers with audit trails and team reporting.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980B9"/>
                </a:solidFill>
                <a:latin typeface="Arial"/>
              </a:rPr>
              <a:t>• Final Project Dissertation &amp; Deployment
</a:t>
            </a:r>
            <a:r>
              <a:rPr sz="1050">
                <a:solidFill>
                  <a:srgbClr val="0F172A"/>
                </a:solidFill>
                <a:latin typeface="Arial"/>
              </a:rPr>
              <a:t>    Production Docker containerization and comprehensive M.Sc. dissertation report.</a:t>
            </a:r>
          </a:p>
        </p:txBody>
      </p:sp>
    </p:spTree>
    <p:extLst>
      <p:ext uri="{BB962C8B-B14F-4D97-AF65-F5344CB8AC3E}">
        <p14:creationId xmlns:p14="http://schemas.microsoft.com/office/powerpoint/2010/main" val="3450206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06FB18-DBE1-94CB-3EDC-444FA867E82F}"/>
              </a:ext>
            </a:extLst>
          </p:cNvPr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D470F9-984A-9B2E-0D92-14193B0A3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096000" y="0"/>
            <a:ext cx="6096000" cy="68579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DBD2D3-CA12-068E-53BB-D4CF2EE51C65}"/>
              </a:ext>
            </a:extLst>
          </p:cNvPr>
          <p:cNvSpPr txBox="1">
            <a:spLocks/>
          </p:cNvSpPr>
          <p:nvPr/>
        </p:nvSpPr>
        <p:spPr>
          <a:xfrm>
            <a:off x="285238" y="2494274"/>
            <a:ext cx="6748607" cy="25349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dirty="0"/>
              <a:t>Thank You!</a:t>
            </a:r>
          </a:p>
          <a:p>
            <a:r>
              <a:rPr lang="en-US" sz="5400" dirty="0"/>
              <a:t>For Your Attention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28F34D-8AC3-4219-267E-DDEA1DED039C}"/>
              </a:ext>
            </a:extLst>
          </p:cNvPr>
          <p:cNvSpPr txBox="1"/>
          <p:nvPr/>
        </p:nvSpPr>
        <p:spPr>
          <a:xfrm>
            <a:off x="350229" y="4290619"/>
            <a:ext cx="621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</a:rPr>
              <a:t>Stay Secure, Stay Smart, Stay Ahead.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04106C-7EF7-28E8-1CFC-2582FAC7F42E}"/>
              </a:ext>
            </a:extLst>
          </p:cNvPr>
          <p:cNvSpPr txBox="1"/>
          <p:nvPr/>
        </p:nvSpPr>
        <p:spPr>
          <a:xfrm>
            <a:off x="426380" y="201490"/>
            <a:ext cx="1637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effectLst/>
                <a:latin typeface="+mj-lt"/>
              </a:rPr>
              <a:t>CyberMind</a:t>
            </a:r>
            <a:r>
              <a:rPr lang="en-US" b="1" i="0" dirty="0">
                <a:effectLst/>
                <a:latin typeface="+mj-lt"/>
              </a:rPr>
              <a:t>-AI</a:t>
            </a:r>
            <a:endParaRPr lang="en-US" b="1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2033A9-8D36-7EDC-D81B-309EEE99B3C1}"/>
              </a:ext>
            </a:extLst>
          </p:cNvPr>
          <p:cNvSpPr txBox="1"/>
          <p:nvPr/>
        </p:nvSpPr>
        <p:spPr>
          <a:xfrm>
            <a:off x="4285663" y="175819"/>
            <a:ext cx="1947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+mj-lt"/>
              </a:rPr>
              <a:t>SOCCA - MSC DS</a:t>
            </a:r>
            <a:endParaRPr lang="en-US" b="1" dirty="0">
              <a:latin typeface="+mj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519522-FE1A-2235-D45A-47B99A42D854}"/>
              </a:ext>
            </a:extLst>
          </p:cNvPr>
          <p:cNvCxnSpPr/>
          <p:nvPr/>
        </p:nvCxnSpPr>
        <p:spPr>
          <a:xfrm>
            <a:off x="4844562" y="545151"/>
            <a:ext cx="12514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Subtitle 2">
            <a:extLst>
              <a:ext uri="{FF2B5EF4-FFF2-40B4-BE49-F238E27FC236}">
                <a16:creationId xmlns:a16="http://schemas.microsoft.com/office/drawing/2014/main" id="{23E079D2-DD4C-8593-444E-61E60C6C7022}"/>
              </a:ext>
            </a:extLst>
          </p:cNvPr>
          <p:cNvSpPr txBox="1">
            <a:spLocks/>
          </p:cNvSpPr>
          <p:nvPr/>
        </p:nvSpPr>
        <p:spPr>
          <a:xfrm>
            <a:off x="-119758" y="6047651"/>
            <a:ext cx="4829101" cy="81034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Presented by </a:t>
            </a:r>
            <a:r>
              <a:rPr lang="en-US" sz="1800" b="1" dirty="0"/>
              <a:t>Daksh Vasani </a:t>
            </a:r>
          </a:p>
          <a:p>
            <a:r>
              <a:rPr lang="en-US" sz="1800" dirty="0"/>
              <a:t>ER. NO: </a:t>
            </a:r>
            <a:r>
              <a:rPr lang="en-US" sz="1800" b="1" dirty="0"/>
              <a:t>2504070500037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89498E-9702-4AB7-4DB9-F812EBE8E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9" y="175819"/>
            <a:ext cx="425149" cy="42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5096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{BC739600-0E98-45D2-87EC-51CE7D3CCDDC}TF235124e3-e6db-4c6d-93c8-733f2fadbc609fb6f57c_win32-b1e91d96f19e</Template>
  <TotalTime>154</TotalTime>
  <Words>4039</Words>
  <Application>Microsoft Office PowerPoint</Application>
  <PresentationFormat>Widescreen</PresentationFormat>
  <Paragraphs>370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Algerian</vt:lpstr>
      <vt:lpstr>Arial</vt:lpstr>
      <vt:lpstr>Calibri</vt:lpstr>
      <vt:lpstr>Georgia Pro Cond Light</vt:lpstr>
      <vt:lpstr>Speak Pro</vt:lpstr>
      <vt:lpstr>RetrospectVTI</vt:lpstr>
      <vt:lpstr>CyberMind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 vasani</dc:creator>
  <cp:lastModifiedBy>Daksh vasani</cp:lastModifiedBy>
  <cp:revision>10</cp:revision>
  <dcterms:created xsi:type="dcterms:W3CDTF">2026-08-16T10:08:41Z</dcterms:created>
  <dcterms:modified xsi:type="dcterms:W3CDTF">2026-09-25T00:46:26Z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