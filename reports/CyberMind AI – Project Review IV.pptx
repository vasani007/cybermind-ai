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6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9" r:id="rId13"/>
    <p:sldId id="318" r:id="rId14"/>
    <p:sldId id="325" r:id="rId15"/>
    <p:sldId id="320" r:id="rId16"/>
    <p:sldId id="323" r:id="rId17"/>
    <p:sldId id="32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05494-6DC3-4649-B4F3-D5612C8EEBA2}" type="datetimeFigureOut">
              <a:rPr lang="en-US" smtClean="0"/>
              <a:t>26/09/25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CBB23-A62B-4ABA-95AD-9AD18C8D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CBB23-A62B-4ABA-95AD-9AD18C8D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13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1524397"/>
            <a:ext cx="4813072" cy="2609491"/>
          </a:xfrm>
        </p:spPr>
        <p:txBody>
          <a:bodyPr>
            <a:normAutofit/>
          </a:bodyPr>
          <a:lstStyle/>
          <a:p>
            <a:r>
              <a:rPr lang="en-US" dirty="0" err="1"/>
              <a:t>CyberMind</a:t>
            </a:r>
            <a:r>
              <a:rPr lang="en-US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900" y="6047651"/>
            <a:ext cx="4829101" cy="810349"/>
          </a:xfrm>
        </p:spPr>
        <p:txBody>
          <a:bodyPr>
            <a:noAutofit/>
          </a:bodyPr>
          <a:lstStyle/>
          <a:p>
            <a:pPr algn="r"/>
            <a:r>
              <a:rPr sz="1800" dirty="0">
                <a:latin typeface="Arial"/>
              </a:rPr>
              <a:t>Presented by </a:t>
            </a:r>
            <a:r>
              <a:rPr sz="1800" b="1" dirty="0">
                <a:latin typeface="Arial"/>
              </a:rPr>
              <a:t>Daksh Vasani</a:t>
            </a:r>
          </a:p>
          <a:p>
            <a:pPr algn="r"/>
            <a:r>
              <a:rPr sz="1800" dirty="0">
                <a:latin typeface="Arial"/>
              </a:rPr>
              <a:t>ER. NO: </a:t>
            </a:r>
            <a:r>
              <a:rPr sz="1800" b="1" dirty="0">
                <a:latin typeface="Arial"/>
              </a:rPr>
              <a:t>2504070500037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286C42-CCA2-6857-439E-12492A0BE7DF}"/>
              </a:ext>
            </a:extLst>
          </p:cNvPr>
          <p:cNvSpPr txBox="1"/>
          <p:nvPr/>
        </p:nvSpPr>
        <p:spPr>
          <a:xfrm>
            <a:off x="6730000" y="3885214"/>
            <a:ext cx="418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Cyber Intelligence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A203-AE1C-BC4F-066D-C29A6D645577}"/>
              </a:ext>
            </a:extLst>
          </p:cNvPr>
          <p:cNvSpPr txBox="1"/>
          <p:nvPr/>
        </p:nvSpPr>
        <p:spPr>
          <a:xfrm>
            <a:off x="10059105" y="151862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t>PROJECT REVIEW – IV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DD3CF-6A21-A195-9F53-B55608C1E64C}"/>
              </a:ext>
            </a:extLst>
          </p:cNvPr>
          <p:cNvSpPr txBox="1"/>
          <p:nvPr/>
        </p:nvSpPr>
        <p:spPr>
          <a:xfrm>
            <a:off x="6096000" y="108898"/>
            <a:ext cx="2414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SOCCA - MSC DS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38A444DD-3E08-9785-6420-A70CC8F2B02F}"/>
              </a:ext>
            </a:extLst>
          </p:cNvPr>
          <p:cNvSpPr/>
          <p:nvPr/>
        </p:nvSpPr>
        <p:spPr>
          <a:xfrm>
            <a:off x="14468741" y="152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DE5847D7-ED4A-B27F-96D6-597540C05140}"/>
              </a:ext>
            </a:extLst>
          </p:cNvPr>
          <p:cNvSpPr/>
          <p:nvPr/>
        </p:nvSpPr>
        <p:spPr>
          <a:xfrm>
            <a:off x="14621141" y="305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2CD7A28-9600-8D42-7C14-CA7B3ADE1FE7}"/>
              </a:ext>
            </a:extLst>
          </p:cNvPr>
          <p:cNvSpPr/>
          <p:nvPr/>
        </p:nvSpPr>
        <p:spPr>
          <a:xfrm>
            <a:off x="14773541" y="457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A107BAB9-9CC5-CAD7-40FF-890EE2BDB0F3}"/>
              </a:ext>
            </a:extLst>
          </p:cNvPr>
          <p:cNvSpPr/>
          <p:nvPr/>
        </p:nvSpPr>
        <p:spPr>
          <a:xfrm>
            <a:off x="14925941" y="609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21F32CD4-FC95-7E58-445D-EC2945D08091}"/>
              </a:ext>
            </a:extLst>
          </p:cNvPr>
          <p:cNvSpPr/>
          <p:nvPr/>
        </p:nvSpPr>
        <p:spPr>
          <a:xfrm>
            <a:off x="15078341" y="762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312857D0-D2CE-B773-8650-19C979E583E9}"/>
              </a:ext>
            </a:extLst>
          </p:cNvPr>
          <p:cNvSpPr/>
          <p:nvPr/>
        </p:nvSpPr>
        <p:spPr>
          <a:xfrm>
            <a:off x="15230741" y="914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17201EFF-96CF-AB3E-0CB6-FC4E5D69E83D}"/>
              </a:ext>
            </a:extLst>
          </p:cNvPr>
          <p:cNvSpPr/>
          <p:nvPr/>
        </p:nvSpPr>
        <p:spPr>
          <a:xfrm>
            <a:off x="15383141" y="1067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95CC4D16-7014-09F5-1060-5989035FB1CB}"/>
              </a:ext>
            </a:extLst>
          </p:cNvPr>
          <p:cNvSpPr/>
          <p:nvPr/>
        </p:nvSpPr>
        <p:spPr>
          <a:xfrm>
            <a:off x="15535541" y="1219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835F9B7E-D900-8BBB-BB5A-03C3D07C9473}"/>
              </a:ext>
            </a:extLst>
          </p:cNvPr>
          <p:cNvSpPr/>
          <p:nvPr/>
        </p:nvSpPr>
        <p:spPr>
          <a:xfrm>
            <a:off x="15687941" y="1371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2A92DDE9-27EC-B416-8087-D863901CBC9A}"/>
              </a:ext>
            </a:extLst>
          </p:cNvPr>
          <p:cNvSpPr/>
          <p:nvPr/>
        </p:nvSpPr>
        <p:spPr>
          <a:xfrm>
            <a:off x="15840341" y="1524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A071D43D-23B4-C005-4F9E-20185BC59CCE}"/>
              </a:ext>
            </a:extLst>
          </p:cNvPr>
          <p:cNvSpPr/>
          <p:nvPr/>
        </p:nvSpPr>
        <p:spPr>
          <a:xfrm>
            <a:off x="15992741" y="1676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197752-847E-93B3-FEA7-54DA60BB01DF}"/>
              </a:ext>
            </a:extLst>
          </p:cNvPr>
          <p:cNvCxnSpPr/>
          <p:nvPr/>
        </p:nvCxnSpPr>
        <p:spPr>
          <a:xfrm>
            <a:off x="6096000" y="471828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7C2F79D4-3DCE-B2E7-A4AB-0DA8D72B7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178" y="108899"/>
            <a:ext cx="430254" cy="42572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30000" y="4550000"/>
            <a:ext cx="48000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Under the Guidance of:</a:t>
            </a:r>
            <a:br/>
            <a:r>
              <a:t>Ms. Ritika Savaliya</a:t>
            </a:r>
            <a:br/>
            <a:r>
              <a:t>SOCCA – Silver Oak University | M.Sc. Data Science</a:t>
            </a:r>
          </a:p>
          <a:p>
            <a:r>
              <a:rPr sz="1600" b="1" dirty="0">
                <a:solidFill>
                  <a:srgbClr val="0F172A"/>
                </a:solidFill>
                <a:latin typeface="Arial"/>
              </a:rPr>
              <a:t>Ms. Ritika </a:t>
            </a:r>
            <a:r>
              <a:rPr sz="1600" b="1" dirty="0" err="1">
                <a:solidFill>
                  <a:srgbClr val="0F172A"/>
                </a:solidFill>
                <a:latin typeface="Arial"/>
              </a:rPr>
              <a:t>Savaliya</a:t>
            </a:r>
            <a:endParaRPr sz="1600" b="1" dirty="0">
              <a:solidFill>
                <a:srgbClr val="0F172A"/>
              </a:solidFill>
              <a:latin typeface="Arial"/>
            </a:endParaRPr>
          </a:p>
          <a:p>
            <a:r>
              <a:rPr sz="1250" dirty="0">
                <a:solidFill>
                  <a:srgbClr val="243541"/>
                </a:solidFill>
                <a:latin typeface="Arial"/>
              </a:rPr>
              <a:t>SOCCA – Silver Oak University | M.Sc. Data Science</a:t>
            </a:r>
          </a:p>
        </p:txBody>
      </p: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Project Overview &amp; Final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10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1200000"/>
            <a:ext cx="112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0" i="0">
                <a:solidFill>
                  <a:srgbClr val="1E293B"/>
                </a:solidFill>
                <a:latin typeface="Arial"/>
              </a:defRPr>
            </a:pPr>
            <a:r>
              <a:t>CyberMind AI is an enterprise-grade Cyber Threat Intelligence (CTI) and Malware Analysis Platform consolidating multi-vector security telemetry into a unified single pane of glass. It bridges rule-based heuristics, 4 supervised Random Forest classifiers (96.67% accuracy), and Groq Llama-3 70B AI explanations to produce a standardized 0–100 cyber risk score and automated executive mitigation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2300000"/>
            <a:ext cx="2720000" cy="3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000" y="2450000"/>
            <a:ext cx="2480000" cy="60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 | 10 Specialized Scanners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00" y="3150000"/>
            <a:ext cx="2440000" cy="2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MODULAR MULTI-VECTOR ENGINES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Full-spectrum threat surface coverage across Web, Network, Files, and Endpoints.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Dedicated modules for URL, Website, Domain, Email, IP, Phone, File/PE, and QR.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Universal Auto-Scanner with intelligent regex input inference &amp; automated dispatch.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7000" y="2300000"/>
            <a:ext cx="2720000" cy="3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77000" y="2450000"/>
            <a:ext cx="2480000" cy="60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 | 13 External APIs &amp; 30+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7000" y="3150000"/>
            <a:ext cx="2440000" cy="2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AGGREGATED THREAT FEEDS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Real-time enrichment via 13 APIs: VirusTotal, AbuseIPDB, Google Safe Browsing, Groq, Veriphone, Numverify, Abstract, IPinfo, IPQS, VerificarEmails.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Deep IP geolocation, ASN lookup, and commercial proxy / Tor exit node detection.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Strict 5s async timeouts with resilient local deterministic heuristic fallbacks.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000" y="2300000"/>
            <a:ext cx="2720000" cy="3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4000" y="2450000"/>
            <a:ext cx="2480000" cy="60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 | Machine Learning (96.7% Acc)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4000" y="3150000"/>
            <a:ext cx="2440000" cy="2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SUPERVISED THREAT CLASSIFIERS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4 Scikit-Learn Random Forest models trained on 242,341 verified security samples.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50 lexical and structural URL features extracted in real time (&lt;18.5ms latency).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PE header anomaly detection, section entropy, and hex signature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1000" y="2300000"/>
            <a:ext cx="2720000" cy="3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91000" y="2450000"/>
            <a:ext cx="2480000" cy="60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 | Generative AI &amp;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1000" y="3150000"/>
            <a:ext cx="2440000" cy="2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GROQ LLAMA-3 70B SYNTHESIS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Translates complex JSON telemetry into concise 3-sentence executive summaries (&lt;1.2s).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Tailored defensive recommendations for both SOC analysts and executive leaders.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Automated branded PDF &amp; JSON security report generation with MITRE ATT&amp;CK mapping.</a:t>
            </a:r>
          </a:p>
        </p:txBody>
      </p:sp>
    </p:spTree>
    <p:extLst>
      <p:ext uri="{BB962C8B-B14F-4D97-AF65-F5344CB8AC3E}">
        <p14:creationId xmlns:p14="http://schemas.microsoft.com/office/powerpoint/2010/main" val="332792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Final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42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DECOUPLED 3-TIER ENTERPRISE ARCHITECTURE &amp; END-TO-END PROCESSING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650000"/>
            <a:ext cx="178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000" y="1770000"/>
            <a:ext cx="1580000" cy="36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2200000"/>
            <a:ext cx="158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Target Input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Analyst submits URL, Domain, IP, Email, Phone, File, or QR code via Streamlit /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2000" y="1650000"/>
            <a:ext cx="178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62000" y="1770000"/>
            <a:ext cx="1580000" cy="360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000" y="2200000"/>
            <a:ext cx="158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Validation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core/validator.py executes schema sanitization, regex matching, and boundary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000" y="1650000"/>
            <a:ext cx="178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24000" y="1770000"/>
            <a:ext cx="1580000" cy="36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4000" y="2200000"/>
            <a:ext cx="158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Scanner Engine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modules/scanner_engine.py routes target; executes 30+ services across 13 TI APIs concurrently.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6000" y="1650000"/>
            <a:ext cx="178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6000" y="1770000"/>
            <a:ext cx="1580000" cy="36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000" y="2200000"/>
            <a:ext cx="158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ML Inference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4 Random Forest models extract 50 features and calculate class probabilities in &lt;18.5ms.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8000" y="1650000"/>
            <a:ext cx="178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8000" y="1770000"/>
            <a:ext cx="1580000" cy="36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8000" y="2200000"/>
            <a:ext cx="158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Risk Engine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Weighted fusion: Score = 0.45*API + 0.35*ML + 0.20*Heuristics with critical overrides.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10000" y="1650000"/>
            <a:ext cx="178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10000" y="1770000"/>
            <a:ext cx="1580000" cy="360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0000" y="2200000"/>
            <a:ext cx="158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AI &amp; Reports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Groq Llama-3 70B synthesizes executive diagnosis; logged to cybermind.db &amp; exported to PDF.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0000" y="4200000"/>
            <a:ext cx="3690000" cy="1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00" y="4360000"/>
            <a:ext cx="3330000" cy="1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2980B9"/>
                </a:solidFill>
                <a:latin typeface="Arial"/>
              </a:defRPr>
            </a:pPr>
            <a:r>
              <a:t>✔ Decoupled 3-Tier Layering</a:t>
            </a:r>
          </a:p>
          <a:p>
            <a:pPr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Presentation (Streamlit), Application (Services/Modules/ML), and Storage (SQLite) are strictly isolated for zero coupling, modular testability, and enterprise maintainability.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0000" y="4200000"/>
            <a:ext cx="3690000" cy="1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0000" y="4360000"/>
            <a:ext cx="3330000" cy="1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33B67D"/>
                </a:solidFill>
                <a:latin typeface="Arial"/>
              </a:defRPr>
            </a:pPr>
            <a:r>
              <a:t>✔ Provider-Agnostic Services</a:t>
            </a:r>
          </a:p>
          <a:p>
            <a:pPr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All 13 external APIs are accessed via modular service wrappers in services/, ensuring core security algorithms remain completely independent of external vendor changes.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0000" y="4200000"/>
            <a:ext cx="3690000" cy="1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0000" y="4360000"/>
            <a:ext cx="3330000" cy="1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F59E0B"/>
                </a:solidFill>
                <a:latin typeface="Arial"/>
              </a:defRPr>
            </a:pPr>
            <a:r>
              <a:t>✔ Zero-Downtime Offline Fallbacks</a:t>
            </a:r>
          </a:p>
          <a:p>
            <a:pPr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Every external connector implements graceful local heuristic fallbacks with strict 5-second asynchronous timeouts, guaranteeing 100% platform availability offline.</a:t>
            </a:r>
          </a:p>
        </p:txBody>
      </p:sp>
    </p:spTree>
    <p:extLst>
      <p:ext uri="{BB962C8B-B14F-4D97-AF65-F5344CB8AC3E}">
        <p14:creationId xmlns:p14="http://schemas.microsoft.com/office/powerpoint/2010/main" val="406417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Final Module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VERIFIED STATUS OF ALL 10 CYBER THREAT INTELLIGENCE SCANNERS (100% PASS RATE)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0000" y="1550000"/>
          <a:ext cx="1161288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6400800"/>
                <a:gridCol w="1554480"/>
              </a:tblGrid>
              <a:tr h="400000"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Scanner Module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Vector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Capabilities &amp; Core Demonstrable Features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1. URL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URLs &amp; Web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50 lexical features, Shannon entropy, redirect tracing, Google Safe Browsing / VirusTotal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2. Website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Web Applications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SSL/TLS cert chain audit, cipher security, security headers (CSP/HSTS), tech stack fingerprinting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3. Domain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Domains &amp; 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WHOIS registry audit, creation/expiration dates, DNS A/MX/NS resolution, DNSSEC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4. Email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Email Deliverability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MX host resolution, SPF/DKIM/DMARC records audit, disposable burner domain blocklist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5. IP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IP Addresses &amp; ASNs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AbuseIPDB reputation (0-100%), IPinfo geo-coordinates, ASN lookup, Tor exit node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6. Phone Threat Intel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Telephony Vectors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International E.164 parsing, Veriphone carrier identification, line type (VoIP/Mobile/Landline)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7. File/PE Malware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Binaries &amp; Static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MD5/SHA-256 hash lookup, PE section entropy, header anomalies, hex signatures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8. QR Code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QR Payloads / Quishing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Direct image payload decoding, UPI payment URI parameter validation, malicious redirect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9. Device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Host Hardening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Local OS hardening audit, open TCP port scan, Windows Firewall status, Windows Defender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10. Universal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Multi-Vector Auto-Route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Intelligent regex input inference auto-routing to URL, Domain, IP, Email, or File scanner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Verified Pass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4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Actual UI &amp; Dashboard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PRODUCTION STREAMLIT INTERFACE &amp; CYBER THREAT TELEMETRY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60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000" y="1740000"/>
            <a:ext cx="5350000" cy="42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 | Executive Security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00" y="2250000"/>
            <a:ext cx="533000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REAL-TIME TELEMETRY HUD &amp; METRICS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Futuristic top telemetry HUD: Live SQLite DB status, 96.7% accuracy indicator, active clock.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4 Core KPI metric cards: System Accuracy (96.7%), Total Threat Scans (176), Malicious Elements (38), Avg Threat Score (32.1).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Real-time scan stream table with one-click re-audit drawer and floating AI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000" y="160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2000" y="1740000"/>
            <a:ext cx="5350000" cy="42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 | Multi-Vector Scanner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2000" y="2250000"/>
            <a:ext cx="533000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INTERACTIVE SCANNER INTERFACE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Intuitive scanning input with quick 1-click example pill buttons for rapid testing.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Dynamic client-side error validation highlighting malformed targets instantly.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Asynchronous animated scanning spinner providing clear multi-stage telemetry progress.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" y="385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000" y="3990000"/>
            <a:ext cx="5350000" cy="42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 | Analytics &amp; Global Threat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" y="4500000"/>
            <a:ext cx="533000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INTERACTIVE PLOTLY DATA VISUALIZATION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Interactive 7/30/90-day scan volume trends and risk score progression charts.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Donut breakdown chart: Safe (70), Medium (49), High (22), Low (19), Critical (16).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Interactive Plotly Scattergeo threat map plotting geolocation of scanned IPs/domains.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2000" y="385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2000" y="3990000"/>
            <a:ext cx="5350000" cy="4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 | Historical Audit &amp;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2000" y="4500000"/>
            <a:ext cx="533000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COMPLIANCE &amp; FORENSIC EXPORTS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Full paginated search and multi-filter audit table across all 176 SQLite records.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One-click scan re-hydration restoring complete historical analysis in milliseconds.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Automated branded PDF security reports with MITRE ATT&amp;CK matrix and JSON export.</a:t>
            </a:r>
          </a:p>
        </p:txBody>
      </p:sp>
    </p:spTree>
    <p:extLst>
      <p:ext uri="{BB962C8B-B14F-4D97-AF65-F5344CB8AC3E}">
        <p14:creationId xmlns:p14="http://schemas.microsoft.com/office/powerpoint/2010/main" val="301164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Live Scan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STEP-BY-STEP THREAT ANALYSIS LIFECYCLE (VERIFIED LIVE DEMO EXECUTION)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650000"/>
            <a:ext cx="217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000" y="1790000"/>
            <a:ext cx="1970000" cy="42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00" y="2330000"/>
            <a:ext cx="193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 i="0">
                <a:solidFill>
                  <a:srgbClr val="243541"/>
                </a:solidFill>
                <a:latin typeface="Arial"/>
              </a:defRPr>
            </a:pPr>
            <a:r>
              <a:t>Target Input Entry</a:t>
            </a:r>
          </a:p>
          <a:p>
            <a:pPr>
              <a:spcAft>
                <a:spcPts val="8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Analyst enters target (e.g. testsafebrowsing.appspot.com/s/malware.html or 8.8.8.8) via Universal Scan or dedicated scanner pane.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5000" y="1650000"/>
            <a:ext cx="217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55000" y="1790000"/>
            <a:ext cx="1970000" cy="420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5000" y="2330000"/>
            <a:ext cx="193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 i="0">
                <a:solidFill>
                  <a:srgbClr val="243541"/>
                </a:solidFill>
                <a:latin typeface="Arial"/>
              </a:defRPr>
            </a:pPr>
            <a:r>
              <a:t>Sanitization &amp; Validation</a:t>
            </a:r>
          </a:p>
          <a:p>
            <a:pPr>
              <a:spcAft>
                <a:spcPts val="8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core/validator.py sanitizes input, validates regex patterns, strips malicious injection sequences, and extracts host/domain entities.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000" y="1650000"/>
            <a:ext cx="217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0000" y="1790000"/>
            <a:ext cx="1970000" cy="42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0000" y="2330000"/>
            <a:ext cx="193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 i="0">
                <a:solidFill>
                  <a:srgbClr val="243541"/>
                </a:solidFill>
                <a:latin typeface="Arial"/>
              </a:defRPr>
            </a:pPr>
            <a:r>
              <a:t>Parallel TI &amp; ML Inference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Services layer queries VirusTotal (70+ engines), AbuseIPDB, and WHOIS while the Random Forest classifier extracts 50 URL features in &lt;18.5ms.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5000" y="1650000"/>
            <a:ext cx="217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65000" y="1790000"/>
            <a:ext cx="1970000" cy="4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5000" y="2330000"/>
            <a:ext cx="193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 i="0">
                <a:solidFill>
                  <a:srgbClr val="243541"/>
                </a:solidFill>
                <a:latin typeface="Arial"/>
              </a:defRPr>
            </a:pPr>
            <a:r>
              <a:t>Unified Risk Score Synthesis</a:t>
            </a:r>
          </a:p>
          <a:p>
            <a:pPr>
              <a:spcAft>
                <a:spcPts val="8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modules/risk_engine.py applies mathematical weighting (0.45*API + 0.35*ML + 0.20*Heuristics); triggers Critical Override on malware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00" y="1650000"/>
            <a:ext cx="217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20000" y="1790000"/>
            <a:ext cx="1970000" cy="420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0000" y="2330000"/>
            <a:ext cx="193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 i="0">
                <a:solidFill>
                  <a:srgbClr val="243541"/>
                </a:solidFill>
                <a:latin typeface="Arial"/>
              </a:defRPr>
            </a:pPr>
            <a:r>
              <a:t>AI Diagnosis &amp; Report Export</a:t>
            </a:r>
          </a:p>
          <a:p>
            <a:pPr>
              <a:spcAft>
                <a:spcPts val="8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Groq Llama-3 70B produces plain-English executive summary, analyst mitigation directives (iptables/DNS sinkholing), logs to SQLite, and exports PDF.</a:t>
            </a:r>
          </a:p>
        </p:txBody>
      </p:sp>
    </p:spTree>
    <p:extLst>
      <p:ext uri="{BB962C8B-B14F-4D97-AF65-F5344CB8AC3E}">
        <p14:creationId xmlns:p14="http://schemas.microsoft.com/office/powerpoint/2010/main" val="186624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Real Test Cases &amp; Result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EMPIRICAL SYSTEM VALIDATION ACROSS CONTRASTING BENIGN &amp; WEAPONIZED TEST TARGETS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0000" y="1550000"/>
          <a:ext cx="1152144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920240"/>
                <a:gridCol w="2926080"/>
                <a:gridCol w="1005840"/>
                <a:gridCol w="1097280"/>
                <a:gridCol w="1097280"/>
              </a:tblGrid>
              <a:tr h="514285"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Input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Vector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Classification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Actual Live Scan Result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Unified Risk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Severity Band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</a:tr>
              <a:tr h="514285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https://example.com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URL /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Legitimate Web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Clean across 70+ engines, Valid SSL cert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8.0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Safe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85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testsafebrowsing.appspot.com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URL / Phishing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Known Security Phishing 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Flagged by Google Safe Browsing &amp; VirusTotal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Critical 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285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phishing@malicious.com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Email / Deliverability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High Risk / Burner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Disposable burner domain detected, No active MX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80.0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High 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85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8.8.8.8 (Google DNS)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IP Address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Trusted Anycast Public DNS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Verified Clean, 0% AbuseIPDB confidence 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10.0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Safe 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285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185.220.101.1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IP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Tor Exit Node / Anonymizer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Flagged in AbuseIPDB database &amp; Tor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85.0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Critical 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9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sample_document.pdf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File / Static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Benign Clean Document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Normal Shannon entropy (&lt;6.5), Clean headers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Safe 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00000" y="5300000"/>
            <a:ext cx="11592000" cy="7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5380000"/>
            <a:ext cx="11292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Key Empirical Findings: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Zero false positives observed across legitimate baseline domains, ensuring high operational fidelity for SOC analysts.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Critical Override logic reliably escalated weaponized threat feeds to 90–100 risk score, bypassing intermediate benign weights.</a:t>
            </a:r>
          </a:p>
        </p:txBody>
      </p:sp>
    </p:spTree>
    <p:extLst>
      <p:ext uri="{BB962C8B-B14F-4D97-AF65-F5344CB8AC3E}">
        <p14:creationId xmlns:p14="http://schemas.microsoft.com/office/powerpoint/2010/main" val="304511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Machine Learning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EMPIRICAL MODEL BENCHMARKS (cybermind_metrics.json — 242,341 TOTAL SAMPLES)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0000" y="1550000"/>
          <a:ext cx="1133856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645920"/>
                <a:gridCol w="1645920"/>
                <a:gridCol w="1005840"/>
                <a:gridCol w="1005840"/>
                <a:gridCol w="1005840"/>
                <a:gridCol w="1005840"/>
              </a:tblGrid>
              <a:tr h="540000"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Dataset &amp; Samples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 Classification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  <a:tc>
                  <a:txBody>
                    <a:bodyPr lIns="63500" rIns="63500" tIns="50800" bIns="50800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43541"/>
                    </a:solidFill>
                  </a:tcPr>
                </a:tc>
              </a:tr>
              <a:tr h="54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1. PhiUSIIL Phishing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234,987 samples, 50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Binary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100.0% (CV) / 94.5% (Feed)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33B67D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2. File Signatures PE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1,024 samples, 9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Multi-Class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97.56%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97.67%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97.56%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0.9985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3. Online-Valid Target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5,810 samples, 10,080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Multi-Class Brand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lIns="63500" rIns="63500" tIns="38100" bIns="38100"/>
                    <a:lstStyle/>
                    <a:p>
                      <a:pPr>
                        <a:defRPr sz="1000" b="1">
                          <a:solidFill>
                            <a:srgbClr val="243541"/>
                          </a:solidFill>
                          <a:latin typeface="Arial"/>
                        </a:defRPr>
                      </a:pPr>
                      <a:r>
                        <a:t>4. Data Breach Root-Cause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520 samples, 6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5-Class Root-Cause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98.85%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98.85%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98.75%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63500" rIns="63500" tIns="38100" bIns="38100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00000" y="4450000"/>
            <a:ext cx="3690000" cy="15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00" y="4590000"/>
            <a:ext cx="3370000" cy="1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50" b="1" i="0">
                <a:solidFill>
                  <a:srgbClr val="2980B9"/>
                </a:solidFill>
                <a:latin typeface="Arial"/>
              </a:defRPr>
            </a:pPr>
            <a:r>
              <a:t>Overall System Accuracy: 96.67%</a:t>
            </a:r>
          </a:p>
          <a:p>
            <a:pPr>
              <a:spcAft>
                <a:spcPts val="400"/>
              </a:spcAft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5-FOLD STRATIFIED CROSS-VALIDATION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Tested across 242,341 verified security samples combining phishing URLs, static PE binaries, brand targets, and database breach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0000" y="4450000"/>
            <a:ext cx="3690000" cy="15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0000" y="4590000"/>
            <a:ext cx="3370000" cy="1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50" b="1" i="0">
                <a:solidFill>
                  <a:srgbClr val="33B67D"/>
                </a:solidFill>
                <a:latin typeface="Arial"/>
              </a:defRPr>
            </a:pPr>
            <a:r>
              <a:t>Overall ROC-AUC Score: 0.9940</a:t>
            </a:r>
          </a:p>
          <a:p>
            <a:pPr>
              <a:spcAft>
                <a:spcPts val="400"/>
              </a:spcAft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HIGH DISCRIMINATION THRESHOLD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Demonstrates near-perfect true positive vs. false positive separation, ensuring dependable probability calibration in the Unified Risk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0000" y="4450000"/>
            <a:ext cx="3690000" cy="15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0000" y="4590000"/>
            <a:ext cx="3370000" cy="1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50" b="1" i="0">
                <a:solidFill>
                  <a:srgbClr val="8B5CF6"/>
                </a:solidFill>
                <a:latin typeface="Arial"/>
              </a:defRPr>
            </a:pPr>
            <a:r>
              <a:t>Inference Latency: &lt;18.5 ms</a:t>
            </a:r>
          </a:p>
          <a:p>
            <a:pPr>
              <a:spcAft>
                <a:spcPts val="400"/>
              </a:spcAft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SUB-SECOND HIGH THROUGHPUT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Pre-trained models loaded via thread-safe singleton cache in ml/model_loader.py, enabling real-time inline evaluation without UI bottleneck.</a:t>
            </a:r>
          </a:p>
        </p:txBody>
      </p:sp>
    </p:spTree>
    <p:extLst>
      <p:ext uri="{BB962C8B-B14F-4D97-AF65-F5344CB8AC3E}">
        <p14:creationId xmlns:p14="http://schemas.microsoft.com/office/powerpoint/2010/main" val="310190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Final Testing &amp; QA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2720000" cy="48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156 / 156 Passed (100% Pass 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7000" y="1100000"/>
            <a:ext cx="2720000" cy="48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8.42 Seconds (Suite Duration)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000" y="1100000"/>
            <a:ext cx="2720000" cy="4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16 Test Files (tests/ Directory)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1000" y="1100000"/>
            <a:ext cx="2720000" cy="48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10 / 10 Healthy (Manager Diagnostic)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000" y="1750000"/>
            <a:ext cx="565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000" y="1910000"/>
            <a:ext cx="5330000" cy="1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243541"/>
                </a:solidFill>
                <a:latin typeface="Arial"/>
              </a:defRPr>
            </a:pPr>
            <a:r>
              <a:t>1. Scanner &amp; Module Functional Tests</a:t>
            </a:r>
          </a:p>
          <a:p>
            <a:pPr>
              <a:spcAft>
                <a:spcPts val="600"/>
              </a:spcAft>
              <a:defRPr sz="950" b="0" i="1">
                <a:solidFill>
                  <a:srgbClr val="2980B9"/>
                </a:solidFill>
                <a:latin typeface="Arial"/>
              </a:defRPr>
            </a:pPr>
            <a:r>
              <a:t>Target Suites: test_modules.py &amp; test_universal_scan.py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Validates parameter parsing, routing, and return payload structure across all 10 specialized scanners.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Asserts Universal Scanner input classifier auto-detection for emails, IPs, URLs, domains, and hashes.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2000" y="1750000"/>
            <a:ext cx="565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2000" y="1910000"/>
            <a:ext cx="5330000" cy="1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243541"/>
                </a:solidFill>
                <a:latin typeface="Arial"/>
              </a:defRPr>
            </a:pPr>
            <a:r>
              <a:t>2. External API Fallback &amp; Timeout Tests</a:t>
            </a:r>
          </a:p>
          <a:p>
            <a:pPr>
              <a:spcAft>
                <a:spcPts val="600"/>
              </a:spcAft>
              <a:defRPr sz="950" b="0" i="1">
                <a:solidFill>
                  <a:srgbClr val="2980B9"/>
                </a:solidFill>
                <a:latin typeface="Arial"/>
              </a:defRPr>
            </a:pPr>
            <a:r>
              <a:t>Target Suites: test_api.py &amp; test_services.py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Enforces 5-second asynchronous timeouts across all external threat intelligence service connectors.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Validates deterministic local heuristic fallbacks when third-party APIs return 429 rate-limit or 503.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" y="3850000"/>
            <a:ext cx="565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000" y="4010000"/>
            <a:ext cx="5330000" cy="1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243541"/>
                </a:solidFill>
                <a:latin typeface="Arial"/>
              </a:defRPr>
            </a:pPr>
            <a:r>
              <a:t>3. Machine Learning Inference &amp; Array Tests</a:t>
            </a:r>
          </a:p>
          <a:p>
            <a:pPr>
              <a:spcAft>
                <a:spcPts val="600"/>
              </a:spcAft>
              <a:defRPr sz="950" b="0" i="1">
                <a:solidFill>
                  <a:srgbClr val="2980B9"/>
                </a:solidFill>
                <a:latin typeface="Arial"/>
              </a:defRPr>
            </a:pPr>
            <a:r>
              <a:t>Target Suites: test_ml.py &amp; test_new_ml.py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Asserts 50-feature array shapes and normalization bounds generated by feature_engineering.py.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Verifies probability calibration and thread-safe singleton model deserialization in model_loader.py.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2000" y="3850000"/>
            <a:ext cx="565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2000" y="4010000"/>
            <a:ext cx="5330000" cy="1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243541"/>
                </a:solidFill>
                <a:latin typeface="Arial"/>
              </a:defRPr>
            </a:pPr>
            <a:r>
              <a:t>4. Database Integrity &amp; Security Sanitization</a:t>
            </a:r>
          </a:p>
          <a:p>
            <a:pPr>
              <a:spcAft>
                <a:spcPts val="600"/>
              </a:spcAft>
              <a:defRPr sz="950" b="0" i="1">
                <a:solidFill>
                  <a:srgbClr val="2980B9"/>
                </a:solidFill>
                <a:latin typeface="Arial"/>
              </a:defRPr>
            </a:pPr>
            <a:r>
              <a:t>Target Suites: test_database.py, test_schemas.py &amp; test_utils.py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Asserts SQLite schema migrations, foreign key cascading, and multi-thread safe database transactions.</a:t>
            </a:r>
          </a:p>
          <a:p>
            <a:pPr>
              <a:spcAft>
                <a:spcPts val="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•  Rigorous testing against malformed inputs, SQL injection strings, and cross-site scripting (XSS) payloads.</a:t>
            </a:r>
          </a:p>
        </p:txBody>
      </p:sp>
    </p:spTree>
    <p:extLst>
      <p:ext uri="{BB962C8B-B14F-4D97-AF65-F5344CB8AC3E}">
        <p14:creationId xmlns:p14="http://schemas.microsoft.com/office/powerpoint/2010/main" val="177854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3BBC26E-838F-45E0-752F-63FF070F5905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FEBC7135-5883-B5B8-1C74-21427FD15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A295C5E-A717-E940-5F5F-E045A275BA55}"/>
              </a:ext>
            </a:extLst>
          </p:cNvPr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AFA759-D2C3-6DE1-C9BD-3F42043C4D0A}"/>
              </a:ext>
            </a:extLst>
          </p:cNvPr>
          <p:cNvSpPr txBox="1"/>
          <p:nvPr/>
        </p:nvSpPr>
        <p:spPr>
          <a:xfrm>
            <a:off x="11245279" y="6180000"/>
            <a:ext cx="85472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Risk Engine &amp; AI Explainability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MATHEMATICAL RISK FUSION &amp; GENERATIVE NATURAL LANGUAGE MITIGATION SYNTHESIS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000" y="1600000"/>
            <a:ext cx="5650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0000" y="1750000"/>
            <a:ext cx="5350000" cy="42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UNIFIED 0–100 RISK ENGINE (modules/risk_engine.py)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000" y="2280000"/>
            <a:ext cx="5350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Multi-Factor Mathematical Formulation:</a:t>
            </a:r>
          </a:p>
          <a:p>
            <a:pPr>
              <a:spcAft>
                <a:spcPts val="800"/>
              </a:spcAft>
              <a:defRPr sz="1100" b="1" i="0">
                <a:solidFill>
                  <a:srgbClr val="2980B9"/>
                </a:solidFill>
                <a:latin typeface="Arial"/>
              </a:defRPr>
            </a:pPr>
            <a:r>
              <a:t>Risk Score = (0.45 · S_API) + (0.35 · S_ML) + (0.20 · S_Heuristics)</a:t>
            </a:r>
          </a:p>
          <a:p>
            <a:pPr>
              <a:spcAft>
                <a:spcPts val="300"/>
              </a:spcAft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t>Critical Override Logic:</a:t>
            </a:r>
          </a:p>
          <a:p>
            <a:pPr>
              <a:spcAft>
                <a:spcPts val="8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If VirusTotal flags &gt; 5 OR Google Safe Browsing triggers, the score immediately escalates to 90–100 (Critical), overriding benign heuristic weights.</a:t>
            </a:r>
          </a:p>
          <a:p>
            <a:pPr>
              <a:spcAft>
                <a:spcPts val="4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5 Standardized Severity Bands:</a:t>
            </a:r>
          </a:p>
          <a:p>
            <a:pPr>
              <a:spcAft>
                <a:spcPts val="300"/>
              </a:spcAft>
              <a:defRPr sz="1050" b="0" i="0">
                <a:solidFill>
                  <a:srgbClr val="33B67D"/>
                </a:solidFill>
                <a:latin typeface="Arial"/>
              </a:defRPr>
            </a:pPr>
            <a:r>
              <a:t>• 🟢 SAFE (0–20): Clean reputation, valid SSL, 0 vendor blacklist hits.</a:t>
            </a:r>
          </a:p>
          <a:p>
            <a:pPr>
              <a:spcAft>
                <a:spcPts val="300"/>
              </a:spcAft>
              <a:defRPr sz="1050" b="0" i="0">
                <a:solidFill>
                  <a:srgbClr val="2980B9"/>
                </a:solidFill>
                <a:latin typeface="Arial"/>
              </a:defRPr>
            </a:pPr>
            <a:r>
              <a:t>• 🔵 LOW (21–40): Minor issues (missing CSP headers, newly registered domain).</a:t>
            </a:r>
          </a:p>
          <a:p>
            <a:pPr>
              <a:spcAft>
                <a:spcPts val="300"/>
              </a:spcAft>
              <a:defRPr sz="1050" b="0" i="0">
                <a:solidFill>
                  <a:srgbClr val="F59E0B"/>
                </a:solidFill>
                <a:latin typeface="Arial"/>
              </a:defRPr>
            </a:pPr>
            <a:r>
              <a:t>• 🟡 MEDIUM (41–60): Elevated entropy, suspicious redirects, or spam keywords.</a:t>
            </a:r>
          </a:p>
          <a:p>
            <a:pPr>
              <a:spcAft>
                <a:spcPts val="300"/>
              </a:spcAft>
              <a:defRPr sz="1050" b="0" i="0">
                <a:solidFill>
                  <a:srgbClr val="EF4444"/>
                </a:solidFill>
                <a:latin typeface="Arial"/>
              </a:defRPr>
            </a:pPr>
            <a:r>
              <a:t>• 🟠 HIGH (61–80): Multiple threat flags, elevated abuse confidence score.</a:t>
            </a:r>
          </a:p>
          <a:p>
            <a:pPr>
              <a:spcAft>
                <a:spcPts val="300"/>
              </a:spcAft>
              <a:defRPr sz="1050" b="0" i="0">
                <a:solidFill>
                  <a:srgbClr val="EF4444"/>
                </a:solidFill>
                <a:latin typeface="Arial"/>
              </a:defRPr>
            </a:pPr>
            <a:r>
              <a:t>• 🔴 CRITICAL (81–100): Active malware distribution, verified phishing, C2 IP.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2000" y="1600000"/>
            <a:ext cx="5650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92000" y="1750000"/>
            <a:ext cx="5350000" cy="42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GROQ LLAMA-3 70B AI EXPLANATION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2000" y="2280000"/>
            <a:ext cx="5350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✔ Contextual Threat Translation:</a:t>
            </a:r>
          </a:p>
          <a:p>
            <a:pPr>
              <a:spcAft>
                <a:spcPts val="8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Synthesizes multi-page JSON payloads from VirusTotal, AbuseIPDB, and ML models into a clean 3-sentence executive summary in &lt;1.2 seconds.</a:t>
            </a:r>
          </a:p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✔ Actionable Role-Specific Recommendations:</a:t>
            </a:r>
          </a:p>
          <a:p>
            <a:pPr>
              <a:spcAft>
                <a:spcPts val="3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For SOC Analysts: Specific iptables block rules, DNS sinkhole targets, and SHA-256 IOC blacklist values.</a:t>
            </a:r>
          </a:p>
          <a:p>
            <a:pPr>
              <a:spcAft>
                <a:spcPts val="8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For Leadership: Business risk overview, user credential revocation advice, and corporate policy adjustments.</a:t>
            </a:r>
          </a:p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✔ Embedded Deterministic Offline Templates:</a:t>
            </a:r>
          </a:p>
          <a:p>
            <a:pPr>
              <a:spcAft>
                <a:spcPts val="8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Includes a rule-based advisory template engine that provides immediate human-readable remediation even if offline or when GROQ_API_KEY is not set.</a:t>
            </a:r>
          </a:p>
        </p:txBody>
      </p:sp>
    </p:spTree>
    <p:extLst>
      <p:ext uri="{BB962C8B-B14F-4D97-AF65-F5344CB8AC3E}">
        <p14:creationId xmlns:p14="http://schemas.microsoft.com/office/powerpoint/2010/main" val="131057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713AEC-6F9B-8F25-2304-AD05153E0A22}"/>
              </a:ext>
            </a:extLst>
          </p:cNvPr>
          <p:cNvSpPr txBox="1"/>
          <p:nvPr/>
        </p:nvSpPr>
        <p:spPr>
          <a:xfrm>
            <a:off x="11354459" y="620548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506D7-CD24-6A08-E141-EEBCD6A4001F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0EFF46-E534-BE37-38DB-A1A7094AD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7D67A8C-4269-E904-5A93-28ACB8C78AA1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5FF1213F-D792-A7D3-63D3-18A98CED6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634E1B-9857-0E0F-8B3B-84CB359969B4}"/>
              </a:ext>
            </a:extLst>
          </p:cNvPr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CDA8CC-DB45-03CC-C152-3C4244C662F5}"/>
              </a:ext>
            </a:extLst>
          </p:cNvPr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4400" b="1" dirty="0">
                <a:solidFill>
                  <a:srgbClr val="FFFFFF"/>
                </a:solidFill>
                <a:latin typeface="Algerian"/>
              </a:rPr>
              <a:t>11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Database, History &amp; Report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RELATIONAL PERSISTENCE &amp; COMPLIANCE-READY FORENSIC REPORT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0000" y="1600000"/>
            <a:ext cx="3690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000" y="1740000"/>
            <a:ext cx="3450000" cy="42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15 RELATIONAL TABLES (SQLite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" y="2280000"/>
            <a:ext cx="3410000" cy="3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Core Configuration:</a:t>
            </a:r>
          </a:p>
          <a:p>
            <a:pPr>
              <a:spcAft>
                <a:spcPts val="3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SQLite 3 database located at database/cybermind.db.</a:t>
            </a:r>
          </a:p>
          <a:p>
            <a:pPr>
              <a:spcAft>
                <a:spcPts val="3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11 optimized B-Tree indexes on scan_time, risk_level, target for sub-millisecond query execution.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Foreign key cascading (PRAGMA foreign_keys = ON;).</a:t>
            </a:r>
          </a:p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Normalized Table Schema:</a:t>
            </a:r>
          </a:p>
          <a:p>
            <a:pPr>
              <a:defRPr sz="1000" b="1" i="0">
                <a:solidFill>
                  <a:srgbClr val="2980B9"/>
                </a:solidFill>
                <a:latin typeface="Arial"/>
              </a:defRPr>
            </a:pPr>
            <a:r>
              <a:t>• scan_history (Master audit entity)</a:t>
            </a:r>
          </a:p>
          <a:p>
            <a:pPr>
              <a:spcAft>
                <a:spcPts val="300"/>
              </a:spcAft>
              <a:defRPr sz="950" b="0" i="0">
                <a:solidFill>
                  <a:srgbClr val="1E293B"/>
                </a:solidFill>
                <a:latin typeface="Arial"/>
              </a:defRPr>
            </a:pPr>
            <a:r>
              <a:t>• url_scans, website_scans, domain_scans, email_scans, ip_scans, file_scans, qr_scans</a:t>
            </a:r>
          </a:p>
          <a:p>
            <a:pPr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• api_logs, reports, settings, scan_statistics, feedback, support_tickets, 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0000" y="1600000"/>
            <a:ext cx="3690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0000" y="1740000"/>
            <a:ext cx="3450000" cy="42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176 REAL SCANS LOGGED IN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0000" y="2280000"/>
            <a:ext cx="3410000" cy="3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Live Scans by Module Type: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Universal Scan: 77 scans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Device Security Check: 25 scans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Website Scanner: 20 scans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Phone Threat Intel: 17 scans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URL Scanner: 12 scans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File / Malware Scanner: 7 scans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IP &amp; Email Scanners: 12 scans</a:t>
            </a:r>
          </a:p>
          <a:p>
            <a:pPr>
              <a:spcAft>
                <a:spcPts val="600"/>
              </a:spcAft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Domain &amp; QR Scanners: 6 scans</a:t>
            </a:r>
          </a:p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Severity Distribution:</a:t>
            </a:r>
          </a:p>
          <a:p>
            <a:pPr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• Safe: 70 | Medium: 49 | High: 22</a:t>
            </a:r>
          </a:p>
          <a:p>
            <a:pPr>
              <a:defRPr sz="1000" b="0" i="0">
                <a:solidFill>
                  <a:srgbClr val="EF4444"/>
                </a:solidFill>
                <a:latin typeface="Arial"/>
              </a:defRPr>
            </a:pPr>
            <a:r>
              <a:t>• Low: 19 | Critical: 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00000" y="1600000"/>
            <a:ext cx="3690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0000" y="1740000"/>
            <a:ext cx="3450000" cy="42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AUTOMATED FORENSIC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000" y="2280000"/>
            <a:ext cx="3410000" cy="3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Forensic PDF Export:</a:t>
            </a:r>
          </a:p>
          <a:p>
            <a:pPr>
              <a:spcAft>
                <a:spcPts val="3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Generates branded executive PDF security reports in under 1 second.</a:t>
            </a:r>
          </a:p>
          <a:p>
            <a:pPr>
              <a:spcAft>
                <a:spcPts val="3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Includes visual risk score dial, executive summary, and defensive checklist.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MITRE ATT&amp;CK Matrix mapping of identified adversary techniques.</a:t>
            </a:r>
          </a:p>
          <a:p>
            <a:pPr>
              <a:spcAft>
                <a:spcPts val="300"/>
              </a:spcAft>
              <a:defRPr sz="1100" b="1" i="0">
                <a:solidFill>
                  <a:srgbClr val="243541"/>
                </a:solidFill>
                <a:latin typeface="Arial"/>
              </a:defRPr>
            </a:pPr>
            <a:r>
              <a:t>Raw JSON Telemetry Export:</a:t>
            </a:r>
          </a:p>
          <a:p>
            <a:pPr>
              <a:spcAft>
                <a:spcPts val="3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Complete machine-readable JSON payload exports for seamless enterprise SIEM ingestion.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• Cryptographic SHA-256 hash stamp ensuring chain of custody integrity.</a:t>
            </a:r>
          </a:p>
        </p:txBody>
      </p:sp>
    </p:spTree>
    <p:extLst>
      <p:ext uri="{BB962C8B-B14F-4D97-AF65-F5344CB8AC3E}">
        <p14:creationId xmlns:p14="http://schemas.microsoft.com/office/powerpoint/2010/main" val="353550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Innovation &amp; Technical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KEY TECHNICAL ADVANCEMENTS EVALUATED AGAINST REVIEW 4 RUBRIC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60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000" y="1740000"/>
            <a:ext cx="5350000" cy="42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 | Unified Multi-Vector Single Pane of Glass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00" y="2300000"/>
            <a:ext cx="533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Eliminates cybersecurity tool sprawl by consolidating Web, Network, Email, Telephony, Binary, and Endpoint vectors into one dashboard.</a:t>
            </a:r>
          </a:p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Universal Auto-Scanner intelligently parses and auto-dispatches any input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000" y="160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2000" y="1740000"/>
            <a:ext cx="5350000" cy="42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 | Hybrid Threat Intelligence &amp; ML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2000" y="2300000"/>
            <a:ext cx="533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Combines 13 external live threat feeds, rule-based heuristics, 4 supervised Random Forest ML models (96.7% accuracy), and Groq Llama-3 70B AI.</a:t>
            </a:r>
          </a:p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Yields comprehensive contextual threat visibility unmatched by single-vector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" y="385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000" y="3990000"/>
            <a:ext cx="5350000" cy="42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 | Calibrated 0–100 Unified Risk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" y="4550000"/>
            <a:ext cx="533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Solves divergent vendor scoring scales by delivering a normalized mathematical score.</a:t>
            </a:r>
          </a:p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Critical Override logic ensures verified weaponized threats immediately trigger Critical alerts.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2000" y="3850000"/>
            <a:ext cx="56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2000" y="3990000"/>
            <a:ext cx="5350000" cy="4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 | Resilient Offline-First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2000" y="4550000"/>
            <a:ext cx="533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Every external service connector implements local deterministic heuristic algorithms.</a:t>
            </a:r>
          </a:p>
          <a:p>
            <a:pPr>
              <a:spcAft>
                <a:spcPts val="800"/>
              </a:spcAft>
              <a:defRPr sz="1150" b="0" i="0">
                <a:solidFill>
                  <a:srgbClr val="1E293B"/>
                </a:solidFill>
                <a:latin typeface="Arial"/>
              </a:defRPr>
            </a:pPr>
            <a:r>
              <a:t>•  Guarantees 100% operational availability during network outages or API rate-limits.</a:t>
            </a:r>
          </a:p>
        </p:txBody>
      </p:sp>
    </p:spTree>
    <p:extLst>
      <p:ext uri="{BB962C8B-B14F-4D97-AF65-F5344CB8AC3E}">
        <p14:creationId xmlns:p14="http://schemas.microsoft.com/office/powerpoint/2010/main" val="3386449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Limitations, Future Scope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ARCHITECTURAL BOUNDARIES, FUTURE ROADMAP (PLANNED) &amp; FINAL CONCLUSION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600000"/>
            <a:ext cx="5650000" cy="3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000" y="1740000"/>
            <a:ext cx="5350000" cy="420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CURRENT SYSTEM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280000"/>
            <a:ext cx="535000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 i="0">
                <a:solidFill>
                  <a:srgbClr val="243541"/>
                </a:solidFill>
                <a:latin typeface="Arial"/>
              </a:defRPr>
            </a:pPr>
            <a:r>
              <a:t>• External API Rate Limits &amp; Quotas: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Free-tier external threat APIs impose strict per-minute query constraints and variable internet latency.</a:t>
            </a:r>
          </a:p>
          <a:p>
            <a:pPr>
              <a:defRPr sz="1150" b="1" i="0">
                <a:solidFill>
                  <a:srgbClr val="243541"/>
                </a:solidFill>
                <a:latin typeface="Arial"/>
              </a:defRPr>
            </a:pPr>
            <a:r>
              <a:t>• Static Malware Analysis Boundary: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PE and file scanner currently performs static header, hash, and section entropy checks without live kernel runtime detonation.</a:t>
            </a:r>
          </a:p>
          <a:p>
            <a:pPr>
              <a:defRPr sz="1150" b="1" i="0">
                <a:solidFill>
                  <a:srgbClr val="243541"/>
                </a:solidFill>
                <a:latin typeface="Arial"/>
              </a:defRPr>
            </a:pPr>
            <a:r>
              <a:t>• Model Retraining Cycles: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Model weights are static artifacts; continuous retraining currently requires offline dataset curation pipelines.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000" y="1600000"/>
            <a:ext cx="5650000" cy="3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2000" y="1740000"/>
            <a:ext cx="5350000" cy="42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FUTURE SCOPE &amp; ROADMAP (PLANNED)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2000" y="2280000"/>
            <a:ext cx="535000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 i="0">
                <a:solidFill>
                  <a:srgbClr val="243541"/>
                </a:solidFill>
                <a:latin typeface="Arial"/>
              </a:defRPr>
            </a:pPr>
            <a:r>
              <a:t>• Dynamic Malware Detonation Sandbox (Planned):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Containerized microVM sandbox to safely execute suspicious binaries and observe behavioral system calls.</a:t>
            </a:r>
          </a:p>
          <a:p>
            <a:pPr>
              <a:defRPr sz="1150" b="1" i="0">
                <a:solidFill>
                  <a:srgbClr val="243541"/>
                </a:solidFill>
                <a:latin typeface="Arial"/>
              </a:defRPr>
            </a:pPr>
            <a:r>
              <a:t>• Enterprise SIEM / SOAR Webhooks (Planned):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Direct real-time webhook alert streaming to Splunk, Elastic Security, and Microsoft Sentinel.</a:t>
            </a:r>
          </a:p>
          <a:p>
            <a:pPr>
              <a:defRPr sz="1150" b="1" i="0">
                <a:solidFill>
                  <a:srgbClr val="243541"/>
                </a:solidFill>
                <a:latin typeface="Arial"/>
              </a:defRPr>
            </a:pPr>
            <a:r>
              <a:t>• Automated Firewall Active Response (Planned):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Automated generation and host-level deployment of Windows Firewall and Linux iptables blocking scripts.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" y="5050000"/>
            <a:ext cx="11592000" cy="10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" y="5150000"/>
            <a:ext cx="11292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243541"/>
                </a:solidFill>
                <a:latin typeface="Arial"/>
              </a:defRPr>
            </a:pPr>
            <a:r>
              <a:t>PROJECT CONCLUSION:</a:t>
            </a:r>
          </a:p>
          <a:p>
            <a:pPr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CyberMind AI successfully delivers a fully functional, enterprise-grade cyber intelligence platform bridging multi-vector threat signals, supervised machine learning (96.67% accuracy), and explainable generative AI. The platform meets and exceeds all Project Review – IV deliverables with 10 operational modules, 176 live database scans, and 156/156 passing automated test cases.</a:t>
            </a:r>
          </a:p>
        </p:txBody>
      </p:sp>
    </p:spTree>
    <p:extLst>
      <p:ext uri="{BB962C8B-B14F-4D97-AF65-F5344CB8AC3E}">
        <p14:creationId xmlns:p14="http://schemas.microsoft.com/office/powerpoint/2010/main" val="1200920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</a:defRPr>
            </a:pPr>
            <a:r>
              <a:t>References &amp; Acknowledgements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0000" y="1100000"/>
            <a:ext cx="11592000" cy="38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RESEARCH REFERENCES, THREAT INTELLIGENCE STANDARDS &amp; ACKNOWLEDGEMENTS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600000"/>
            <a:ext cx="6800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000" y="1740000"/>
            <a:ext cx="6500000" cy="42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ACADEMIC &amp; INDUSTRY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300000"/>
            <a:ext cx="650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2980B9"/>
                </a:solidFill>
                <a:latin typeface="Arial"/>
              </a:defRPr>
            </a:pPr>
            <a:r>
              <a:t>1. UCI Machine Learning Repository: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   PhiUSIIL Phishing URL Dataset (234,987 verified security samples, 50 features).</a:t>
            </a:r>
          </a:p>
          <a:p>
            <a:pPr>
              <a:defRPr sz="1100" b="1" i="0">
                <a:solidFill>
                  <a:srgbClr val="33B67D"/>
                </a:solidFill>
                <a:latin typeface="Arial"/>
              </a:defRPr>
            </a:pPr>
            <a:r>
              <a:t>2. VirusTotal API v3 &amp; Google Safe Browsing: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   Multi-engine antivirus telemetry, domain reputation standards, and malware blacklist protocols.</a:t>
            </a:r>
          </a:p>
          <a:p>
            <a:pPr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t>3. AbuseIPDB &amp; IPinfo Threat Feeds: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   IP reputation scoring, Autonomous System Number (ASN) verification, and Tor exit node tracking.</a:t>
            </a:r>
          </a:p>
          <a:p>
            <a:pPr>
              <a:defRPr sz="1100" b="1" i="0">
                <a:solidFill>
                  <a:srgbClr val="8B5CF6"/>
                </a:solidFill>
                <a:latin typeface="Arial"/>
              </a:defRPr>
            </a:pPr>
            <a:r>
              <a:t>4. Meta AI &amp; Groq Cloud:</a:t>
            </a:r>
          </a:p>
          <a:p>
            <a:pPr>
              <a:spcAft>
                <a:spcPts val="600"/>
              </a:spcAft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   Llama-3 70B parameter open foundation model for low-latency contextual cyber risk synthesis.</a:t>
            </a:r>
          </a:p>
          <a:p>
            <a:pPr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5. MITRE Corporation:</a:t>
            </a:r>
          </a:p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   MITRE ATT&amp;CK Enterprise Matrix for structured cyber threat mapping and forensic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0000" y="1600000"/>
            <a:ext cx="4592000" cy="4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00000" y="1740000"/>
            <a:ext cx="4192000" cy="42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THANK YOU / QUESTIONS &amp;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0" y="2350000"/>
            <a:ext cx="4192000" cy="3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243541"/>
                </a:solidFill>
                <a:latin typeface="Arial"/>
              </a:defRPr>
            </a:pPr>
            <a:r>
              <a:t>CyberMind AI</a:t>
            </a:r>
          </a:p>
          <a:p>
            <a:pPr algn="ctr">
              <a:spcAft>
                <a:spcPts val="1400"/>
              </a:spcAft>
              <a:defRPr sz="1300" b="1" i="0">
                <a:solidFill>
                  <a:srgbClr val="2980B9"/>
                </a:solidFill>
                <a:latin typeface="Arial"/>
              </a:defRPr>
            </a:pPr>
            <a:r>
              <a:t>AI-Powered Cyber Intelligence Platform</a:t>
            </a:r>
          </a:p>
          <a:p>
            <a:pPr algn="ctr">
              <a:spcAft>
                <a:spcPts val="2000"/>
              </a:spcAft>
              <a:defRPr sz="1200" b="0" i="1">
                <a:solidFill>
                  <a:srgbClr val="64748B"/>
                </a:solidFill>
                <a:latin typeface="Arial"/>
              </a:defRPr>
            </a:pPr>
            <a:r>
              <a:t>Stay Secure, Stay Smart, Stay Ahead.</a:t>
            </a:r>
          </a:p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Presented by:</a:t>
            </a:r>
          </a:p>
          <a:p>
            <a:pPr algn="ctr">
              <a:defRPr sz="1400" b="1" i="0">
                <a:solidFill>
                  <a:srgbClr val="243541"/>
                </a:solidFill>
                <a:latin typeface="Arial"/>
              </a:defRPr>
            </a:pPr>
            <a:r>
              <a:t>Daksh Vasani</a:t>
            </a:r>
          </a:p>
          <a:p>
            <a:pPr algn="ctr">
              <a:spcAft>
                <a:spcPts val="140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Enrollment No.: 2504070500037</a:t>
            </a:r>
          </a:p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Under the Guidance of:</a:t>
            </a:r>
          </a:p>
          <a:p>
            <a:pPr algn="ctr">
              <a:defRPr sz="1300" b="1" i="0">
                <a:solidFill>
                  <a:srgbClr val="243541"/>
                </a:solidFill>
                <a:latin typeface="Arial"/>
              </a:defRPr>
            </a:pPr>
            <a:r>
              <a:t>Ms. Ritika Savaliya</a:t>
            </a:r>
          </a:p>
          <a:p>
            <a:pPr algn="ctr"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SOCCA – Silver Oak University | M.Sc. Data Science</a:t>
            </a:r>
          </a:p>
        </p:txBody>
      </p:sp>
    </p:spTree>
    <p:extLst>
      <p:ext uri="{BB962C8B-B14F-4D97-AF65-F5344CB8AC3E}">
        <p14:creationId xmlns:p14="http://schemas.microsoft.com/office/powerpoint/2010/main" val="77878366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{BC739600-0E98-45D2-87EC-51CE7D3CCDDC}TF235124e3-e6db-4c6d-93c8-733f2fadbc609fb6f57c_win32-b1e91d96f19e</Template>
  <TotalTime>154</TotalTime>
  <Words>4039</Words>
  <Application>Microsoft Office PowerPoint</Application>
  <PresentationFormat>Widescreen</PresentationFormat>
  <Paragraphs>370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Calibri</vt:lpstr>
      <vt:lpstr>Georgia Pro Cond Light</vt:lpstr>
      <vt:lpstr>Speak Pro</vt:lpstr>
      <vt:lpstr>RetrospectVTI</vt:lpstr>
      <vt:lpstr>CyberMind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vasani</dc:creator>
  <cp:lastModifiedBy>Daksh vasani</cp:lastModifiedBy>
  <cp:revision>10</cp:revision>
  <dcterms:created xsi:type="dcterms:W3CDTF">2026-08-16T10:08:41Z</dcterms:created>
  <dcterms:modified xsi:type="dcterms:W3CDTF">2026-09-25T00:46:26Z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