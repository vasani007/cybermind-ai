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266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9" r:id="rId13"/>
    <p:sldId id="318" r:id="rId14"/>
    <p:sldId id="320" r:id="rId15"/>
    <p:sldId id="323" r:id="rId16"/>
    <p:sldId id="321" r:id="rId17"/>
    <p:sldId id="322" r:id="rId18"/>
    <p:sldId id="32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19" autoAdjust="0"/>
  </p:normalViewPr>
  <p:slideViewPr>
    <p:cSldViewPr snapToGrid="0">
      <p:cViewPr varScale="1">
        <p:scale>
          <a:sx n="87" d="100"/>
          <a:sy n="87" d="100"/>
        </p:scale>
        <p:origin x="48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05494-6DC3-4649-B4F3-D5612C8EEBA2}" type="datetimeFigureOut">
              <a:rPr lang="en-US" smtClean="0"/>
              <a:t>26/08/17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CBB23-A62B-4ABA-95AD-9AD18C8D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CBB23-A62B-4ABA-95AD-9AD18C8D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31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1524397"/>
            <a:ext cx="4813072" cy="2609491"/>
          </a:xfrm>
        </p:spPr>
        <p:txBody>
          <a:bodyPr>
            <a:normAutofit/>
          </a:bodyPr>
          <a:lstStyle/>
          <a:p>
            <a:r>
              <a:rPr lang="en-US" dirty="0" err="1"/>
              <a:t>CyberMind</a:t>
            </a:r>
            <a:r>
              <a:rPr lang="en-US" dirty="0"/>
              <a:t>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900" y="6047651"/>
            <a:ext cx="4829101" cy="810349"/>
          </a:xfrm>
        </p:spPr>
        <p:txBody>
          <a:bodyPr>
            <a:noAutofit/>
          </a:bodyPr>
          <a:lstStyle/>
          <a:p>
            <a:pPr algn="r"/>
            <a:r>
              <a:rPr lang="en-US" sz="1800" dirty="0"/>
              <a:t>Presented by </a:t>
            </a:r>
            <a:r>
              <a:rPr lang="en-US" sz="1800" b="1" dirty="0"/>
              <a:t>Daksh Vasani </a:t>
            </a:r>
          </a:p>
          <a:p>
            <a:pPr algn="r"/>
            <a:r>
              <a:rPr lang="en-US" sz="1800" dirty="0"/>
              <a:t>ER. NO: </a:t>
            </a:r>
            <a:r>
              <a:rPr lang="en-US" sz="1800" b="1" dirty="0"/>
              <a:t>2504070500037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F286C42-CCA2-6857-439E-12492A0BE7DF}"/>
              </a:ext>
            </a:extLst>
          </p:cNvPr>
          <p:cNvSpPr txBox="1"/>
          <p:nvPr/>
        </p:nvSpPr>
        <p:spPr>
          <a:xfrm>
            <a:off x="6730000" y="3885214"/>
            <a:ext cx="4187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AI-Powered Cyber Intelligence 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2A203-AE1C-BC4F-066D-C29A6D645577}"/>
              </a:ext>
            </a:extLst>
          </p:cNvPr>
          <p:cNvSpPr txBox="1"/>
          <p:nvPr/>
        </p:nvSpPr>
        <p:spPr>
          <a:xfrm>
            <a:off x="9777450" y="102496"/>
            <a:ext cx="6413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</a:rPr>
              <a:t>Project Review – II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DD3CF-6A21-A195-9F53-B55608C1E64C}"/>
              </a:ext>
            </a:extLst>
          </p:cNvPr>
          <p:cNvSpPr txBox="1"/>
          <p:nvPr/>
        </p:nvSpPr>
        <p:spPr>
          <a:xfrm>
            <a:off x="6096000" y="108898"/>
            <a:ext cx="2414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</a:rPr>
              <a:t>SOCCA - MSC DS</a:t>
            </a:r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38A444DD-3E08-9785-6420-A70CC8F2B02F}"/>
              </a:ext>
            </a:extLst>
          </p:cNvPr>
          <p:cNvSpPr/>
          <p:nvPr/>
        </p:nvSpPr>
        <p:spPr>
          <a:xfrm>
            <a:off x="14468741" y="1527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DE5847D7-ED4A-B27F-96D6-597540C05140}"/>
              </a:ext>
            </a:extLst>
          </p:cNvPr>
          <p:cNvSpPr/>
          <p:nvPr/>
        </p:nvSpPr>
        <p:spPr>
          <a:xfrm>
            <a:off x="14621141" y="3051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2CD7A28-9600-8D42-7C14-CA7B3ADE1FE7}"/>
              </a:ext>
            </a:extLst>
          </p:cNvPr>
          <p:cNvSpPr/>
          <p:nvPr/>
        </p:nvSpPr>
        <p:spPr>
          <a:xfrm>
            <a:off x="14773541" y="4575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A107BAB9-9CC5-CAD7-40FF-890EE2BDB0F3}"/>
              </a:ext>
            </a:extLst>
          </p:cNvPr>
          <p:cNvSpPr/>
          <p:nvPr/>
        </p:nvSpPr>
        <p:spPr>
          <a:xfrm>
            <a:off x="14925941" y="6099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21F32CD4-FC95-7E58-445D-EC2945D08091}"/>
              </a:ext>
            </a:extLst>
          </p:cNvPr>
          <p:cNvSpPr/>
          <p:nvPr/>
        </p:nvSpPr>
        <p:spPr>
          <a:xfrm>
            <a:off x="15078341" y="7623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312857D0-D2CE-B773-8650-19C979E583E9}"/>
              </a:ext>
            </a:extLst>
          </p:cNvPr>
          <p:cNvSpPr/>
          <p:nvPr/>
        </p:nvSpPr>
        <p:spPr>
          <a:xfrm>
            <a:off x="15230741" y="9147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17201EFF-96CF-AB3E-0CB6-FC4E5D69E83D}"/>
              </a:ext>
            </a:extLst>
          </p:cNvPr>
          <p:cNvSpPr/>
          <p:nvPr/>
        </p:nvSpPr>
        <p:spPr>
          <a:xfrm>
            <a:off x="15383141" y="10671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3" name="Freeform 12">
            <a:extLst>
              <a:ext uri="{FF2B5EF4-FFF2-40B4-BE49-F238E27FC236}">
                <a16:creationId xmlns:a16="http://schemas.microsoft.com/office/drawing/2014/main" id="{95CC4D16-7014-09F5-1060-5989035FB1CB}"/>
              </a:ext>
            </a:extLst>
          </p:cNvPr>
          <p:cNvSpPr/>
          <p:nvPr/>
        </p:nvSpPr>
        <p:spPr>
          <a:xfrm>
            <a:off x="15535541" y="12195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835F9B7E-D900-8BBB-BB5A-03C3D07C9473}"/>
              </a:ext>
            </a:extLst>
          </p:cNvPr>
          <p:cNvSpPr/>
          <p:nvPr/>
        </p:nvSpPr>
        <p:spPr>
          <a:xfrm>
            <a:off x="15687941" y="13719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9" name="Freeform 12">
            <a:extLst>
              <a:ext uri="{FF2B5EF4-FFF2-40B4-BE49-F238E27FC236}">
                <a16:creationId xmlns:a16="http://schemas.microsoft.com/office/drawing/2014/main" id="{2A92DDE9-27EC-B416-8087-D863901CBC9A}"/>
              </a:ext>
            </a:extLst>
          </p:cNvPr>
          <p:cNvSpPr/>
          <p:nvPr/>
        </p:nvSpPr>
        <p:spPr>
          <a:xfrm>
            <a:off x="15840341" y="15243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1" name="Freeform 12">
            <a:extLst>
              <a:ext uri="{FF2B5EF4-FFF2-40B4-BE49-F238E27FC236}">
                <a16:creationId xmlns:a16="http://schemas.microsoft.com/office/drawing/2014/main" id="{A071D43D-23B4-C005-4F9E-20185BC59CCE}"/>
              </a:ext>
            </a:extLst>
          </p:cNvPr>
          <p:cNvSpPr/>
          <p:nvPr/>
        </p:nvSpPr>
        <p:spPr>
          <a:xfrm>
            <a:off x="15992741" y="16767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197752-847E-93B3-FEA7-54DA60BB01DF}"/>
              </a:ext>
            </a:extLst>
          </p:cNvPr>
          <p:cNvCxnSpPr/>
          <p:nvPr/>
        </p:nvCxnSpPr>
        <p:spPr>
          <a:xfrm>
            <a:off x="6096000" y="471828"/>
            <a:ext cx="12514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7C2F79D4-3DCE-B2E7-A4AB-0DA8D72B7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1603" y="108898"/>
            <a:ext cx="425149" cy="42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9D4937-DA4E-33A1-6B2F-0E0EB8558C87}"/>
              </a:ext>
            </a:extLst>
          </p:cNvPr>
          <p:cNvSpPr txBox="1"/>
          <p:nvPr/>
        </p:nvSpPr>
        <p:spPr>
          <a:xfrm>
            <a:off x="0" y="0"/>
            <a:ext cx="6097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000" b="1" dirty="0">
                <a:latin typeface="Georgia Pro Cond Light (Headings)"/>
              </a:rPr>
              <a:t>P</a:t>
            </a:r>
            <a:r>
              <a:rPr lang="en-US" sz="4000" b="1" dirty="0">
                <a:latin typeface="Georgia Pro Cond Light (Headings)"/>
              </a:rPr>
              <a:t>roject </a:t>
            </a:r>
            <a:r>
              <a:rPr lang="en-US" sz="6000" b="1" dirty="0">
                <a:latin typeface="Georgia Pro Cond Light (Headings)"/>
              </a:rPr>
              <a:t>O</a:t>
            </a:r>
            <a:r>
              <a:rPr lang="en-US" sz="4000" b="1" dirty="0">
                <a:latin typeface="Georgia Pro Cond Light (Headings)"/>
              </a:rPr>
              <a:t>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DD7EE-B627-A22C-FFCE-3906FCBD417A}"/>
              </a:ext>
            </a:extLst>
          </p:cNvPr>
          <p:cNvSpPr txBox="1"/>
          <p:nvPr/>
        </p:nvSpPr>
        <p:spPr>
          <a:xfrm>
            <a:off x="478814" y="1211010"/>
            <a:ext cx="112343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800" dirty="0" err="1"/>
              <a:t>CyberMind</a:t>
            </a:r>
            <a:r>
              <a:rPr lang="en-US" sz="1800" dirty="0"/>
              <a:t> AI is an AI-powered Cyber Threat Intelligence and Malware Analysis Platform designed to consolidate heterogeneous sources and provide concise, actionable outputs for analysts. The system integrates rule-based scanners, machine learning detectors and generative AI explanations to produce a unified 0–100 cyber risk score and automated reports.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C5587E-A83E-A204-660C-7E8ECD269A95}"/>
              </a:ext>
            </a:extLst>
          </p:cNvPr>
          <p:cNvSpPr/>
          <p:nvPr/>
        </p:nvSpPr>
        <p:spPr>
          <a:xfrm>
            <a:off x="478814" y="2734228"/>
            <a:ext cx="2502878" cy="25937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7C8EED-7A58-F341-301F-22B705A94B85}"/>
              </a:ext>
            </a:extLst>
          </p:cNvPr>
          <p:cNvSpPr/>
          <p:nvPr/>
        </p:nvSpPr>
        <p:spPr>
          <a:xfrm>
            <a:off x="3465268" y="2734228"/>
            <a:ext cx="2502878" cy="25937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2357F3-9CBA-E166-CD07-C04616BE4B4E}"/>
              </a:ext>
            </a:extLst>
          </p:cNvPr>
          <p:cNvSpPr/>
          <p:nvPr/>
        </p:nvSpPr>
        <p:spPr>
          <a:xfrm>
            <a:off x="6451722" y="2734228"/>
            <a:ext cx="2502878" cy="25937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862227-48E6-F6A6-5638-DB31D51F1452}"/>
              </a:ext>
            </a:extLst>
          </p:cNvPr>
          <p:cNvSpPr/>
          <p:nvPr/>
        </p:nvSpPr>
        <p:spPr>
          <a:xfrm>
            <a:off x="9438176" y="2734228"/>
            <a:ext cx="2502878" cy="25937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DDAD3E-8677-FF30-54AD-8188C8FCAF96}"/>
              </a:ext>
            </a:extLst>
          </p:cNvPr>
          <p:cNvSpPr txBox="1"/>
          <p:nvPr/>
        </p:nvSpPr>
        <p:spPr>
          <a:xfrm>
            <a:off x="1290272" y="2991538"/>
            <a:ext cx="17584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 Specialized Scanners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5F21D9-2D26-E1A1-483C-057EE918C001}"/>
              </a:ext>
            </a:extLst>
          </p:cNvPr>
          <p:cNvSpPr txBox="1"/>
          <p:nvPr/>
        </p:nvSpPr>
        <p:spPr>
          <a:xfrm>
            <a:off x="1223232" y="3747575"/>
            <a:ext cx="17584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Modular scanners for multi-vector analysis (URL, file, IP, device, etc.).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78D2A71-582C-4395-FD7B-B171FBB9BFF4}"/>
              </a:ext>
            </a:extLst>
          </p:cNvPr>
          <p:cNvSpPr/>
          <p:nvPr/>
        </p:nvSpPr>
        <p:spPr>
          <a:xfrm>
            <a:off x="3465268" y="2734228"/>
            <a:ext cx="2502878" cy="25937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13DD7C-C961-2347-BD96-0EC01190DBCC}"/>
              </a:ext>
            </a:extLst>
          </p:cNvPr>
          <p:cNvSpPr txBox="1"/>
          <p:nvPr/>
        </p:nvSpPr>
        <p:spPr>
          <a:xfrm>
            <a:off x="4276726" y="2991538"/>
            <a:ext cx="17584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30+ External TI APIs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E89514-2418-9F91-EFAB-4BFAD44A3FC6}"/>
              </a:ext>
            </a:extLst>
          </p:cNvPr>
          <p:cNvSpPr txBox="1"/>
          <p:nvPr/>
        </p:nvSpPr>
        <p:spPr>
          <a:xfrm>
            <a:off x="4209686" y="3747575"/>
            <a:ext cx="17584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Aggregated feeds for enrichment and reputation scoring.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8CE81D3-A4D7-C6DA-EAB5-EC96B84DD92E}"/>
              </a:ext>
            </a:extLst>
          </p:cNvPr>
          <p:cNvSpPr/>
          <p:nvPr/>
        </p:nvSpPr>
        <p:spPr>
          <a:xfrm>
            <a:off x="6451722" y="2734228"/>
            <a:ext cx="2502878" cy="25937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D35F2F-74B6-25A3-5855-B4FBAD13366F}"/>
              </a:ext>
            </a:extLst>
          </p:cNvPr>
          <p:cNvSpPr txBox="1"/>
          <p:nvPr/>
        </p:nvSpPr>
        <p:spPr>
          <a:xfrm>
            <a:off x="7263180" y="2991538"/>
            <a:ext cx="169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C31B92-1FDA-06F0-01A8-A9AF988B1072}"/>
              </a:ext>
            </a:extLst>
          </p:cNvPr>
          <p:cNvSpPr txBox="1"/>
          <p:nvPr/>
        </p:nvSpPr>
        <p:spPr>
          <a:xfrm>
            <a:off x="7196140" y="3642049"/>
            <a:ext cx="17584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Supervised classifiers and feature-based detectors for anomalies and malicious patterns.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EFE8191-9810-8673-1EFB-ADBFA68547D2}"/>
              </a:ext>
            </a:extLst>
          </p:cNvPr>
          <p:cNvSpPr/>
          <p:nvPr/>
        </p:nvSpPr>
        <p:spPr>
          <a:xfrm>
            <a:off x="9438176" y="2734228"/>
            <a:ext cx="2502878" cy="25937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CF4AA8-3AAD-AB66-FA6C-35C5518CED09}"/>
              </a:ext>
            </a:extLst>
          </p:cNvPr>
          <p:cNvSpPr txBox="1"/>
          <p:nvPr/>
        </p:nvSpPr>
        <p:spPr>
          <a:xfrm>
            <a:off x="10182594" y="2980599"/>
            <a:ext cx="17584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Generative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50D084-72FD-C289-C7D0-8A2EB3E0077F}"/>
              </a:ext>
            </a:extLst>
          </p:cNvPr>
          <p:cNvSpPr txBox="1"/>
          <p:nvPr/>
        </p:nvSpPr>
        <p:spPr>
          <a:xfrm>
            <a:off x="10182594" y="3637869"/>
            <a:ext cx="17584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Contextual explanations and remediation guidance using LLM models.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C968875-9624-3898-FE81-5034A8352BCD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Freeform 29">
            <a:extLst>
              <a:ext uri="{FF2B5EF4-FFF2-40B4-BE49-F238E27FC236}">
                <a16:creationId xmlns:a16="http://schemas.microsoft.com/office/drawing/2014/main" id="{95F86595-F00B-672E-B3B5-4429F84D55AD}"/>
              </a:ext>
            </a:extLst>
          </p:cNvPr>
          <p:cNvSpPr/>
          <p:nvPr/>
        </p:nvSpPr>
        <p:spPr>
          <a:xfrm>
            <a:off x="9482136" y="2943216"/>
            <a:ext cx="793534" cy="74297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7" name="Freeform 32">
            <a:extLst>
              <a:ext uri="{FF2B5EF4-FFF2-40B4-BE49-F238E27FC236}">
                <a16:creationId xmlns:a16="http://schemas.microsoft.com/office/drawing/2014/main" id="{C6E44128-C706-504A-B4D5-0895B64EFA35}"/>
              </a:ext>
            </a:extLst>
          </p:cNvPr>
          <p:cNvSpPr/>
          <p:nvPr/>
        </p:nvSpPr>
        <p:spPr>
          <a:xfrm>
            <a:off x="9550665" y="3006014"/>
            <a:ext cx="656476" cy="617371"/>
          </a:xfrm>
          <a:custGeom>
            <a:avLst/>
            <a:gdLst/>
            <a:ahLst/>
            <a:cxnLst/>
            <a:rect l="l" t="t" r="r" b="b"/>
            <a:pathLst>
              <a:path w="901276" h="924386">
                <a:moveTo>
                  <a:pt x="0" y="0"/>
                </a:moveTo>
                <a:lnTo>
                  <a:pt x="901277" y="0"/>
                </a:lnTo>
                <a:lnTo>
                  <a:pt x="901277" y="924386"/>
                </a:lnTo>
                <a:lnTo>
                  <a:pt x="0" y="924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29">
            <a:extLst>
              <a:ext uri="{FF2B5EF4-FFF2-40B4-BE49-F238E27FC236}">
                <a16:creationId xmlns:a16="http://schemas.microsoft.com/office/drawing/2014/main" id="{8860A080-B451-EAE7-B5CB-9BCA6525B9DC}"/>
              </a:ext>
            </a:extLst>
          </p:cNvPr>
          <p:cNvSpPr/>
          <p:nvPr/>
        </p:nvSpPr>
        <p:spPr>
          <a:xfrm>
            <a:off x="6494204" y="2943215"/>
            <a:ext cx="793534" cy="74297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1" name="Freeform 29">
            <a:extLst>
              <a:ext uri="{FF2B5EF4-FFF2-40B4-BE49-F238E27FC236}">
                <a16:creationId xmlns:a16="http://schemas.microsoft.com/office/drawing/2014/main" id="{571EFCEA-4F72-A66C-A670-33AFB21EA8CC}"/>
              </a:ext>
            </a:extLst>
          </p:cNvPr>
          <p:cNvSpPr/>
          <p:nvPr/>
        </p:nvSpPr>
        <p:spPr>
          <a:xfrm>
            <a:off x="3507750" y="2947714"/>
            <a:ext cx="793534" cy="74297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3" name="Freeform 29">
            <a:extLst>
              <a:ext uri="{FF2B5EF4-FFF2-40B4-BE49-F238E27FC236}">
                <a16:creationId xmlns:a16="http://schemas.microsoft.com/office/drawing/2014/main" id="{0CAAC591-23E9-52AC-1995-32153301EFF5}"/>
              </a:ext>
            </a:extLst>
          </p:cNvPr>
          <p:cNvSpPr/>
          <p:nvPr/>
        </p:nvSpPr>
        <p:spPr>
          <a:xfrm>
            <a:off x="496738" y="2916532"/>
            <a:ext cx="793534" cy="74297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7" name="Freeform 33">
            <a:extLst>
              <a:ext uri="{FF2B5EF4-FFF2-40B4-BE49-F238E27FC236}">
                <a16:creationId xmlns:a16="http://schemas.microsoft.com/office/drawing/2014/main" id="{1FC5FCAD-6E2C-403E-696B-3DA43E171928}"/>
              </a:ext>
            </a:extLst>
          </p:cNvPr>
          <p:cNvSpPr/>
          <p:nvPr/>
        </p:nvSpPr>
        <p:spPr>
          <a:xfrm>
            <a:off x="628650" y="2969896"/>
            <a:ext cx="563880" cy="596264"/>
          </a:xfrm>
          <a:custGeom>
            <a:avLst/>
            <a:gdLst/>
            <a:ahLst/>
            <a:cxnLst/>
            <a:rect l="l" t="t" r="r" b="b"/>
            <a:pathLst>
              <a:path w="758467" h="871801">
                <a:moveTo>
                  <a:pt x="0" y="0"/>
                </a:moveTo>
                <a:lnTo>
                  <a:pt x="758467" y="0"/>
                </a:lnTo>
                <a:lnTo>
                  <a:pt x="758467" y="871801"/>
                </a:lnTo>
                <a:lnTo>
                  <a:pt x="0" y="8718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30">
            <a:extLst>
              <a:ext uri="{FF2B5EF4-FFF2-40B4-BE49-F238E27FC236}">
                <a16:creationId xmlns:a16="http://schemas.microsoft.com/office/drawing/2014/main" id="{10ED7DC9-79E9-7AC0-F6BB-4AB5730068CC}"/>
              </a:ext>
            </a:extLst>
          </p:cNvPr>
          <p:cNvSpPr/>
          <p:nvPr/>
        </p:nvSpPr>
        <p:spPr>
          <a:xfrm>
            <a:off x="3553285" y="2969896"/>
            <a:ext cx="702465" cy="689609"/>
          </a:xfrm>
          <a:custGeom>
            <a:avLst/>
            <a:gdLst/>
            <a:ahLst/>
            <a:cxnLst/>
            <a:rect l="l" t="t" r="r" b="b"/>
            <a:pathLst>
              <a:path w="819150" h="819150">
                <a:moveTo>
                  <a:pt x="0" y="0"/>
                </a:moveTo>
                <a:lnTo>
                  <a:pt x="819150" y="0"/>
                </a:lnTo>
                <a:lnTo>
                  <a:pt x="8191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1" name="Freeform 31">
            <a:extLst>
              <a:ext uri="{FF2B5EF4-FFF2-40B4-BE49-F238E27FC236}">
                <a16:creationId xmlns:a16="http://schemas.microsoft.com/office/drawing/2014/main" id="{1E445D61-CF75-5B23-D6AC-2F84849FB41B}"/>
              </a:ext>
            </a:extLst>
          </p:cNvPr>
          <p:cNvSpPr/>
          <p:nvPr/>
        </p:nvSpPr>
        <p:spPr>
          <a:xfrm>
            <a:off x="6517627" y="2980599"/>
            <a:ext cx="713753" cy="631281"/>
          </a:xfrm>
          <a:custGeom>
            <a:avLst/>
            <a:gdLst/>
            <a:ahLst/>
            <a:cxnLst/>
            <a:rect l="l" t="t" r="r" b="b"/>
            <a:pathLst>
              <a:path w="938055" h="905223">
                <a:moveTo>
                  <a:pt x="0" y="0"/>
                </a:moveTo>
                <a:lnTo>
                  <a:pt x="938055" y="0"/>
                </a:lnTo>
                <a:lnTo>
                  <a:pt x="938055" y="905223"/>
                </a:lnTo>
                <a:lnTo>
                  <a:pt x="0" y="905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5CA1F2-D037-C02A-32B2-EFBC2C63EBA8}"/>
              </a:ext>
            </a:extLst>
          </p:cNvPr>
          <p:cNvSpPr txBox="1"/>
          <p:nvPr/>
        </p:nvSpPr>
        <p:spPr>
          <a:xfrm>
            <a:off x="11729232" y="6198577"/>
            <a:ext cx="638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lgerian" panose="04020705040A02060702" pitchFamily="82" charset="0"/>
              </a:rPr>
              <a:t>2</a:t>
            </a:r>
            <a:endParaRPr lang="en-US" sz="40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492A0A-DCBD-0D79-E2B1-6AB48A6BE1CA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65288B67-66BC-A92B-13E9-3507089579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20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332E80-FA81-1B1C-A1E5-47EB959E7801}"/>
              </a:ext>
            </a:extLst>
          </p:cNvPr>
          <p:cNvSpPr txBox="1"/>
          <p:nvPr/>
        </p:nvSpPr>
        <p:spPr>
          <a:xfrm>
            <a:off x="0" y="0"/>
            <a:ext cx="6097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000" b="1" dirty="0">
                <a:latin typeface="+mj-lt"/>
              </a:rPr>
              <a:t>S</a:t>
            </a:r>
            <a:r>
              <a:rPr lang="en-US" sz="4000" b="1" dirty="0">
                <a:latin typeface="+mj-lt"/>
              </a:rPr>
              <a:t>ystem </a:t>
            </a:r>
            <a:r>
              <a:rPr lang="en-US" sz="6000" b="1" dirty="0">
                <a:latin typeface="+mj-lt"/>
              </a:rPr>
              <a:t>A</a:t>
            </a:r>
            <a:r>
              <a:rPr lang="en-US" sz="4000" b="1" dirty="0">
                <a:latin typeface="+mj-lt"/>
              </a:rPr>
              <a:t>rchitecture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FBA60B-7498-2D18-1054-EDAB850E47FF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9563AFB-469C-1D73-0837-71DCE5E44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890" y="104695"/>
            <a:ext cx="5995934" cy="61827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B0E18C-C768-3BD6-D1FF-FE34892B742D}"/>
              </a:ext>
            </a:extLst>
          </p:cNvPr>
          <p:cNvSpPr txBox="1"/>
          <p:nvPr/>
        </p:nvSpPr>
        <p:spPr>
          <a:xfrm>
            <a:off x="134083" y="1217543"/>
            <a:ext cx="3022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Architecture Highlights: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CEE095-7D0E-3B02-85D9-32191CC8233C}"/>
              </a:ext>
            </a:extLst>
          </p:cNvPr>
          <p:cNvSpPr txBox="1"/>
          <p:nvPr/>
        </p:nvSpPr>
        <p:spPr>
          <a:xfrm>
            <a:off x="259793" y="1586875"/>
            <a:ext cx="550796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Decoupled 3-Tier Design: </a:t>
            </a:r>
            <a:r>
              <a:rPr lang="en-US" sz="1800" dirty="0"/>
              <a:t>Presentation, Application, and Data layers are strictly separated for modular maintainability.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Provider-Agnostic Services: </a:t>
            </a:r>
            <a:r>
              <a:rPr lang="en-US" sz="1800" dirty="0"/>
              <a:t>External APIs are queried exclusively from services/, keeping core scanner logic vendor-independent.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Dual ML + LLM Integration: </a:t>
            </a:r>
            <a:r>
              <a:rPr lang="en-US" sz="1800" dirty="0"/>
              <a:t>Combines Scikit-Learn Random Forest classifiers with </a:t>
            </a:r>
            <a:r>
              <a:rPr lang="en-US" sz="1800" dirty="0" err="1"/>
              <a:t>Groq</a:t>
            </a:r>
            <a:r>
              <a:rPr lang="en-US" sz="1800" dirty="0"/>
              <a:t> Llama-3 70B generative AI.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Centralized Telemetry: </a:t>
            </a:r>
            <a:r>
              <a:rPr lang="en-US" sz="1800" dirty="0"/>
              <a:t>All scan logs, API latency records, and PDF report paths are persisted in SQLite database.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17749-18B9-1B87-A0F9-B7BBF629AFBE}"/>
              </a:ext>
            </a:extLst>
          </p:cNvPr>
          <p:cNvSpPr txBox="1"/>
          <p:nvPr/>
        </p:nvSpPr>
        <p:spPr>
          <a:xfrm>
            <a:off x="11733554" y="6209296"/>
            <a:ext cx="1175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lgerian" panose="04020705040A02060702" pitchFamily="82" charset="0"/>
              </a:rPr>
              <a:t>3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687C67-79DE-88E3-796D-BD4B9697F60E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BEB84F-462F-C444-8AED-ECFD51520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75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4B39A8-65FE-CF09-EE2F-A95239100D4C}"/>
              </a:ext>
            </a:extLst>
          </p:cNvPr>
          <p:cNvSpPr txBox="1"/>
          <p:nvPr/>
        </p:nvSpPr>
        <p:spPr>
          <a:xfrm>
            <a:off x="0" y="0"/>
            <a:ext cx="6097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+mj-lt"/>
              </a:rPr>
              <a:t>D</a:t>
            </a:r>
            <a:r>
              <a:rPr lang="en-US" sz="4000" b="1" dirty="0">
                <a:latin typeface="+mj-lt"/>
              </a:rPr>
              <a:t>ata </a:t>
            </a:r>
            <a:r>
              <a:rPr lang="en-US" sz="6000" b="1" dirty="0">
                <a:latin typeface="+mj-lt"/>
              </a:rPr>
              <a:t>F</a:t>
            </a:r>
            <a:r>
              <a:rPr lang="en-US" sz="4000" b="1" dirty="0">
                <a:latin typeface="+mj-lt"/>
              </a:rPr>
              <a:t>low </a:t>
            </a:r>
            <a:r>
              <a:rPr lang="en-US" sz="6000" b="1" dirty="0">
                <a:latin typeface="+mj-lt"/>
              </a:rPr>
              <a:t>D</a:t>
            </a:r>
            <a:r>
              <a:rPr lang="en-US" sz="4000" b="1" dirty="0">
                <a:latin typeface="+mj-lt"/>
              </a:rPr>
              <a:t>iagram</a:t>
            </a:r>
            <a:endParaRPr lang="en-US" sz="11500" b="1" dirty="0">
              <a:effectLst/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51A716-B51C-5691-2CB6-9F71919E1CD8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DAF9459-117C-25AA-541D-FC4752AF6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18" y="1570308"/>
            <a:ext cx="7834896" cy="41710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DA9EB1-E66A-8D0E-6CA5-7DDAA1B178F3}"/>
              </a:ext>
            </a:extLst>
          </p:cNvPr>
          <p:cNvSpPr txBox="1"/>
          <p:nvPr/>
        </p:nvSpPr>
        <p:spPr>
          <a:xfrm>
            <a:off x="8007214" y="1200976"/>
            <a:ext cx="4302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DFD LEVEL 0 — CONTEXT DIAGRAM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C5BE7-A4DD-EF0D-5B53-365059CED7F3}"/>
              </a:ext>
            </a:extLst>
          </p:cNvPr>
          <p:cNvSpPr txBox="1"/>
          <p:nvPr/>
        </p:nvSpPr>
        <p:spPr>
          <a:xfrm>
            <a:off x="8007214" y="1685671"/>
            <a:ext cx="418133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User / Analyst Entity: </a:t>
            </a:r>
            <a:r>
              <a:rPr lang="en-US" sz="1800" dirty="0"/>
              <a:t>Submits raw target input (URL, IP, Phone, File) ➔ Receives threat score, gauge meter, &amp; PDF report.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Process 0.0: </a:t>
            </a:r>
            <a:r>
              <a:rPr lang="en-US" sz="1800" dirty="0" err="1"/>
              <a:t>CyberMind</a:t>
            </a:r>
            <a:r>
              <a:rPr lang="en-US" sz="1800" dirty="0"/>
              <a:t> AI Threat Intelligence Platform (Central Processing Unit).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External Threat APIs Entity: </a:t>
            </a:r>
            <a:r>
              <a:rPr lang="en-US" sz="1800" dirty="0"/>
              <a:t>Receives target queries ➔ Returns live REST JSON threat payloads.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SQLite Data Store: </a:t>
            </a:r>
            <a:r>
              <a:rPr lang="en-US" sz="1800" dirty="0"/>
              <a:t>Persists telemetry in </a:t>
            </a:r>
            <a:r>
              <a:rPr lang="en-US" sz="1800" dirty="0" err="1"/>
              <a:t>scan_history</a:t>
            </a:r>
            <a:r>
              <a:rPr lang="en-US" sz="1800" dirty="0"/>
              <a:t> master database table.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1881B-F54F-5493-23B6-1A08389A4782}"/>
              </a:ext>
            </a:extLst>
          </p:cNvPr>
          <p:cNvSpPr txBox="1"/>
          <p:nvPr/>
        </p:nvSpPr>
        <p:spPr>
          <a:xfrm>
            <a:off x="11733554" y="6209296"/>
            <a:ext cx="1175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lgerian" panose="04020705040A02060702" pitchFamily="82" charset="0"/>
              </a:rPr>
              <a:t>4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A615F8-E496-226D-56E0-92897FA783EE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EDFB19-91DE-9366-FFA2-3A32DBCC8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5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A1E8C6-09FE-2C3B-3F8C-07ABFBDB879F}"/>
              </a:ext>
            </a:extLst>
          </p:cNvPr>
          <p:cNvSpPr txBox="1"/>
          <p:nvPr/>
        </p:nvSpPr>
        <p:spPr>
          <a:xfrm>
            <a:off x="0" y="0"/>
            <a:ext cx="6097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+mj-lt"/>
              </a:rPr>
              <a:t>D</a:t>
            </a:r>
            <a:r>
              <a:rPr lang="en-US" sz="4000" b="1" dirty="0">
                <a:latin typeface="+mj-lt"/>
              </a:rPr>
              <a:t>ata </a:t>
            </a:r>
            <a:r>
              <a:rPr lang="en-US" sz="6000" b="1" dirty="0">
                <a:latin typeface="+mj-lt"/>
              </a:rPr>
              <a:t>F</a:t>
            </a:r>
            <a:r>
              <a:rPr lang="en-US" sz="4000" b="1" dirty="0">
                <a:latin typeface="+mj-lt"/>
              </a:rPr>
              <a:t>low </a:t>
            </a:r>
            <a:r>
              <a:rPr lang="en-US" sz="6000" b="1" dirty="0">
                <a:latin typeface="+mj-lt"/>
              </a:rPr>
              <a:t>D</a:t>
            </a:r>
            <a:r>
              <a:rPr lang="en-US" sz="4000" b="1" dirty="0">
                <a:latin typeface="+mj-lt"/>
              </a:rPr>
              <a:t>iagram</a:t>
            </a:r>
            <a:endParaRPr lang="en-US" sz="11500" b="1" dirty="0">
              <a:effectLst/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BC6520C-6794-1E74-D945-24EBBDA586A8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34ACFB9-0DF0-D40F-BB3E-ACBF46FCE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699" y="237392"/>
            <a:ext cx="6397869" cy="61170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E9695D-14B1-260B-24E2-27FF09AB6CEA}"/>
              </a:ext>
            </a:extLst>
          </p:cNvPr>
          <p:cNvSpPr txBox="1"/>
          <p:nvPr/>
        </p:nvSpPr>
        <p:spPr>
          <a:xfrm>
            <a:off x="305152" y="1194003"/>
            <a:ext cx="5321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DFD LEVEL 1 — 5 SUB-PROCESSES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3C9897-50EC-02E0-023F-6E4BE8C61E08}"/>
              </a:ext>
            </a:extLst>
          </p:cNvPr>
          <p:cNvSpPr txBox="1"/>
          <p:nvPr/>
        </p:nvSpPr>
        <p:spPr>
          <a:xfrm>
            <a:off x="305153" y="1678698"/>
            <a:ext cx="51724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Process 1.0 Input Validation: </a:t>
            </a:r>
            <a:r>
              <a:rPr lang="en-US" sz="1800" dirty="0"/>
              <a:t>Sanitizes &amp; validates target inputs via core/validator.py.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Process 2.0 Scanner Engine: </a:t>
            </a:r>
            <a:r>
              <a:rPr lang="en-US" sz="1800" dirty="0"/>
              <a:t>Dispatches target to specific scanner module in modules/.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Process 3.0 Service / API Execution: </a:t>
            </a:r>
            <a:r>
              <a:rPr lang="en-US" sz="1800" dirty="0"/>
              <a:t>Queries 30+ REST APIs in services/*_service.py.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Process 4.0 ML Risk Assessment: </a:t>
            </a:r>
            <a:r>
              <a:rPr lang="en-US" sz="1800" dirty="0"/>
              <a:t>Evaluates ML .</a:t>
            </a:r>
            <a:r>
              <a:rPr lang="en-US" sz="1800" dirty="0" err="1"/>
              <a:t>pkl</a:t>
            </a:r>
            <a:r>
              <a:rPr lang="en-US" sz="1800" dirty="0"/>
              <a:t> models &amp; computes score in modules/risk_engine.py.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Process 5.0 DB &amp; Security Report: </a:t>
            </a:r>
            <a:r>
              <a:rPr lang="en-US" sz="1800" dirty="0"/>
              <a:t>Stores record in database/</a:t>
            </a:r>
            <a:r>
              <a:rPr lang="en-US" sz="1800" dirty="0" err="1"/>
              <a:t>cybermind.db</a:t>
            </a:r>
            <a:r>
              <a:rPr lang="en-US" sz="1800" dirty="0"/>
              <a:t> &amp; exports PDF report.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26395-C72F-656C-4B70-7B1CA1C8457E}"/>
              </a:ext>
            </a:extLst>
          </p:cNvPr>
          <p:cNvSpPr txBox="1"/>
          <p:nvPr/>
        </p:nvSpPr>
        <p:spPr>
          <a:xfrm>
            <a:off x="11746889" y="6255016"/>
            <a:ext cx="11759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lgerian" panose="04020705040A02060702" pitchFamily="82" charset="0"/>
              </a:rPr>
              <a:t>5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D7AE38-3826-8C0D-1878-7D063F7A452D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D02DED-2CF5-C2B5-2CB8-9B2BF923B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4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E65BBB-8BDD-E2A7-1E98-91A25B8B87B9}"/>
              </a:ext>
            </a:extLst>
          </p:cNvPr>
          <p:cNvSpPr txBox="1"/>
          <p:nvPr/>
        </p:nvSpPr>
        <p:spPr>
          <a:xfrm>
            <a:off x="-1" y="0"/>
            <a:ext cx="76668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+mj-lt"/>
              </a:rPr>
              <a:t>E</a:t>
            </a:r>
            <a:r>
              <a:rPr lang="en-US" sz="4000" b="1" dirty="0">
                <a:latin typeface="+mj-lt"/>
              </a:rPr>
              <a:t>R </a:t>
            </a:r>
            <a:r>
              <a:rPr lang="en-US" sz="6000" b="1" dirty="0">
                <a:latin typeface="+mj-lt"/>
              </a:rPr>
              <a:t>D</a:t>
            </a:r>
            <a:r>
              <a:rPr lang="en-US" sz="4000" b="1" dirty="0">
                <a:latin typeface="+mj-lt"/>
              </a:rPr>
              <a:t>iagram &amp; </a:t>
            </a:r>
            <a:r>
              <a:rPr lang="en-US" sz="6000" b="1" dirty="0">
                <a:latin typeface="+mj-lt"/>
              </a:rPr>
              <a:t>D</a:t>
            </a:r>
            <a:r>
              <a:rPr lang="en-US" sz="4000" b="1" dirty="0">
                <a:latin typeface="+mj-lt"/>
              </a:rPr>
              <a:t>atabase </a:t>
            </a:r>
            <a:r>
              <a:rPr lang="en-US" sz="6000" b="1" dirty="0">
                <a:latin typeface="+mj-lt"/>
              </a:rPr>
              <a:t>D</a:t>
            </a:r>
            <a:r>
              <a:rPr lang="en-US" sz="4000" b="1" dirty="0">
                <a:latin typeface="+mj-lt"/>
              </a:rPr>
              <a:t>esign</a:t>
            </a:r>
            <a:endParaRPr lang="en-US" sz="7200" b="1" dirty="0">
              <a:effectLst/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937A13E-70CF-B5FC-2BF8-C9635304300A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F926250-6683-4CF6-B18F-142C391F7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7" y="1032640"/>
            <a:ext cx="7916851" cy="47790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58144A-5017-CFAB-3B96-7D3D226122E4}"/>
              </a:ext>
            </a:extLst>
          </p:cNvPr>
          <p:cNvSpPr txBox="1"/>
          <p:nvPr/>
        </p:nvSpPr>
        <p:spPr>
          <a:xfrm>
            <a:off x="7970533" y="787326"/>
            <a:ext cx="4417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DATABASE TABLES ORGANIZATION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9415E8-B0A1-316C-BA7A-5C504510D0F5}"/>
              </a:ext>
            </a:extLst>
          </p:cNvPr>
          <p:cNvSpPr txBox="1"/>
          <p:nvPr/>
        </p:nvSpPr>
        <p:spPr>
          <a:xfrm>
            <a:off x="7970532" y="1156658"/>
            <a:ext cx="422146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Master Entity (Rectangle): </a:t>
            </a:r>
            <a:r>
              <a:rPr lang="en-US" dirty="0"/>
              <a:t>SCAN_HISTORY (Central log table with </a:t>
            </a:r>
            <a:r>
              <a:rPr lang="en-US" dirty="0" err="1"/>
              <a:t>scan_id</a:t>
            </a:r>
            <a:r>
              <a:rPr lang="en-US" dirty="0"/>
              <a:t> Primary Key).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10 Scanner Detail Entities: </a:t>
            </a:r>
            <a:r>
              <a:rPr lang="en-US" dirty="0" err="1"/>
              <a:t>phone_scans</a:t>
            </a:r>
            <a:r>
              <a:rPr lang="en-US" dirty="0"/>
              <a:t>, </a:t>
            </a:r>
            <a:r>
              <a:rPr lang="en-US" dirty="0" err="1"/>
              <a:t>url_scans</a:t>
            </a:r>
            <a:r>
              <a:rPr lang="en-US" dirty="0"/>
              <a:t>, </a:t>
            </a:r>
            <a:r>
              <a:rPr lang="en-US" dirty="0" err="1"/>
              <a:t>file_scans</a:t>
            </a:r>
            <a:r>
              <a:rPr lang="en-US" dirty="0"/>
              <a:t>, </a:t>
            </a:r>
            <a:r>
              <a:rPr lang="en-US" dirty="0" err="1"/>
              <a:t>ip_scans</a:t>
            </a:r>
            <a:r>
              <a:rPr lang="en-US" dirty="0"/>
              <a:t>, </a:t>
            </a:r>
            <a:r>
              <a:rPr lang="en-US" dirty="0" err="1"/>
              <a:t>website_scans</a:t>
            </a:r>
            <a:r>
              <a:rPr lang="en-US" dirty="0"/>
              <a:t>, </a:t>
            </a:r>
            <a:r>
              <a:rPr lang="en-US" dirty="0" err="1"/>
              <a:t>domain_scans</a:t>
            </a:r>
            <a:r>
              <a:rPr lang="en-US" dirty="0"/>
              <a:t>, </a:t>
            </a:r>
            <a:r>
              <a:rPr lang="en-US" dirty="0" err="1"/>
              <a:t>email_scans</a:t>
            </a:r>
            <a:r>
              <a:rPr lang="en-US" dirty="0"/>
              <a:t>, </a:t>
            </a:r>
            <a:r>
              <a:rPr lang="en-US" dirty="0" err="1"/>
              <a:t>qr_scans</a:t>
            </a:r>
            <a:r>
              <a:rPr lang="en-US" dirty="0"/>
              <a:t>, </a:t>
            </a:r>
            <a:r>
              <a:rPr lang="en-US" dirty="0" err="1"/>
              <a:t>device_scans</a:t>
            </a:r>
            <a:r>
              <a:rPr lang="en-US" dirty="0"/>
              <a:t>, </a:t>
            </a:r>
            <a:r>
              <a:rPr lang="en-US" dirty="0" err="1"/>
              <a:t>universal_scans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Relationship Diamonds: </a:t>
            </a:r>
            <a:r>
              <a:rPr lang="en-US" dirty="0"/>
              <a:t>&lt;</a:t>
            </a:r>
            <a:r>
              <a:rPr lang="en-US" dirty="0" err="1"/>
              <a:t>Has_Phone_Data</a:t>
            </a:r>
            <a:r>
              <a:rPr lang="en-US" dirty="0"/>
              <a:t>&gt;, &lt;</a:t>
            </a:r>
            <a:r>
              <a:rPr lang="en-US" dirty="0" err="1"/>
              <a:t>Has_URL_Data</a:t>
            </a:r>
            <a:r>
              <a:rPr lang="en-US" dirty="0"/>
              <a:t>&gt;, etc., linking SCAN_HISTORY to each detail table in a 1-to-N (1:N) cardinality via </a:t>
            </a:r>
            <a:r>
              <a:rPr lang="en-US" dirty="0" err="1"/>
              <a:t>scan_id</a:t>
            </a:r>
            <a:r>
              <a:rPr lang="en-US" dirty="0"/>
              <a:t> Foreign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Attribute Ovals: </a:t>
            </a:r>
            <a:r>
              <a:rPr lang="en-US" dirty="0"/>
              <a:t>Key fields including target, </a:t>
            </a:r>
            <a:r>
              <a:rPr lang="en-US" dirty="0" err="1"/>
              <a:t>risk_score</a:t>
            </a:r>
            <a:r>
              <a:rPr lang="en-US" dirty="0"/>
              <a:t>, </a:t>
            </a:r>
            <a:r>
              <a:rPr lang="en-US" dirty="0" err="1"/>
              <a:t>risk_level</a:t>
            </a:r>
            <a:r>
              <a:rPr lang="en-US" dirty="0"/>
              <a:t>, carrier, </a:t>
            </a:r>
            <a:r>
              <a:rPr lang="en-US" dirty="0" err="1"/>
              <a:t>line_type</a:t>
            </a:r>
            <a:r>
              <a:rPr lang="en-US" dirty="0"/>
              <a:t>, sha256, </a:t>
            </a:r>
            <a:r>
              <a:rPr lang="en-US" dirty="0" err="1"/>
              <a:t>abuse_score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0DFC1-DD4C-DD74-8EF0-ADB3827FA5D3}"/>
              </a:ext>
            </a:extLst>
          </p:cNvPr>
          <p:cNvSpPr txBox="1"/>
          <p:nvPr/>
        </p:nvSpPr>
        <p:spPr>
          <a:xfrm>
            <a:off x="11733554" y="6209296"/>
            <a:ext cx="1175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lgerian" panose="04020705040A02060702" pitchFamily="82" charset="0"/>
              </a:rPr>
              <a:t>6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BFA39-2D04-400C-5460-F3E45C3E53BC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9B4A76-895C-2A20-3BFD-F91C96049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43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44D631-0387-09B2-0987-565F2786433C}"/>
              </a:ext>
            </a:extLst>
          </p:cNvPr>
          <p:cNvSpPr txBox="1"/>
          <p:nvPr/>
        </p:nvSpPr>
        <p:spPr>
          <a:xfrm>
            <a:off x="0" y="0"/>
            <a:ext cx="6097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+mj-lt"/>
              </a:rPr>
              <a:t>U</a:t>
            </a:r>
            <a:r>
              <a:rPr lang="en-US" sz="4000" b="1" dirty="0">
                <a:latin typeface="+mj-lt"/>
              </a:rPr>
              <a:t>ML</a:t>
            </a:r>
            <a:r>
              <a:rPr lang="en-US" sz="6000" b="1" dirty="0">
                <a:latin typeface="+mj-lt"/>
              </a:rPr>
              <a:t> D</a:t>
            </a:r>
            <a:r>
              <a:rPr lang="en-US" sz="4000" b="1" dirty="0">
                <a:latin typeface="+mj-lt"/>
              </a:rPr>
              <a:t>esign</a:t>
            </a:r>
            <a:endParaRPr lang="en-US" sz="11500" b="1" dirty="0">
              <a:effectLst/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AAC2556-9DB8-46F3-9ACE-9243BB5EFB0E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3E30D3D-0A2E-6D11-2570-18FBD1683E22}"/>
              </a:ext>
            </a:extLst>
          </p:cNvPr>
          <p:cNvSpPr txBox="1"/>
          <p:nvPr/>
        </p:nvSpPr>
        <p:spPr>
          <a:xfrm>
            <a:off x="305152" y="1194003"/>
            <a:ext cx="3431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Use Case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07970-EDED-0164-7434-F3E802AD5A77}"/>
              </a:ext>
            </a:extLst>
          </p:cNvPr>
          <p:cNvSpPr txBox="1"/>
          <p:nvPr/>
        </p:nvSpPr>
        <p:spPr>
          <a:xfrm>
            <a:off x="305154" y="1678698"/>
            <a:ext cx="32733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Models system functionalities &amp; </a:t>
            </a:r>
            <a:r>
              <a:rPr lang="en-US" sz="1800" b="1" dirty="0" err="1"/>
              <a:t>actors:User</a:t>
            </a:r>
            <a:r>
              <a:rPr lang="en-US" sz="1800" b="1" dirty="0"/>
              <a:t> Actor: </a:t>
            </a:r>
            <a:r>
              <a:rPr lang="en-US" sz="1800" dirty="0"/>
              <a:t>Triggers 10 module scans, views history, downloads PDF.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Threat API Actor: </a:t>
            </a:r>
            <a:r>
              <a:rPr lang="en-US" sz="1800" dirty="0"/>
              <a:t>Connects to 8 API-driven modules.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AI/ML Actor: </a:t>
            </a:r>
            <a:r>
              <a:rPr lang="en-US" sz="1800" dirty="0"/>
              <a:t>Connects to ML models &amp; </a:t>
            </a:r>
            <a:r>
              <a:rPr lang="en-US" sz="1800" dirty="0" err="1"/>
              <a:t>Groq</a:t>
            </a:r>
            <a:r>
              <a:rPr lang="en-US" sz="1800" dirty="0"/>
              <a:t> LLM.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IEEE Standard: </a:t>
            </a:r>
            <a:r>
              <a:rPr lang="en-US" sz="1800" dirty="0"/>
              <a:t>0 line crossings.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F0571E-E17E-2B01-8770-FE919DFB8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862" y="416414"/>
            <a:ext cx="8070985" cy="5685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CE84F6-D740-92CD-83C0-07716F1A645C}"/>
              </a:ext>
            </a:extLst>
          </p:cNvPr>
          <p:cNvSpPr txBox="1"/>
          <p:nvPr/>
        </p:nvSpPr>
        <p:spPr>
          <a:xfrm>
            <a:off x="11733554" y="6209296"/>
            <a:ext cx="1175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lgerian" panose="04020705040A02060702" pitchFamily="82" charset="0"/>
              </a:rPr>
              <a:t>7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F28D03-00F8-E2C9-44F5-89347F654F55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AFEC5E-12CC-C53C-B576-26A12C1FF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15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9F4163-A6A8-66EF-3976-893151085837}"/>
              </a:ext>
            </a:extLst>
          </p:cNvPr>
          <p:cNvSpPr txBox="1"/>
          <p:nvPr/>
        </p:nvSpPr>
        <p:spPr>
          <a:xfrm>
            <a:off x="0" y="0"/>
            <a:ext cx="6097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+mj-lt"/>
              </a:rPr>
              <a:t>U</a:t>
            </a:r>
            <a:r>
              <a:rPr lang="en-US" sz="4000" b="1" dirty="0">
                <a:latin typeface="+mj-lt"/>
              </a:rPr>
              <a:t>ML</a:t>
            </a:r>
            <a:r>
              <a:rPr lang="en-US" sz="6000" b="1" dirty="0">
                <a:latin typeface="+mj-lt"/>
              </a:rPr>
              <a:t> D</a:t>
            </a:r>
            <a:r>
              <a:rPr lang="en-US" sz="4000" b="1" dirty="0">
                <a:latin typeface="+mj-lt"/>
              </a:rPr>
              <a:t>esign</a:t>
            </a:r>
            <a:endParaRPr lang="en-US" sz="11500" b="1" dirty="0">
              <a:effectLst/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4D1A096-FC8B-D70C-E8F2-0CF461F2601B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3F5C90-E341-696F-91F0-98AB59BD1876}"/>
              </a:ext>
            </a:extLst>
          </p:cNvPr>
          <p:cNvSpPr txBox="1"/>
          <p:nvPr/>
        </p:nvSpPr>
        <p:spPr>
          <a:xfrm>
            <a:off x="8760421" y="1317095"/>
            <a:ext cx="3431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Class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7D83C-E363-F67D-1326-E665E438DC57}"/>
              </a:ext>
            </a:extLst>
          </p:cNvPr>
          <p:cNvSpPr txBox="1"/>
          <p:nvPr/>
        </p:nvSpPr>
        <p:spPr>
          <a:xfrm>
            <a:off x="8760423" y="1801790"/>
            <a:ext cx="32733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Models 4-tier static structure:</a:t>
            </a:r>
          </a:p>
          <a:p>
            <a:endParaRPr lang="en-US" sz="10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1" dirty="0"/>
              <a:t>Tier 1: </a:t>
            </a:r>
            <a:r>
              <a:rPr lang="en-US" sz="1800" dirty="0" err="1"/>
              <a:t>ScannerEngine</a:t>
            </a:r>
            <a:r>
              <a:rPr lang="en-US" sz="1800" dirty="0"/>
              <a:t>, </a:t>
            </a:r>
            <a:r>
              <a:rPr lang="en-US" sz="1800" dirty="0" err="1"/>
              <a:t>RiskEngine</a:t>
            </a:r>
            <a:r>
              <a:rPr lang="en-US" sz="1800" dirty="0"/>
              <a:t>, </a:t>
            </a:r>
            <a:r>
              <a:rPr lang="en-US" sz="1800" dirty="0" err="1"/>
              <a:t>DatabaseManager</a:t>
            </a:r>
            <a:r>
              <a:rPr lang="en-US" sz="1800" dirty="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1" dirty="0"/>
              <a:t>Tier 2 &amp; 3: </a:t>
            </a:r>
            <a:r>
              <a:rPr lang="en-US" sz="1800" dirty="0"/>
              <a:t>10 Scanner Classes (URL, Phone, File...).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1" dirty="0"/>
              <a:t>Tier 4: </a:t>
            </a:r>
            <a:r>
              <a:rPr lang="en-US" sz="1800" dirty="0" err="1"/>
              <a:t>ExplainAI</a:t>
            </a:r>
            <a:r>
              <a:rPr lang="en-US" sz="1800" dirty="0"/>
              <a:t>, </a:t>
            </a:r>
            <a:r>
              <a:rPr lang="en-US" sz="1800" dirty="0" err="1"/>
              <a:t>AIAssistant</a:t>
            </a:r>
            <a:r>
              <a:rPr lang="en-US" sz="1800" dirty="0"/>
              <a:t>, </a:t>
            </a:r>
            <a:r>
              <a:rPr lang="en-US" sz="1800" dirty="0" err="1"/>
              <a:t>ReportService</a:t>
            </a:r>
            <a:r>
              <a:rPr lang="en-US" sz="1800" dirty="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1" dirty="0"/>
              <a:t>Aggregation: </a:t>
            </a:r>
            <a:r>
              <a:rPr lang="en-US" sz="1800" dirty="0" err="1"/>
              <a:t>ScannerEngine</a:t>
            </a:r>
            <a:r>
              <a:rPr lang="en-US" sz="1800" dirty="0"/>
              <a:t> holds 1:N scanners.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3AAFF1-4235-C71E-6883-8CB260D6FBCF}"/>
              </a:ext>
            </a:extLst>
          </p:cNvPr>
          <p:cNvSpPr txBox="1"/>
          <p:nvPr/>
        </p:nvSpPr>
        <p:spPr>
          <a:xfrm>
            <a:off x="11741174" y="6270256"/>
            <a:ext cx="11759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lgerian" panose="04020705040A02060702" pitchFamily="82" charset="0"/>
              </a:rPr>
              <a:t>8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A7C533-2565-0B2B-25E5-D437C524EB9C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068B2C-815B-7556-096E-AE45BA97A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DB9774-BA84-196F-A756-8D2C1CC35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0842"/>
            <a:ext cx="8701483" cy="42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0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AED1FB-6526-155E-E411-98E3B7075CCA}"/>
              </a:ext>
            </a:extLst>
          </p:cNvPr>
          <p:cNvSpPr txBox="1"/>
          <p:nvPr/>
        </p:nvSpPr>
        <p:spPr>
          <a:xfrm>
            <a:off x="0" y="0"/>
            <a:ext cx="6097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+mj-lt"/>
              </a:rPr>
              <a:t>U</a:t>
            </a:r>
            <a:r>
              <a:rPr lang="en-US" sz="4000" b="1" dirty="0">
                <a:latin typeface="+mj-lt"/>
              </a:rPr>
              <a:t>ML</a:t>
            </a:r>
            <a:r>
              <a:rPr lang="en-US" sz="6000" b="1" dirty="0">
                <a:latin typeface="+mj-lt"/>
              </a:rPr>
              <a:t> D</a:t>
            </a:r>
            <a:r>
              <a:rPr lang="en-US" sz="4000" b="1" dirty="0">
                <a:latin typeface="+mj-lt"/>
              </a:rPr>
              <a:t>esign</a:t>
            </a:r>
            <a:endParaRPr lang="en-US" sz="11500" b="1" dirty="0">
              <a:effectLst/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74A098-13C6-DB46-9922-F10DC79C72AE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E6A6484-6970-D5A1-4B35-0D89A49F99C3}"/>
              </a:ext>
            </a:extLst>
          </p:cNvPr>
          <p:cNvSpPr txBox="1"/>
          <p:nvPr/>
        </p:nvSpPr>
        <p:spPr>
          <a:xfrm>
            <a:off x="601159" y="1255549"/>
            <a:ext cx="3431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Activity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30D27-66A3-4A4C-27AE-07EFFC1F9F66}"/>
              </a:ext>
            </a:extLst>
          </p:cNvPr>
          <p:cNvSpPr txBox="1"/>
          <p:nvPr/>
        </p:nvSpPr>
        <p:spPr>
          <a:xfrm>
            <a:off x="601159" y="1678698"/>
            <a:ext cx="57820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Input Validation: </a:t>
            </a:r>
            <a:r>
              <a:rPr lang="en-US" sz="1800" dirty="0"/>
              <a:t>User submits a target → system sanitizes and validates the input → invalid inputs trigger an alert; valid inputs go to the Module Router</a:t>
            </a:r>
            <a:r>
              <a:rPr lang="en-US" sz="1800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Parallel Processing: </a:t>
            </a:r>
            <a:r>
              <a:rPr lang="en-US" sz="1800" dirty="0"/>
              <a:t>The system simultaneously performs API threat analysis, ML analysis, and local intelligence checks.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Threat Aggregation: </a:t>
            </a:r>
            <a:r>
              <a:rPr lang="en-US" sz="1800" dirty="0"/>
              <a:t>Results are combined → Unified Risk Engine calculates a 0–100 risk score and severity → </a:t>
            </a:r>
            <a:r>
              <a:rPr lang="en-US" sz="1800" dirty="0" err="1"/>
              <a:t>Groq</a:t>
            </a:r>
            <a:r>
              <a:rPr lang="en-US" sz="1800" dirty="0"/>
              <a:t> Llama-3 generates the threat explanation</a:t>
            </a:r>
            <a:r>
              <a:rPr lang="en-US" sz="1800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Persistence &amp; Output: </a:t>
            </a:r>
            <a:r>
              <a:rPr lang="en-US" sz="1800" dirty="0"/>
              <a:t>Results are stored in SQLite → analytics are displayed on the </a:t>
            </a:r>
            <a:r>
              <a:rPr lang="en-US" sz="1800" dirty="0" err="1"/>
              <a:t>Streamlit</a:t>
            </a:r>
            <a:r>
              <a:rPr lang="en-US" sz="1800" dirty="0"/>
              <a:t> dashboard → optional PDF/JSON report is generated.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AF3F82-7C5C-33A4-E5CB-06A5BC0C4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661" y="68586"/>
            <a:ext cx="4242347" cy="62970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0A6665-51F1-EA43-7577-142E9235C536}"/>
              </a:ext>
            </a:extLst>
          </p:cNvPr>
          <p:cNvSpPr txBox="1"/>
          <p:nvPr/>
        </p:nvSpPr>
        <p:spPr>
          <a:xfrm>
            <a:off x="11733554" y="6209296"/>
            <a:ext cx="11759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lgerian" panose="04020705040A02060702" pitchFamily="82" charset="0"/>
              </a:rPr>
              <a:t>9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4B7964-B4AB-9607-7664-B00501929EA3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37E853-542E-9CB8-E88F-6185F66B9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41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5CA90-DD59-B497-CAA5-B7481B3A4B5B}"/>
              </a:ext>
            </a:extLst>
          </p:cNvPr>
          <p:cNvSpPr txBox="1"/>
          <p:nvPr/>
        </p:nvSpPr>
        <p:spPr>
          <a:xfrm>
            <a:off x="0" y="0"/>
            <a:ext cx="6097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+mj-lt"/>
              </a:rPr>
              <a:t>U</a:t>
            </a:r>
            <a:r>
              <a:rPr lang="en-US" sz="4000" b="1" dirty="0">
                <a:latin typeface="+mj-lt"/>
              </a:rPr>
              <a:t>ML</a:t>
            </a:r>
            <a:r>
              <a:rPr lang="en-US" sz="6000" b="1" dirty="0">
                <a:latin typeface="+mj-lt"/>
              </a:rPr>
              <a:t> D</a:t>
            </a:r>
            <a:r>
              <a:rPr lang="en-US" sz="4000" b="1" dirty="0">
                <a:latin typeface="+mj-lt"/>
              </a:rPr>
              <a:t>esign</a:t>
            </a:r>
            <a:endParaRPr lang="en-US" sz="11500" b="1" dirty="0">
              <a:effectLst/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0ADB33-6713-EFF6-44E0-D3E3ACD25B35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E3D796A-A176-34D5-5C9B-C1D17B1ECA58}"/>
              </a:ext>
            </a:extLst>
          </p:cNvPr>
          <p:cNvSpPr txBox="1"/>
          <p:nvPr/>
        </p:nvSpPr>
        <p:spPr>
          <a:xfrm>
            <a:off x="8918682" y="1422604"/>
            <a:ext cx="3431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Sequence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8F535-F676-7917-2530-F47A6E2E0F72}"/>
              </a:ext>
            </a:extLst>
          </p:cNvPr>
          <p:cNvSpPr txBox="1"/>
          <p:nvPr/>
        </p:nvSpPr>
        <p:spPr>
          <a:xfrm>
            <a:off x="8918684" y="1907299"/>
            <a:ext cx="32733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Models threat scan lifecycle (10 steps): </a:t>
            </a:r>
          </a:p>
          <a:p>
            <a:endParaRPr lang="en-US" sz="10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User ➔ UI ➔ Validator ➔ Scanner Engine ➔ External Threat API / ML Model ➔ </a:t>
            </a:r>
            <a:r>
              <a:rPr lang="en-US" sz="1800" dirty="0" err="1"/>
              <a:t>RiskEngine</a:t>
            </a:r>
            <a:r>
              <a:rPr lang="en-US" sz="1800" dirty="0"/>
              <a:t> ➔ SQLite DB ➔ </a:t>
            </a:r>
            <a:r>
              <a:rPr lang="en-US" sz="1800" dirty="0" err="1"/>
              <a:t>Streamlit</a:t>
            </a:r>
            <a:r>
              <a:rPr lang="en-US" sz="1800" dirty="0"/>
              <a:t> Dashboard.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8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1" dirty="0"/>
              <a:t>Fault Tolerance: </a:t>
            </a:r>
            <a:r>
              <a:rPr lang="en-US" sz="1800" dirty="0"/>
              <a:t>Fallback if API times out.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8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Sub-3 Second Execution.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EB2F75-0D4D-B638-761B-F5E922537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99" y="1367245"/>
            <a:ext cx="8744383" cy="41235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B70500-5279-D9CA-22E1-1DA3A40788AC}"/>
              </a:ext>
            </a:extLst>
          </p:cNvPr>
          <p:cNvSpPr txBox="1"/>
          <p:nvPr/>
        </p:nvSpPr>
        <p:spPr>
          <a:xfrm>
            <a:off x="11363984" y="6218821"/>
            <a:ext cx="1175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lgerian" panose="04020705040A02060702" pitchFamily="82" charset="0"/>
              </a:rPr>
              <a:t>10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6BF5A-23A9-9D58-EBF2-33D4DB342B1E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5910F7-AD81-96C0-27FB-36F3439BC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7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AB9B1-7EC7-7960-8188-803A0EC36A43}"/>
              </a:ext>
            </a:extLst>
          </p:cNvPr>
          <p:cNvSpPr txBox="1"/>
          <p:nvPr/>
        </p:nvSpPr>
        <p:spPr>
          <a:xfrm>
            <a:off x="0" y="0"/>
            <a:ext cx="6097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+mj-lt"/>
              </a:rPr>
              <a:t>M</a:t>
            </a:r>
            <a:r>
              <a:rPr lang="en-US" sz="4000" b="1" dirty="0">
                <a:latin typeface="+mj-lt"/>
              </a:rPr>
              <a:t>odel </a:t>
            </a:r>
            <a:r>
              <a:rPr lang="en-US" sz="6000" b="1" dirty="0">
                <a:latin typeface="+mj-lt"/>
              </a:rPr>
              <a:t>P</a:t>
            </a:r>
            <a:r>
              <a:rPr lang="en-US" sz="4000" b="1" dirty="0">
                <a:latin typeface="+mj-lt"/>
              </a:rPr>
              <a:t>lanning</a:t>
            </a:r>
            <a:endParaRPr lang="en-US" sz="4000" b="1" dirty="0">
              <a:effectLst/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F9BE00-E750-9FB2-5E3B-A72B84DFBD12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004BC78-C878-31D9-0100-CB9C610B0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015663"/>
            <a:ext cx="8889023" cy="53675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771C4E-1623-55F8-06B4-DE151EF5D69D}"/>
              </a:ext>
            </a:extLst>
          </p:cNvPr>
          <p:cNvSpPr txBox="1"/>
          <p:nvPr/>
        </p:nvSpPr>
        <p:spPr>
          <a:xfrm>
            <a:off x="11430659" y="6209296"/>
            <a:ext cx="1175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lgerian" panose="04020705040A02060702" pitchFamily="82" charset="0"/>
              </a:rPr>
              <a:t>11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5FBE4-BF5D-1DC4-C4A6-9E1E949A6632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7B4B39-2D0F-BB9F-7913-BC7752E37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49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222E81-BB11-1D50-2DC4-C3FEC6D730FD}"/>
              </a:ext>
            </a:extLst>
          </p:cNvPr>
          <p:cNvSpPr txBox="1"/>
          <p:nvPr/>
        </p:nvSpPr>
        <p:spPr>
          <a:xfrm>
            <a:off x="0" y="0"/>
            <a:ext cx="6097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+mj-lt"/>
              </a:rPr>
              <a:t>U</a:t>
            </a:r>
            <a:r>
              <a:rPr lang="en-US" sz="4000" b="1" dirty="0">
                <a:latin typeface="+mj-lt"/>
              </a:rPr>
              <a:t>I</a:t>
            </a:r>
            <a:r>
              <a:rPr lang="en-US" sz="6000" b="1" dirty="0">
                <a:latin typeface="+mj-lt"/>
              </a:rPr>
              <a:t> P</a:t>
            </a:r>
            <a:r>
              <a:rPr lang="en-US" sz="4000" b="1" dirty="0">
                <a:latin typeface="+mj-lt"/>
              </a:rPr>
              <a:t>rototype</a:t>
            </a:r>
            <a:endParaRPr lang="en-US" sz="4000" b="1" dirty="0">
              <a:effectLst/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F2F65F-E8EC-8622-5B38-9F980964BC62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D3E20650-E64D-3342-8D22-15E581DD4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45" y="1712237"/>
            <a:ext cx="5811374" cy="3267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69C8124-38F0-95A9-9478-4EBEE379B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514" y="1712237"/>
            <a:ext cx="5811374" cy="3267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" name="Callout: Up Arrow 26">
            <a:extLst>
              <a:ext uri="{FF2B5EF4-FFF2-40B4-BE49-F238E27FC236}">
                <a16:creationId xmlns:a16="http://schemas.microsoft.com/office/drawing/2014/main" id="{72E42015-5D93-4A32-7015-A9C0A9934102}"/>
              </a:ext>
            </a:extLst>
          </p:cNvPr>
          <p:cNvSpPr/>
          <p:nvPr/>
        </p:nvSpPr>
        <p:spPr>
          <a:xfrm>
            <a:off x="1837592" y="5187461"/>
            <a:ext cx="1960684" cy="738554"/>
          </a:xfrm>
          <a:prstGeom prst="up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Dashboard</a:t>
            </a:r>
            <a:endParaRPr lang="en-US" dirty="0"/>
          </a:p>
        </p:txBody>
      </p:sp>
      <p:sp>
        <p:nvSpPr>
          <p:cNvPr id="29" name="Callout: Up Arrow 28">
            <a:extLst>
              <a:ext uri="{FF2B5EF4-FFF2-40B4-BE49-F238E27FC236}">
                <a16:creationId xmlns:a16="http://schemas.microsoft.com/office/drawing/2014/main" id="{397F6075-0D03-C44E-F4B4-DA8A8898B491}"/>
              </a:ext>
            </a:extLst>
          </p:cNvPr>
          <p:cNvSpPr/>
          <p:nvPr/>
        </p:nvSpPr>
        <p:spPr>
          <a:xfrm>
            <a:off x="8393726" y="5187461"/>
            <a:ext cx="1960684" cy="738554"/>
          </a:xfrm>
          <a:prstGeom prst="up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Scan History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01B84-E157-E182-AE07-C62C3633F982}"/>
              </a:ext>
            </a:extLst>
          </p:cNvPr>
          <p:cNvSpPr txBox="1"/>
          <p:nvPr/>
        </p:nvSpPr>
        <p:spPr>
          <a:xfrm>
            <a:off x="11362079" y="6209296"/>
            <a:ext cx="1175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lgerian" panose="04020705040A02060702" pitchFamily="82" charset="0"/>
              </a:rPr>
              <a:t>12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B016D8-09C5-6ADC-73EB-AAB7B083558E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88E979-5C2F-2A85-7A89-A491FB55E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20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84D2BF-D36A-BAED-7FB6-DEC3D20EF49B}"/>
              </a:ext>
            </a:extLst>
          </p:cNvPr>
          <p:cNvSpPr txBox="1"/>
          <p:nvPr/>
        </p:nvSpPr>
        <p:spPr>
          <a:xfrm>
            <a:off x="0" y="0"/>
            <a:ext cx="6097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+mj-lt"/>
              </a:rPr>
              <a:t>U</a:t>
            </a:r>
            <a:r>
              <a:rPr lang="en-US" sz="4000" b="1" dirty="0">
                <a:latin typeface="+mj-lt"/>
              </a:rPr>
              <a:t>I</a:t>
            </a:r>
            <a:r>
              <a:rPr lang="en-US" sz="6000" b="1" dirty="0">
                <a:latin typeface="+mj-lt"/>
              </a:rPr>
              <a:t> P</a:t>
            </a:r>
            <a:r>
              <a:rPr lang="en-US" sz="4000" b="1" dirty="0">
                <a:latin typeface="+mj-lt"/>
              </a:rPr>
              <a:t>rototype</a:t>
            </a:r>
            <a:endParaRPr lang="en-US" sz="4000" b="1" dirty="0">
              <a:effectLst/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DD3DEC-FA66-995E-AC92-756C1F2F63AB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4E2EB30-7E79-133E-1079-61637CA76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45" y="1712235"/>
            <a:ext cx="5811374" cy="3267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36E574-F282-E777-7C5C-B3BAC70A4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582" y="1712235"/>
            <a:ext cx="5811373" cy="3267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allout: Up Arrow 10">
            <a:extLst>
              <a:ext uri="{FF2B5EF4-FFF2-40B4-BE49-F238E27FC236}">
                <a16:creationId xmlns:a16="http://schemas.microsoft.com/office/drawing/2014/main" id="{7E85E905-2068-9521-E950-E560420DE2DB}"/>
              </a:ext>
            </a:extLst>
          </p:cNvPr>
          <p:cNvSpPr/>
          <p:nvPr/>
        </p:nvSpPr>
        <p:spPr>
          <a:xfrm>
            <a:off x="1837592" y="5187461"/>
            <a:ext cx="1960684" cy="738554"/>
          </a:xfrm>
          <a:prstGeom prst="up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Analytics</a:t>
            </a:r>
            <a:endParaRPr lang="en-US" dirty="0"/>
          </a:p>
        </p:txBody>
      </p:sp>
      <p:sp>
        <p:nvSpPr>
          <p:cNvPr id="13" name="Callout: Up Arrow 12">
            <a:extLst>
              <a:ext uri="{FF2B5EF4-FFF2-40B4-BE49-F238E27FC236}">
                <a16:creationId xmlns:a16="http://schemas.microsoft.com/office/drawing/2014/main" id="{995B1464-50A7-6467-1E72-22CEDA36F9D7}"/>
              </a:ext>
            </a:extLst>
          </p:cNvPr>
          <p:cNvSpPr/>
          <p:nvPr/>
        </p:nvSpPr>
        <p:spPr>
          <a:xfrm>
            <a:off x="8393726" y="5187461"/>
            <a:ext cx="1960684" cy="738554"/>
          </a:xfrm>
          <a:prstGeom prst="upArrowCallou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URL Scanner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65407-2629-306F-487E-022E9CE4C554}"/>
              </a:ext>
            </a:extLst>
          </p:cNvPr>
          <p:cNvSpPr txBox="1"/>
          <p:nvPr/>
        </p:nvSpPr>
        <p:spPr>
          <a:xfrm>
            <a:off x="11354459" y="6205486"/>
            <a:ext cx="1175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lgerian" panose="04020705040A02060702" pitchFamily="82" charset="0"/>
              </a:rPr>
              <a:t>13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852CA8-40C8-ACC0-232D-F24B8A51B180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1389CD-6451-6CF6-A862-5191B2985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83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97BA59-B3F5-9D16-0C34-DB38C267F4CA}"/>
              </a:ext>
            </a:extLst>
          </p:cNvPr>
          <p:cNvSpPr txBox="1"/>
          <p:nvPr/>
        </p:nvSpPr>
        <p:spPr>
          <a:xfrm>
            <a:off x="0" y="0"/>
            <a:ext cx="97292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+mj-lt"/>
              </a:rPr>
              <a:t>C</a:t>
            </a:r>
            <a:r>
              <a:rPr lang="en-US" sz="4000" b="1" dirty="0">
                <a:latin typeface="+mj-lt"/>
              </a:rPr>
              <a:t>urrent </a:t>
            </a:r>
            <a:r>
              <a:rPr lang="en-US" sz="6000" b="1" dirty="0">
                <a:latin typeface="+mj-lt"/>
              </a:rPr>
              <a:t>P</a:t>
            </a:r>
            <a:r>
              <a:rPr lang="en-US" sz="4000" b="1" dirty="0">
                <a:latin typeface="+mj-lt"/>
              </a:rPr>
              <a:t>roject </a:t>
            </a:r>
            <a:r>
              <a:rPr lang="en-US" sz="6000" b="1" dirty="0">
                <a:latin typeface="+mj-lt"/>
              </a:rPr>
              <a:t>P</a:t>
            </a:r>
            <a:r>
              <a:rPr lang="en-US" sz="4000" b="1" dirty="0">
                <a:latin typeface="+mj-lt"/>
              </a:rPr>
              <a:t>rogress — </a:t>
            </a:r>
            <a:r>
              <a:rPr lang="en-US" sz="6000" b="1" dirty="0">
                <a:latin typeface="+mj-lt"/>
              </a:rPr>
              <a:t>R</a:t>
            </a:r>
            <a:r>
              <a:rPr lang="en-US" sz="4000" b="1" dirty="0">
                <a:latin typeface="+mj-lt"/>
              </a:rPr>
              <a:t>eview 2 </a:t>
            </a:r>
            <a:r>
              <a:rPr lang="en-US" sz="6000" b="1" dirty="0">
                <a:latin typeface="+mj-lt"/>
              </a:rPr>
              <a:t>S</a:t>
            </a:r>
            <a:r>
              <a:rPr lang="en-US" sz="4000" b="1" dirty="0">
                <a:latin typeface="+mj-lt"/>
              </a:rPr>
              <a:t>tatus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937BE70-741B-7F64-551B-C8B9E37563B8}"/>
              </a:ext>
            </a:extLst>
          </p:cNvPr>
          <p:cNvCxnSpPr>
            <a:cxnSpLocks/>
          </p:cNvCxnSpPr>
          <p:nvPr/>
        </p:nvCxnSpPr>
        <p:spPr>
          <a:xfrm>
            <a:off x="0" y="931985"/>
            <a:ext cx="247943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27C4FC-B593-3588-F28B-C2C4C48882DD}"/>
              </a:ext>
            </a:extLst>
          </p:cNvPr>
          <p:cNvSpPr/>
          <p:nvPr/>
        </p:nvSpPr>
        <p:spPr>
          <a:xfrm>
            <a:off x="164592" y="1563623"/>
            <a:ext cx="5532120" cy="38862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8FAB2B-4697-7482-FC36-3F4AFD05E928}"/>
              </a:ext>
            </a:extLst>
          </p:cNvPr>
          <p:cNvSpPr txBox="1"/>
          <p:nvPr/>
        </p:nvSpPr>
        <p:spPr>
          <a:xfrm>
            <a:off x="338328" y="1863971"/>
            <a:ext cx="6277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REVIEW 2 COMPLETED DESIGN MILESTONES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8E85C0-3F8A-9279-1E01-C54838E9EFAF}"/>
              </a:ext>
            </a:extLst>
          </p:cNvPr>
          <p:cNvSpPr txBox="1"/>
          <p:nvPr/>
        </p:nvSpPr>
        <p:spPr>
          <a:xfrm>
            <a:off x="338328" y="2233303"/>
            <a:ext cx="5266944" cy="2954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✔ Requirement Analysis &amp; Feasibility Study</a:t>
            </a:r>
          </a:p>
          <a:p>
            <a:pPr>
              <a:lnSpc>
                <a:spcPct val="150000"/>
              </a:lnSpc>
            </a:pPr>
            <a:r>
              <a:rPr lang="en-US" dirty="0"/>
              <a:t>✔ Decoupled 3-Tier System Architecture Design</a:t>
            </a:r>
          </a:p>
          <a:p>
            <a:pPr>
              <a:lnSpc>
                <a:spcPct val="150000"/>
              </a:lnSpc>
            </a:pPr>
            <a:r>
              <a:rPr lang="en-US" dirty="0"/>
              <a:t>✔ Data Flow Diagrams (DFD Level 0 &amp; Level 1)</a:t>
            </a:r>
          </a:p>
          <a:p>
            <a:pPr>
              <a:lnSpc>
                <a:spcPct val="150000"/>
              </a:lnSpc>
            </a:pPr>
            <a:r>
              <a:rPr lang="en-US" dirty="0"/>
              <a:t>✔ Peter Chen Style ER Diagram (15 DB Tables)</a:t>
            </a:r>
          </a:p>
          <a:p>
            <a:pPr>
              <a:lnSpc>
                <a:spcPct val="150000"/>
              </a:lnSpc>
            </a:pPr>
            <a:r>
              <a:rPr lang="en-US" dirty="0"/>
              <a:t>✔ 4-Tier UML Class Diagram &amp; Sequence Diagram</a:t>
            </a:r>
          </a:p>
          <a:p>
            <a:pPr>
              <a:lnSpc>
                <a:spcPct val="150000"/>
              </a:lnSpc>
            </a:pPr>
            <a:r>
              <a:rPr lang="en-US" dirty="0"/>
              <a:t>✔ 10 Scanner Modules &amp; </a:t>
            </a:r>
            <a:r>
              <a:rPr lang="en-US" dirty="0" err="1"/>
              <a:t>Veriphone</a:t>
            </a:r>
            <a:r>
              <a:rPr lang="en-US" dirty="0"/>
              <a:t> API Integration</a:t>
            </a:r>
          </a:p>
          <a:p>
            <a:pPr>
              <a:lnSpc>
                <a:spcPct val="150000"/>
              </a:lnSpc>
            </a:pPr>
            <a:r>
              <a:rPr lang="en-US" dirty="0"/>
              <a:t>✔ </a:t>
            </a:r>
            <a:r>
              <a:rPr lang="en-US" dirty="0" err="1"/>
              <a:t>Streamlit</a:t>
            </a:r>
            <a:r>
              <a:rPr lang="en-US" dirty="0"/>
              <a:t> UI Dashboard &amp; Prototype Layouts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B76BFDB-72C4-D421-623B-813D4328200B}"/>
              </a:ext>
            </a:extLst>
          </p:cNvPr>
          <p:cNvSpPr/>
          <p:nvPr/>
        </p:nvSpPr>
        <p:spPr>
          <a:xfrm>
            <a:off x="5977128" y="1563623"/>
            <a:ext cx="5532120" cy="38862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4ED0AE-64BF-8649-1974-701C3D39D527}"/>
              </a:ext>
            </a:extLst>
          </p:cNvPr>
          <p:cNvSpPr txBox="1"/>
          <p:nvPr/>
        </p:nvSpPr>
        <p:spPr>
          <a:xfrm>
            <a:off x="6114288" y="1863971"/>
            <a:ext cx="6277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NEXT PHASE — IMPLEMENTATION ROADMAP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CD35A4-9B49-0255-BB7D-67224CBAE873}"/>
              </a:ext>
            </a:extLst>
          </p:cNvPr>
          <p:cNvSpPr txBox="1"/>
          <p:nvPr/>
        </p:nvSpPr>
        <p:spPr>
          <a:xfrm>
            <a:off x="6077712" y="2233303"/>
            <a:ext cx="5443728" cy="2124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Complete System Testing &amp; Accuracy Benchmarking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Enterprise SIEM / SOAR Webhook Connectors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Dynamic Malware Detonation Sandbox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Automated Windows Firewall Active Response Scripts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Final Project Report Documentation &amp; Deployment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7246E-66CE-3266-0733-79FBE3671D36}"/>
              </a:ext>
            </a:extLst>
          </p:cNvPr>
          <p:cNvSpPr txBox="1"/>
          <p:nvPr/>
        </p:nvSpPr>
        <p:spPr>
          <a:xfrm>
            <a:off x="11344934" y="6209296"/>
            <a:ext cx="1175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lgerian" panose="04020705040A02060702" pitchFamily="82" charset="0"/>
              </a:rPr>
              <a:t>14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1CB69-D957-193F-4844-A6909C3D2C57}"/>
              </a:ext>
            </a:extLst>
          </p:cNvPr>
          <p:cNvSpPr txBox="1"/>
          <p:nvPr/>
        </p:nvSpPr>
        <p:spPr>
          <a:xfrm>
            <a:off x="338328" y="6452744"/>
            <a:ext cx="2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 err="1">
                <a:solidFill>
                  <a:schemeClr val="bg1"/>
                </a:solidFill>
                <a:effectLst/>
                <a:latin typeface="+mj-lt"/>
              </a:rPr>
              <a:t>CyberMind</a:t>
            </a:r>
            <a:r>
              <a:rPr lang="en-US" i="0" dirty="0">
                <a:solidFill>
                  <a:schemeClr val="bg1"/>
                </a:solidFill>
                <a:effectLst/>
                <a:latin typeface="+mj-lt"/>
              </a:rPr>
              <a:t>-AI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083F7C-9AA9-43F7-AA3A-21F26C190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06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06FB18-DBE1-94CB-3EDC-444FA867E82F}"/>
              </a:ext>
            </a:extLst>
          </p:cNvPr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D470F9-984A-9B2E-0D92-14193B0A3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096000" y="0"/>
            <a:ext cx="6096000" cy="68579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DBD2D3-CA12-068E-53BB-D4CF2EE51C65}"/>
              </a:ext>
            </a:extLst>
          </p:cNvPr>
          <p:cNvSpPr txBox="1">
            <a:spLocks/>
          </p:cNvSpPr>
          <p:nvPr/>
        </p:nvSpPr>
        <p:spPr>
          <a:xfrm>
            <a:off x="285238" y="2494274"/>
            <a:ext cx="6748607" cy="25349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dirty="0"/>
              <a:t>Thank You!</a:t>
            </a:r>
          </a:p>
          <a:p>
            <a:r>
              <a:rPr lang="en-US" sz="5400" dirty="0"/>
              <a:t>For Your Attention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8F34D-8AC3-4219-267E-DDEA1DED039C}"/>
              </a:ext>
            </a:extLst>
          </p:cNvPr>
          <p:cNvSpPr txBox="1"/>
          <p:nvPr/>
        </p:nvSpPr>
        <p:spPr>
          <a:xfrm>
            <a:off x="350229" y="4290619"/>
            <a:ext cx="621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</a:rPr>
              <a:t>Stay Secure, Stay Smart, Stay Ahead.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4106C-7EF7-28E8-1CFC-2582FAC7F42E}"/>
              </a:ext>
            </a:extLst>
          </p:cNvPr>
          <p:cNvSpPr txBox="1"/>
          <p:nvPr/>
        </p:nvSpPr>
        <p:spPr>
          <a:xfrm>
            <a:off x="656969" y="246157"/>
            <a:ext cx="1637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effectLst/>
                <a:latin typeface="+mj-lt"/>
              </a:rPr>
              <a:t>CyberMind</a:t>
            </a:r>
            <a:r>
              <a:rPr lang="en-US" b="1" i="0" dirty="0">
                <a:effectLst/>
                <a:latin typeface="+mj-lt"/>
              </a:rPr>
              <a:t>-AI</a:t>
            </a:r>
            <a:endParaRPr lang="en-US" b="1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2033A9-8D36-7EDC-D81B-309EEE99B3C1}"/>
              </a:ext>
            </a:extLst>
          </p:cNvPr>
          <p:cNvSpPr txBox="1"/>
          <p:nvPr/>
        </p:nvSpPr>
        <p:spPr>
          <a:xfrm>
            <a:off x="4285663" y="175819"/>
            <a:ext cx="1947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+mj-lt"/>
              </a:rPr>
              <a:t>SOCCA - MSC DS</a:t>
            </a:r>
            <a:endParaRPr lang="en-US" b="1" dirty="0">
              <a:latin typeface="+mj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519522-FE1A-2235-D45A-47B99A42D854}"/>
              </a:ext>
            </a:extLst>
          </p:cNvPr>
          <p:cNvCxnSpPr/>
          <p:nvPr/>
        </p:nvCxnSpPr>
        <p:spPr>
          <a:xfrm>
            <a:off x="4844562" y="545151"/>
            <a:ext cx="12514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Subtitle 2">
            <a:extLst>
              <a:ext uri="{FF2B5EF4-FFF2-40B4-BE49-F238E27FC236}">
                <a16:creationId xmlns:a16="http://schemas.microsoft.com/office/drawing/2014/main" id="{23E079D2-DD4C-8593-444E-61E60C6C7022}"/>
              </a:ext>
            </a:extLst>
          </p:cNvPr>
          <p:cNvSpPr txBox="1">
            <a:spLocks/>
          </p:cNvSpPr>
          <p:nvPr/>
        </p:nvSpPr>
        <p:spPr>
          <a:xfrm>
            <a:off x="-119758" y="6047651"/>
            <a:ext cx="4829101" cy="81034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Presented by </a:t>
            </a:r>
            <a:r>
              <a:rPr lang="en-US" sz="1800" b="1" dirty="0"/>
              <a:t>Daksh Vasani </a:t>
            </a:r>
          </a:p>
          <a:p>
            <a:r>
              <a:rPr lang="en-US" sz="1800" dirty="0"/>
              <a:t>ER. NO: </a:t>
            </a:r>
            <a:r>
              <a:rPr lang="en-US" sz="1800" b="1" dirty="0"/>
              <a:t>2504070500037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89498E-9702-4AB7-4DB9-F812EBE8E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98" y="220486"/>
            <a:ext cx="425149" cy="42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096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{BC739600-0E98-45D2-87EC-51CE7D3CCDDC}TF235124e3-e6db-4c6d-93c8-733f2fadbc609fb6f57c_win32-b1e91d96f19e</Template>
  <TotalTime>126</TotalTime>
  <Words>968</Words>
  <Application>Microsoft Office PowerPoint</Application>
  <PresentationFormat>Widescreen</PresentationFormat>
  <Paragraphs>149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Algerian</vt:lpstr>
      <vt:lpstr>Arial</vt:lpstr>
      <vt:lpstr>Calibri</vt:lpstr>
      <vt:lpstr>Courier New</vt:lpstr>
      <vt:lpstr>Georgia Pro Cond Light</vt:lpstr>
      <vt:lpstr>Georgia Pro Cond Light (Headings)</vt:lpstr>
      <vt:lpstr>Speak Pro</vt:lpstr>
      <vt:lpstr>RetrospectVTI</vt:lpstr>
      <vt:lpstr>CyberMind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vasani</dc:creator>
  <cp:lastModifiedBy>Daksh vasani</cp:lastModifiedBy>
  <cp:revision>6</cp:revision>
  <dcterms:created xsi:type="dcterms:W3CDTF">2026-08-16T10:08:41Z</dcterms:created>
  <dcterms:modified xsi:type="dcterms:W3CDTF">2026-08-17T06:40:39Z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