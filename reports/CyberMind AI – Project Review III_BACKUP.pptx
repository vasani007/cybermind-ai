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20"/>
  </p:notesMasterIdLst>
  <p:sldIdLst>
    <p:sldId id="266" r:id="rId5"/>
    <p:sldId id="311" r:id="rId6"/>
    <p:sldId id="312" r:id="rId7"/>
    <p:sldId id="313" r:id="rId8"/>
    <p:sldId id="314" r:id="rId9"/>
    <p:sldId id="315" r:id="rId10"/>
    <p:sldId id="316" r:id="rId11"/>
    <p:sldId id="317" r:id="rId12"/>
    <p:sldId id="319" r:id="rId13"/>
    <p:sldId id="318" r:id="rId14"/>
    <p:sldId id="320" r:id="rId15"/>
    <p:sldId id="323" r:id="rId16"/>
    <p:sldId id="321" r:id="rId17"/>
    <p:sldId id="322" r:id="rId18"/>
    <p:sldId id="324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19" autoAdjust="0"/>
  </p:normalViewPr>
  <p:slideViewPr>
    <p:cSldViewPr snapToGrid="0">
      <p:cViewPr varScale="1">
        <p:scale>
          <a:sx n="87" d="100"/>
          <a:sy n="87" d="100"/>
        </p:scale>
        <p:origin x="480" y="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705494-6DC3-4649-B4F3-D5612C8EEBA2}" type="datetimeFigureOut">
              <a:rPr lang="en-US" smtClean="0"/>
              <a:t>26/08/17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0CBB23-A62B-4ABA-95AD-9AD18C8DDD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7027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0CBB23-A62B-4ABA-95AD-9AD18C8DDDE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93132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26/08/17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72932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26/08/17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89807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26/08/17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23314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26/08/17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76118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26/08/17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28083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26/08/17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17711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26/08/17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07016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26/08/17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13020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26/08/17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882685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26/08/17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60147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6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1.xml"/><Relationship Id="rId2" Type="http://schemas.openxmlformats.org/officeDocument/2006/relationships/slideLayout" Target="../slideLayouts/slideLayout1.xml"/><Relationship Id="rId3" Type="http://schemas.openxmlformats.org/officeDocument/2006/relationships/image" Target="../media/image1.jpe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svg"/><Relationship Id="rId3" Type="http://schemas.openxmlformats.org/officeDocument/2006/relationships/image" Target="../media/image5.svg"/><Relationship Id="rId4" Type="http://schemas.openxmlformats.org/officeDocument/2006/relationships/image" Target="../media/image6.svg"/><Relationship Id="rId5" Type="http://schemas.openxmlformats.org/officeDocument/2006/relationships/image" Target="../media/image7.svg"/><Relationship Id="rId6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4.png"/><Relationship Id="rId4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3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F452A527-3631-41ED-858D-3777A7D149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peak Pro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B2EA78-AEB3-469B-9025-3B17201A45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30000" y="1524397"/>
            <a:ext cx="4813072" cy="2609491"/>
          </a:xfrm>
        </p:spPr>
        <p:txBody>
          <a:bodyPr>
            <a:normAutofit/>
          </a:bodyPr>
          <a:lstStyle/>
          <a:p>
            <a:r>
              <a:rPr lang="en-US" dirty="0" err="1"/>
              <a:t>CyberMind</a:t>
            </a:r>
            <a:r>
              <a:rPr lang="en-US" dirty="0"/>
              <a:t> AI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5E1F2F-E259-4EA8-9FFD-3A10AF5418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62900" y="6047651"/>
            <a:ext cx="4829101" cy="810349"/>
          </a:xfrm>
        </p:spPr>
        <p:txBody>
          <a:bodyPr>
            <a:noAutofit/>
          </a:bodyPr>
          <a:lstStyle/>
          <a:p>
            <a:pPr algn="r"/>
            <a:r>
              <a:rPr sz="1800">
                <a:latin typeface="Arial"/>
              </a:rPr>
              <a:t>Presented by </a:t>
            </a:r>
            <a:r>
              <a:rPr sz="1800" b="1">
                <a:latin typeface="Arial"/>
              </a:rPr>
              <a:t>Daksh Vasani</a:t>
            </a:r>
          </a:p>
          <a:p>
            <a:r>
              <a:rPr sz="1800">
                <a:latin typeface="Arial"/>
              </a:rPr>
              <a:t>ER. NO: </a:t>
            </a:r>
            <a:r>
              <a:rPr sz="1800" b="1">
                <a:latin typeface="Arial"/>
              </a:rPr>
              <a:t>2504070500037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940CBE3-3F91-419A-A649-32AB388ECA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10"/>
            <a:ext cx="6096000" cy="6857990"/>
          </a:xfrm>
          <a:prstGeom prst="rect">
            <a:avLst/>
          </a:prstGeom>
        </p:spPr>
      </p:pic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D28A9C89-B313-458F-9C85-515930A51A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805053" y="4294754"/>
            <a:ext cx="43891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7F286C42-CCA2-6857-439E-12492A0BE7DF}"/>
              </a:ext>
            </a:extLst>
          </p:cNvPr>
          <p:cNvSpPr txBox="1"/>
          <p:nvPr/>
        </p:nvSpPr>
        <p:spPr>
          <a:xfrm>
            <a:off x="6730000" y="3885214"/>
            <a:ext cx="41879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AI-Powered Cyber Intelligence Platform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1E2A203-AE1C-BC4F-066D-C29A6D645577}"/>
              </a:ext>
            </a:extLst>
          </p:cNvPr>
          <p:cNvSpPr txBox="1"/>
          <p:nvPr/>
        </p:nvSpPr>
        <p:spPr>
          <a:xfrm>
            <a:off x="8980000" y="115000"/>
            <a:ext cx="31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0F172A"/>
                </a:solidFill>
                <a:latin typeface="Arial"/>
              </a:rPr>
              <a:t>PROJECT REVIEW – III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22DD3CF-6A21-A195-9F53-B55608C1E64C}"/>
              </a:ext>
            </a:extLst>
          </p:cNvPr>
          <p:cNvSpPr txBox="1"/>
          <p:nvPr/>
        </p:nvSpPr>
        <p:spPr>
          <a:xfrm>
            <a:off x="6096000" y="108898"/>
            <a:ext cx="24142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+mj-lt"/>
              </a:rPr>
              <a:t>SOCCA - MSC DS</a:t>
            </a:r>
          </a:p>
        </p:txBody>
      </p:sp>
      <p:sp>
        <p:nvSpPr>
          <p:cNvPr id="7" name="Freeform 12">
            <a:extLst>
              <a:ext uri="{FF2B5EF4-FFF2-40B4-BE49-F238E27FC236}">
                <a16:creationId xmlns:a16="http://schemas.microsoft.com/office/drawing/2014/main" id="{38A444DD-3E08-9785-6420-A70CC8F2B02F}"/>
              </a:ext>
            </a:extLst>
          </p:cNvPr>
          <p:cNvSpPr/>
          <p:nvPr/>
        </p:nvSpPr>
        <p:spPr>
          <a:xfrm>
            <a:off x="14468741" y="152797"/>
            <a:ext cx="575097" cy="575097"/>
          </a:xfrm>
          <a:custGeom>
            <a:avLst/>
            <a:gdLst/>
            <a:ahLst/>
            <a:cxnLst/>
            <a:rect l="l" t="t" r="r" b="b"/>
            <a:pathLst>
              <a:path w="575097" h="575097">
                <a:moveTo>
                  <a:pt x="0" y="0"/>
                </a:moveTo>
                <a:lnTo>
                  <a:pt x="575097" y="0"/>
                </a:lnTo>
                <a:lnTo>
                  <a:pt x="575097" y="575097"/>
                </a:lnTo>
                <a:lnTo>
                  <a:pt x="0" y="57509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p/>
        </p:txBody>
      </p:sp>
      <p:sp>
        <p:nvSpPr>
          <p:cNvPr id="11" name="Freeform 12">
            <a:extLst>
              <a:ext uri="{FF2B5EF4-FFF2-40B4-BE49-F238E27FC236}">
                <a16:creationId xmlns:a16="http://schemas.microsoft.com/office/drawing/2014/main" id="{DE5847D7-ED4A-B27F-96D6-597540C05140}"/>
              </a:ext>
            </a:extLst>
          </p:cNvPr>
          <p:cNvSpPr/>
          <p:nvPr/>
        </p:nvSpPr>
        <p:spPr>
          <a:xfrm>
            <a:off x="14621141" y="305197"/>
            <a:ext cx="575097" cy="575097"/>
          </a:xfrm>
          <a:custGeom>
            <a:avLst/>
            <a:gdLst/>
            <a:ahLst/>
            <a:cxnLst/>
            <a:rect l="l" t="t" r="r" b="b"/>
            <a:pathLst>
              <a:path w="575097" h="575097">
                <a:moveTo>
                  <a:pt x="0" y="0"/>
                </a:moveTo>
                <a:lnTo>
                  <a:pt x="575097" y="0"/>
                </a:lnTo>
                <a:lnTo>
                  <a:pt x="575097" y="575097"/>
                </a:lnTo>
                <a:lnTo>
                  <a:pt x="0" y="57509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p/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B2CD7A28-9600-8D42-7C14-CA7B3ADE1FE7}"/>
              </a:ext>
            </a:extLst>
          </p:cNvPr>
          <p:cNvSpPr/>
          <p:nvPr/>
        </p:nvSpPr>
        <p:spPr>
          <a:xfrm>
            <a:off x="14773541" y="457597"/>
            <a:ext cx="575097" cy="575097"/>
          </a:xfrm>
          <a:custGeom>
            <a:avLst/>
            <a:gdLst/>
            <a:ahLst/>
            <a:cxnLst/>
            <a:rect l="l" t="t" r="r" b="b"/>
            <a:pathLst>
              <a:path w="575097" h="575097">
                <a:moveTo>
                  <a:pt x="0" y="0"/>
                </a:moveTo>
                <a:lnTo>
                  <a:pt x="575097" y="0"/>
                </a:lnTo>
                <a:lnTo>
                  <a:pt x="575097" y="575097"/>
                </a:lnTo>
                <a:lnTo>
                  <a:pt x="0" y="57509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p/>
        </p:txBody>
      </p:sp>
      <p:sp>
        <p:nvSpPr>
          <p:cNvPr id="15" name="Freeform 12">
            <a:extLst>
              <a:ext uri="{FF2B5EF4-FFF2-40B4-BE49-F238E27FC236}">
                <a16:creationId xmlns:a16="http://schemas.microsoft.com/office/drawing/2014/main" id="{A107BAB9-9CC5-CAD7-40FF-890EE2BDB0F3}"/>
              </a:ext>
            </a:extLst>
          </p:cNvPr>
          <p:cNvSpPr/>
          <p:nvPr/>
        </p:nvSpPr>
        <p:spPr>
          <a:xfrm>
            <a:off x="14925941" y="609997"/>
            <a:ext cx="575097" cy="575097"/>
          </a:xfrm>
          <a:custGeom>
            <a:avLst/>
            <a:gdLst/>
            <a:ahLst/>
            <a:cxnLst/>
            <a:rect l="l" t="t" r="r" b="b"/>
            <a:pathLst>
              <a:path w="575097" h="575097">
                <a:moveTo>
                  <a:pt x="0" y="0"/>
                </a:moveTo>
                <a:lnTo>
                  <a:pt x="575097" y="0"/>
                </a:lnTo>
                <a:lnTo>
                  <a:pt x="575097" y="575097"/>
                </a:lnTo>
                <a:lnTo>
                  <a:pt x="0" y="57509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p/>
        </p:txBody>
      </p:sp>
      <p:sp>
        <p:nvSpPr>
          <p:cNvPr id="17" name="Freeform 12">
            <a:extLst>
              <a:ext uri="{FF2B5EF4-FFF2-40B4-BE49-F238E27FC236}">
                <a16:creationId xmlns:a16="http://schemas.microsoft.com/office/drawing/2014/main" id="{21F32CD4-FC95-7E58-445D-EC2945D08091}"/>
              </a:ext>
            </a:extLst>
          </p:cNvPr>
          <p:cNvSpPr/>
          <p:nvPr/>
        </p:nvSpPr>
        <p:spPr>
          <a:xfrm>
            <a:off x="15078341" y="762397"/>
            <a:ext cx="575097" cy="575097"/>
          </a:xfrm>
          <a:custGeom>
            <a:avLst/>
            <a:gdLst/>
            <a:ahLst/>
            <a:cxnLst/>
            <a:rect l="l" t="t" r="r" b="b"/>
            <a:pathLst>
              <a:path w="575097" h="575097">
                <a:moveTo>
                  <a:pt x="0" y="0"/>
                </a:moveTo>
                <a:lnTo>
                  <a:pt x="575097" y="0"/>
                </a:lnTo>
                <a:lnTo>
                  <a:pt x="575097" y="575097"/>
                </a:lnTo>
                <a:lnTo>
                  <a:pt x="0" y="57509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p/>
        </p:txBody>
      </p:sp>
      <p:sp>
        <p:nvSpPr>
          <p:cNvPr id="19" name="Freeform 12">
            <a:extLst>
              <a:ext uri="{FF2B5EF4-FFF2-40B4-BE49-F238E27FC236}">
                <a16:creationId xmlns:a16="http://schemas.microsoft.com/office/drawing/2014/main" id="{312857D0-D2CE-B773-8650-19C979E583E9}"/>
              </a:ext>
            </a:extLst>
          </p:cNvPr>
          <p:cNvSpPr/>
          <p:nvPr/>
        </p:nvSpPr>
        <p:spPr>
          <a:xfrm>
            <a:off x="15230741" y="914797"/>
            <a:ext cx="575097" cy="575097"/>
          </a:xfrm>
          <a:custGeom>
            <a:avLst/>
            <a:gdLst/>
            <a:ahLst/>
            <a:cxnLst/>
            <a:rect l="l" t="t" r="r" b="b"/>
            <a:pathLst>
              <a:path w="575097" h="575097">
                <a:moveTo>
                  <a:pt x="0" y="0"/>
                </a:moveTo>
                <a:lnTo>
                  <a:pt x="575097" y="0"/>
                </a:lnTo>
                <a:lnTo>
                  <a:pt x="575097" y="575097"/>
                </a:lnTo>
                <a:lnTo>
                  <a:pt x="0" y="57509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p/>
        </p:txBody>
      </p:sp>
      <p:sp>
        <p:nvSpPr>
          <p:cNvPr id="21" name="Freeform 12">
            <a:extLst>
              <a:ext uri="{FF2B5EF4-FFF2-40B4-BE49-F238E27FC236}">
                <a16:creationId xmlns:a16="http://schemas.microsoft.com/office/drawing/2014/main" id="{17201EFF-96CF-AB3E-0CB6-FC4E5D69E83D}"/>
              </a:ext>
            </a:extLst>
          </p:cNvPr>
          <p:cNvSpPr/>
          <p:nvPr/>
        </p:nvSpPr>
        <p:spPr>
          <a:xfrm>
            <a:off x="15383141" y="1067197"/>
            <a:ext cx="575097" cy="575097"/>
          </a:xfrm>
          <a:custGeom>
            <a:avLst/>
            <a:gdLst/>
            <a:ahLst/>
            <a:cxnLst/>
            <a:rect l="l" t="t" r="r" b="b"/>
            <a:pathLst>
              <a:path w="575097" h="575097">
                <a:moveTo>
                  <a:pt x="0" y="0"/>
                </a:moveTo>
                <a:lnTo>
                  <a:pt x="575097" y="0"/>
                </a:lnTo>
                <a:lnTo>
                  <a:pt x="575097" y="575097"/>
                </a:lnTo>
                <a:lnTo>
                  <a:pt x="0" y="57509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p/>
        </p:txBody>
      </p:sp>
      <p:sp>
        <p:nvSpPr>
          <p:cNvPr id="23" name="Freeform 12">
            <a:extLst>
              <a:ext uri="{FF2B5EF4-FFF2-40B4-BE49-F238E27FC236}">
                <a16:creationId xmlns:a16="http://schemas.microsoft.com/office/drawing/2014/main" id="{95CC4D16-7014-09F5-1060-5989035FB1CB}"/>
              </a:ext>
            </a:extLst>
          </p:cNvPr>
          <p:cNvSpPr/>
          <p:nvPr/>
        </p:nvSpPr>
        <p:spPr>
          <a:xfrm>
            <a:off x="15535541" y="1219597"/>
            <a:ext cx="575097" cy="575097"/>
          </a:xfrm>
          <a:custGeom>
            <a:avLst/>
            <a:gdLst/>
            <a:ahLst/>
            <a:cxnLst/>
            <a:rect l="l" t="t" r="r" b="b"/>
            <a:pathLst>
              <a:path w="575097" h="575097">
                <a:moveTo>
                  <a:pt x="0" y="0"/>
                </a:moveTo>
                <a:lnTo>
                  <a:pt x="575097" y="0"/>
                </a:lnTo>
                <a:lnTo>
                  <a:pt x="575097" y="575097"/>
                </a:lnTo>
                <a:lnTo>
                  <a:pt x="0" y="57509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p/>
        </p:txBody>
      </p:sp>
      <p:sp>
        <p:nvSpPr>
          <p:cNvPr id="27" name="Freeform 12">
            <a:extLst>
              <a:ext uri="{FF2B5EF4-FFF2-40B4-BE49-F238E27FC236}">
                <a16:creationId xmlns:a16="http://schemas.microsoft.com/office/drawing/2014/main" id="{835F9B7E-D900-8BBB-BB5A-03C3D07C9473}"/>
              </a:ext>
            </a:extLst>
          </p:cNvPr>
          <p:cNvSpPr/>
          <p:nvPr/>
        </p:nvSpPr>
        <p:spPr>
          <a:xfrm>
            <a:off x="15687941" y="1371997"/>
            <a:ext cx="575097" cy="575097"/>
          </a:xfrm>
          <a:custGeom>
            <a:avLst/>
            <a:gdLst/>
            <a:ahLst/>
            <a:cxnLst/>
            <a:rect l="l" t="t" r="r" b="b"/>
            <a:pathLst>
              <a:path w="575097" h="575097">
                <a:moveTo>
                  <a:pt x="0" y="0"/>
                </a:moveTo>
                <a:lnTo>
                  <a:pt x="575097" y="0"/>
                </a:lnTo>
                <a:lnTo>
                  <a:pt x="575097" y="575097"/>
                </a:lnTo>
                <a:lnTo>
                  <a:pt x="0" y="57509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p/>
        </p:txBody>
      </p:sp>
      <p:sp>
        <p:nvSpPr>
          <p:cNvPr id="29" name="Freeform 12">
            <a:extLst>
              <a:ext uri="{FF2B5EF4-FFF2-40B4-BE49-F238E27FC236}">
                <a16:creationId xmlns:a16="http://schemas.microsoft.com/office/drawing/2014/main" id="{2A92DDE9-27EC-B416-8087-D863901CBC9A}"/>
              </a:ext>
            </a:extLst>
          </p:cNvPr>
          <p:cNvSpPr/>
          <p:nvPr/>
        </p:nvSpPr>
        <p:spPr>
          <a:xfrm>
            <a:off x="15840341" y="1524397"/>
            <a:ext cx="575097" cy="575097"/>
          </a:xfrm>
          <a:custGeom>
            <a:avLst/>
            <a:gdLst/>
            <a:ahLst/>
            <a:cxnLst/>
            <a:rect l="l" t="t" r="r" b="b"/>
            <a:pathLst>
              <a:path w="575097" h="575097">
                <a:moveTo>
                  <a:pt x="0" y="0"/>
                </a:moveTo>
                <a:lnTo>
                  <a:pt x="575097" y="0"/>
                </a:lnTo>
                <a:lnTo>
                  <a:pt x="575097" y="575097"/>
                </a:lnTo>
                <a:lnTo>
                  <a:pt x="0" y="57509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p/>
        </p:txBody>
      </p:sp>
      <p:sp>
        <p:nvSpPr>
          <p:cNvPr id="31" name="Freeform 12">
            <a:extLst>
              <a:ext uri="{FF2B5EF4-FFF2-40B4-BE49-F238E27FC236}">
                <a16:creationId xmlns:a16="http://schemas.microsoft.com/office/drawing/2014/main" id="{A071D43D-23B4-C005-4F9E-20185BC59CCE}"/>
              </a:ext>
            </a:extLst>
          </p:cNvPr>
          <p:cNvSpPr/>
          <p:nvPr/>
        </p:nvSpPr>
        <p:spPr>
          <a:xfrm>
            <a:off x="15992741" y="1676797"/>
            <a:ext cx="575097" cy="575097"/>
          </a:xfrm>
          <a:custGeom>
            <a:avLst/>
            <a:gdLst/>
            <a:ahLst/>
            <a:cxnLst/>
            <a:rect l="l" t="t" r="r" b="b"/>
            <a:pathLst>
              <a:path w="575097" h="575097">
                <a:moveTo>
                  <a:pt x="0" y="0"/>
                </a:moveTo>
                <a:lnTo>
                  <a:pt x="575097" y="0"/>
                </a:lnTo>
                <a:lnTo>
                  <a:pt x="575097" y="575097"/>
                </a:lnTo>
                <a:lnTo>
                  <a:pt x="0" y="57509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p/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F0197752-847E-93B3-FEA7-54DA60BB01DF}"/>
              </a:ext>
            </a:extLst>
          </p:cNvPr>
          <p:cNvCxnSpPr/>
          <p:nvPr/>
        </p:nvCxnSpPr>
        <p:spPr>
          <a:xfrm>
            <a:off x="6096000" y="471828"/>
            <a:ext cx="1251438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34" name="Picture 33">
            <a:extLst>
              <a:ext uri="{FF2B5EF4-FFF2-40B4-BE49-F238E27FC236}">
                <a16:creationId xmlns:a16="http://schemas.microsoft.com/office/drawing/2014/main" id="{7C2F79D4-3DCE-B2E7-A4AB-0DA8D72B77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0000" y="108898"/>
            <a:ext cx="425149" cy="420674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6730000" y="4550000"/>
            <a:ext cx="480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64748B"/>
                </a:solidFill>
                <a:latin typeface="Arial"/>
              </a:rPr>
              <a:t>Under the Guidance of:</a:t>
            </a:r>
          </a:p>
          <a:p>
            <a:r>
              <a:rPr sz="1650" b="1">
                <a:solidFill>
                  <a:srgbClr val="0F172A"/>
                </a:solidFill>
                <a:latin typeface="Arial"/>
              </a:rPr>
              <a:t>Ms. Ritika Savaliya</a:t>
            </a:r>
          </a:p>
          <a:p>
            <a:r>
              <a:rPr sz="1250">
                <a:solidFill>
                  <a:srgbClr val="243541"/>
                </a:solidFill>
                <a:latin typeface="Arial"/>
              </a:rPr>
              <a:t>SOCCA – Silver Oak University | M.Sc. Data Science</a:t>
            </a:r>
          </a:p>
        </p:txBody>
      </p:sp>
    </p:spTree>
    <p:extLst>
      <p:ext uri="{BB962C8B-B14F-4D97-AF65-F5344CB8AC3E}">
        <p14:creationId xmlns:p14="http://schemas.microsoft.com/office/powerpoint/2010/main" val="8959158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10500000" cy="930000"/>
          </a:xfrm>
          <a:prstGeom prst="rect">
            <a:avLst/>
          </a:prstGeom>
          <a:noFill/>
        </p:spPr>
        <p:txBody>
          <a:bodyPr wrap="square" lIns="120000" tIns="50000" rIns="0" bIns="0">
            <a:spAutoFit/>
          </a:bodyPr>
          <a:lstStyle/>
          <a:p>
            <a:pPr algn="l"/>
            <a:r>
              <a:rPr sz="5200" b="1">
                <a:solidFill>
                  <a:srgbClr val="0F172A"/>
                </a:solidFill>
                <a:latin typeface="Georgia Pro Cond Light"/>
              </a:rPr>
              <a:t>P</a:t>
            </a:r>
            <a:r>
              <a:rPr sz="3600" b="1">
                <a:solidFill>
                  <a:srgbClr val="0F172A"/>
                </a:solidFill>
                <a:latin typeface="Georgia Pro Cond Light"/>
              </a:rPr>
              <a:t>roject</a:t>
            </a:r>
            <a:r>
              <a:rPr sz="5200" b="1">
                <a:solidFill>
                  <a:srgbClr val="0F172A"/>
                </a:solidFill>
                <a:latin typeface="Georgia Pro Cond Light"/>
              </a:rPr>
              <a:t> O</a:t>
            </a:r>
            <a:r>
              <a:rPr sz="3600" b="1">
                <a:solidFill>
                  <a:srgbClr val="0F172A"/>
                </a:solidFill>
                <a:latin typeface="Georgia Pro Cond Light"/>
              </a:rPr>
              <a:t>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31985"/>
            <a:ext cx="2479431" cy="25000"/>
          </a:xfrm>
          <a:prstGeom prst="rect">
            <a:avLst/>
          </a:prstGeom>
          <a:solidFill>
            <a:srgbClr val="243541"/>
          </a:solidFill>
          <a:ln>
            <a:solidFill>
              <a:srgbClr val="2435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224954"/>
            <a:ext cx="12192000" cy="633036"/>
          </a:xfrm>
          <a:prstGeom prst="rect">
            <a:avLst/>
          </a:prstGeom>
          <a:solidFill>
            <a:srgbClr val="243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104" y="6471688"/>
            <a:ext cx="334970" cy="33144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0000" y="6430000"/>
            <a:ext cx="2500000" cy="3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Georgia Pro Cond Light"/>
              </a:rPr>
              <a:t>CyberMind-AI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00000" y="6180000"/>
            <a:ext cx="800000" cy="6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4400" b="1">
                <a:solidFill>
                  <a:srgbClr val="FFFFFF"/>
                </a:solidFill>
                <a:latin typeface="Algerian"/>
              </a:rP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0000" y="1150000"/>
            <a:ext cx="11592000" cy="1100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0000" y="1200000"/>
            <a:ext cx="11292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0F172A"/>
                </a:solidFill>
                <a:latin typeface="Arial"/>
              </a:rPr>
              <a:t>CyberMind AI is an enterprise-grade AI-powered Cyber Threat Intelligence (CTI) and Malware Analysis Platform designed to consolidate multi-vector telemetry into a single pane of glass. The system integrates rule-based heuristics, 4 supervised machine learning classifiers, and generative AI explanations to produce a unified 0–100 cyber risk score and automated executive mitigation reports.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0000" y="2400000"/>
            <a:ext cx="2720000" cy="3650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0000" y="2550000"/>
            <a:ext cx="2420000" cy="650000"/>
          </a:xfrm>
          <a:prstGeom prst="round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8000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01 | 10 Specialized Scanners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000" y="3300000"/>
            <a:ext cx="2360000" cy="2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64748B"/>
                </a:solidFill>
                <a:latin typeface="Arial"/>
              </a:rPr>
              <a:t>MODULAR MULTI-VECTOR ENGINES</a:t>
            </a:r>
          </a:p>
          <a:p>
            <a:pPr>
              <a:spcBef>
                <a:spcPts val="800"/>
              </a:spcBef>
            </a:pPr>
            <a:r>
              <a:rPr sz="1150">
                <a:solidFill>
                  <a:srgbClr val="0F172A"/>
                </a:solidFill>
                <a:latin typeface="Arial"/>
              </a:rPr>
              <a:t>•  Full-spectrum threat surface coverage across Web, Network, Files, and Endpoints.</a:t>
            </a:r>
          </a:p>
          <a:p>
            <a:pPr>
              <a:spcBef>
                <a:spcPts val="800"/>
              </a:spcBef>
            </a:pPr>
            <a:r>
              <a:rPr sz="1150">
                <a:solidFill>
                  <a:srgbClr val="0F172A"/>
                </a:solidFill>
                <a:latin typeface="Arial"/>
              </a:rPr>
              <a:t>•  Dedicated modules for URL, Website, Domain, Email, IP, Phone, File/PE, and QR.</a:t>
            </a:r>
          </a:p>
          <a:p>
            <a:pPr>
              <a:spcBef>
                <a:spcPts val="800"/>
              </a:spcBef>
            </a:pPr>
            <a:r>
              <a:rPr sz="1150">
                <a:solidFill>
                  <a:srgbClr val="0F172A"/>
                </a:solidFill>
                <a:latin typeface="Arial"/>
              </a:rPr>
              <a:t>•  Universal Auto-Scanner with intelligent input type inference &amp; auto-dispatch.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57000" y="2400000"/>
            <a:ext cx="2720000" cy="3650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407000" y="2550000"/>
            <a:ext cx="2420000" cy="650000"/>
          </a:xfrm>
          <a:prstGeom prst="roundRect">
            <a:avLst/>
          </a:prstGeom>
          <a:solidFill>
            <a:srgbClr val="33B6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8000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02 | 30+ External TI APIs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37000" y="3300000"/>
            <a:ext cx="2360000" cy="2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64748B"/>
                </a:solidFill>
                <a:latin typeface="Arial"/>
              </a:rPr>
              <a:t>AGGREGATED THREAT INTELLIGENCE FEEDS</a:t>
            </a:r>
          </a:p>
          <a:p>
            <a:pPr>
              <a:spcBef>
                <a:spcPts val="800"/>
              </a:spcBef>
            </a:pPr>
            <a:r>
              <a:rPr sz="1150">
                <a:solidFill>
                  <a:srgbClr val="0F172A"/>
                </a:solidFill>
                <a:latin typeface="Arial"/>
              </a:rPr>
              <a:t>•  Real-time enrichment via VirusTotal, AbuseIPDB, Google Safe Browsing, &amp; Veriphone.</a:t>
            </a:r>
          </a:p>
          <a:p>
            <a:pPr>
              <a:spcBef>
                <a:spcPts val="800"/>
              </a:spcBef>
            </a:pPr>
            <a:r>
              <a:rPr sz="1150">
                <a:solidFill>
                  <a:srgbClr val="0F172A"/>
                </a:solidFill>
                <a:latin typeface="Arial"/>
              </a:rPr>
              <a:t>•  IPinfo &amp; IPQS for geolocation, ASN, proxy, and VPN/Tor exit-node detection.</a:t>
            </a:r>
          </a:p>
          <a:p>
            <a:pPr>
              <a:spcBef>
                <a:spcPts val="800"/>
              </a:spcBef>
            </a:pPr>
            <a:r>
              <a:rPr sz="1150">
                <a:solidFill>
                  <a:srgbClr val="0F172A"/>
                </a:solidFill>
                <a:latin typeface="Arial"/>
              </a:rPr>
              <a:t>•  Resilient services layer with asynchronous timeouts and heuristic fallback.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4000" y="2400000"/>
            <a:ext cx="2720000" cy="3650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64000" y="2550000"/>
            <a:ext cx="2420000" cy="650000"/>
          </a:xfrm>
          <a:prstGeom prst="roundRect">
            <a:avLst/>
          </a:prstGeom>
          <a:solidFill>
            <a:srgbClr val="243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8000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03 | Machine Learning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94000" y="3300000"/>
            <a:ext cx="2360000" cy="2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64748B"/>
                </a:solidFill>
                <a:latin typeface="Arial"/>
              </a:rPr>
              <a:t>SUPERVISED THREAT CLASSIFIERS</a:t>
            </a:r>
          </a:p>
          <a:p>
            <a:pPr>
              <a:spcBef>
                <a:spcPts val="800"/>
              </a:spcBef>
            </a:pPr>
            <a:r>
              <a:rPr sz="1150">
                <a:solidFill>
                  <a:srgbClr val="0F172A"/>
                </a:solidFill>
                <a:latin typeface="Arial"/>
              </a:rPr>
              <a:t>•  4 Scikit-Learn Random Forest models trained on over 240,000 security samples.</a:t>
            </a:r>
          </a:p>
          <a:p>
            <a:pPr>
              <a:spcBef>
                <a:spcPts val="800"/>
              </a:spcBef>
            </a:pPr>
            <a:r>
              <a:rPr sz="1150">
                <a:solidFill>
                  <a:srgbClr val="0F172A"/>
                </a:solidFill>
                <a:latin typeface="Arial"/>
              </a:rPr>
              <a:t>•  50 lexical and structural URL features extracted in real time for phishing.</a:t>
            </a:r>
          </a:p>
          <a:p>
            <a:pPr>
              <a:spcBef>
                <a:spcPts val="800"/>
              </a:spcBef>
            </a:pPr>
            <a:r>
              <a:rPr sz="1150">
                <a:solidFill>
                  <a:srgbClr val="0F172A"/>
                </a:solidFill>
                <a:latin typeface="Arial"/>
              </a:rPr>
              <a:t>•  PE header anomaly detection, section entropy, and hex signature analysis.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71000" y="2400000"/>
            <a:ext cx="2720000" cy="3650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321000" y="2550000"/>
            <a:ext cx="2420000" cy="6500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8000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04 | Generative AI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51000" y="3300000"/>
            <a:ext cx="2360000" cy="2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64748B"/>
                </a:solidFill>
                <a:latin typeface="Arial"/>
              </a:rPr>
              <a:t>GROQ LLAMA-3 70B SYNTHESIS</a:t>
            </a:r>
          </a:p>
          <a:p>
            <a:pPr>
              <a:spcBef>
                <a:spcPts val="800"/>
              </a:spcBef>
            </a:pPr>
            <a:r>
              <a:rPr sz="1150">
                <a:solidFill>
                  <a:srgbClr val="0F172A"/>
                </a:solidFill>
                <a:latin typeface="Arial"/>
              </a:rPr>
              <a:t>•  Translates complex JSON telemetry into concise 3-sentence executive summaries.</a:t>
            </a:r>
          </a:p>
          <a:p>
            <a:pPr>
              <a:spcBef>
                <a:spcPts val="800"/>
              </a:spcBef>
            </a:pPr>
            <a:r>
              <a:rPr sz="1150">
                <a:solidFill>
                  <a:srgbClr val="0F172A"/>
                </a:solidFill>
                <a:latin typeface="Arial"/>
              </a:rPr>
              <a:t>•  Tailored defensive recommendations for both analysts and executive leaders.</a:t>
            </a:r>
          </a:p>
          <a:p>
            <a:pPr>
              <a:spcBef>
                <a:spcPts val="800"/>
              </a:spcBef>
            </a:pPr>
            <a:r>
              <a:rPr sz="1150">
                <a:solidFill>
                  <a:srgbClr val="0F172A"/>
                </a:solidFill>
                <a:latin typeface="Arial"/>
              </a:rPr>
              <a:t>•  Rule-based advisory fallback ensures continuous intelligence even offline.</a:t>
            </a:r>
          </a:p>
        </p:txBody>
      </p:sp>
    </p:spTree>
    <p:extLst>
      <p:ext uri="{BB962C8B-B14F-4D97-AF65-F5344CB8AC3E}">
        <p14:creationId xmlns:p14="http://schemas.microsoft.com/office/powerpoint/2010/main" val="33279203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10500000" cy="930000"/>
          </a:xfrm>
          <a:prstGeom prst="rect">
            <a:avLst/>
          </a:prstGeom>
          <a:noFill/>
        </p:spPr>
        <p:txBody>
          <a:bodyPr wrap="square" lIns="120000" tIns="50000" rIns="0" bIns="0">
            <a:spAutoFit/>
          </a:bodyPr>
          <a:lstStyle/>
          <a:p>
            <a:pPr algn="l"/>
            <a:r>
              <a:rPr sz="5200" b="1">
                <a:solidFill>
                  <a:srgbClr val="0F172A"/>
                </a:solidFill>
                <a:latin typeface="Georgia Pro Cond Light"/>
              </a:rPr>
              <a:t>R</a:t>
            </a:r>
            <a:r>
              <a:rPr sz="3600" b="1">
                <a:solidFill>
                  <a:srgbClr val="0F172A"/>
                </a:solidFill>
                <a:latin typeface="Georgia Pro Cond Light"/>
              </a:rPr>
              <a:t>eview</a:t>
            </a:r>
            <a:r>
              <a:rPr sz="3600" b="1">
                <a:solidFill>
                  <a:srgbClr val="0F172A"/>
                </a:solidFill>
                <a:latin typeface="Georgia Pro Cond Light"/>
              </a:rPr>
              <a:t> 2</a:t>
            </a:r>
            <a:r>
              <a:rPr sz="3600" b="1">
                <a:solidFill>
                  <a:srgbClr val="0F172A"/>
                </a:solidFill>
                <a:latin typeface="Georgia Pro Cond Light"/>
              </a:rPr>
              <a:t> ➔</a:t>
            </a:r>
            <a:r>
              <a:rPr sz="5200" b="1">
                <a:solidFill>
                  <a:srgbClr val="0F172A"/>
                </a:solidFill>
                <a:latin typeface="Georgia Pro Cond Light"/>
              </a:rPr>
              <a:t> R</a:t>
            </a:r>
            <a:r>
              <a:rPr sz="3600" b="1">
                <a:solidFill>
                  <a:srgbClr val="0F172A"/>
                </a:solidFill>
                <a:latin typeface="Georgia Pro Cond Light"/>
              </a:rPr>
              <a:t>eview</a:t>
            </a:r>
            <a:r>
              <a:rPr sz="3600" b="1">
                <a:solidFill>
                  <a:srgbClr val="0F172A"/>
                </a:solidFill>
                <a:latin typeface="Georgia Pro Cond Light"/>
              </a:rPr>
              <a:t> 3</a:t>
            </a:r>
            <a:r>
              <a:rPr sz="5200" b="1">
                <a:solidFill>
                  <a:srgbClr val="0F172A"/>
                </a:solidFill>
                <a:latin typeface="Georgia Pro Cond Light"/>
              </a:rPr>
              <a:t> P</a:t>
            </a:r>
            <a:r>
              <a:rPr sz="3600" b="1">
                <a:solidFill>
                  <a:srgbClr val="0F172A"/>
                </a:solidFill>
                <a:latin typeface="Georgia Pro Cond Light"/>
              </a:rPr>
              <a:t>rogress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31985"/>
            <a:ext cx="2479431" cy="25000"/>
          </a:xfrm>
          <a:prstGeom prst="rect">
            <a:avLst/>
          </a:prstGeom>
          <a:solidFill>
            <a:srgbClr val="243541"/>
          </a:solidFill>
          <a:ln>
            <a:solidFill>
              <a:srgbClr val="2435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224954"/>
            <a:ext cx="12192000" cy="633036"/>
          </a:xfrm>
          <a:prstGeom prst="rect">
            <a:avLst/>
          </a:prstGeom>
          <a:solidFill>
            <a:srgbClr val="243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04" y="6471688"/>
            <a:ext cx="334970" cy="33144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0000" y="6430000"/>
            <a:ext cx="2500000" cy="3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Georgia Pro Cond Light"/>
              </a:rPr>
              <a:t>CyberMind-AI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00000" y="6180000"/>
            <a:ext cx="800000" cy="6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4400" b="1">
                <a:solidFill>
                  <a:srgbClr val="FFFFFF"/>
                </a:solidFill>
                <a:latin typeface="Algerian"/>
              </a:rP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0000" y="1150000"/>
            <a:ext cx="5600000" cy="4750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0000" y="1300000"/>
            <a:ext cx="5400000" cy="550000"/>
          </a:xfrm>
          <a:prstGeom prst="roundRect">
            <a:avLst/>
          </a:prstGeom>
          <a:solidFill>
            <a:srgbClr val="243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REVIEW 2 — SYSTEM DESIGN &amp; ARCHITECTURE (Completed)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0000" y="1930000"/>
            <a:ext cx="5300000" cy="38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F172A"/>
                </a:solidFill>
                <a:latin typeface="Arial"/>
              </a:rPr>
              <a:t>✔ Requirement Analysis &amp; Feasibility Study
</a:t>
            </a:r>
            <a:r>
              <a:rPr sz="1050">
                <a:solidFill>
                  <a:srgbClr val="64748B"/>
                </a:solidFill>
                <a:latin typeface="Arial"/>
              </a:rPr>
              <a:t>    Problem formulation, operational constraints, and multi-feed threat intelligence research.</a:t>
            </a:r>
          </a:p>
          <a:p>
            <a:pPr>
              <a:spcBef>
                <a:spcPts val="500"/>
              </a:spcBef>
            </a:pPr>
            <a:r>
              <a:rPr sz="1200" b="1">
                <a:solidFill>
                  <a:srgbClr val="0F172A"/>
                </a:solidFill>
                <a:latin typeface="Arial"/>
              </a:rPr>
              <a:t>✔ Decoupled 3-Tier System Architecture
</a:t>
            </a:r>
            <a:r>
              <a:rPr sz="1050">
                <a:solidFill>
                  <a:srgbClr val="64748B"/>
                </a:solidFill>
                <a:latin typeface="Arial"/>
              </a:rPr>
              <a:t>    Presentation, application services, and persistent database layers strictly decoupled.</a:t>
            </a:r>
          </a:p>
          <a:p>
            <a:pPr>
              <a:spcBef>
                <a:spcPts val="500"/>
              </a:spcBef>
            </a:pPr>
            <a:r>
              <a:rPr sz="1200" b="1">
                <a:solidFill>
                  <a:srgbClr val="0F172A"/>
                </a:solidFill>
                <a:latin typeface="Arial"/>
              </a:rPr>
              <a:t>✔ Data Flow Diagrams (DFD Level 0 &amp; Level 1)
</a:t>
            </a:r>
            <a:r>
              <a:rPr sz="1050">
                <a:solidFill>
                  <a:srgbClr val="64748B"/>
                </a:solidFill>
                <a:latin typeface="Arial"/>
              </a:rPr>
              <a:t>    Context diagram and 5 operational sub-processes mapping target processing workflows.</a:t>
            </a:r>
          </a:p>
          <a:p>
            <a:pPr>
              <a:spcBef>
                <a:spcPts val="500"/>
              </a:spcBef>
            </a:pPr>
            <a:r>
              <a:rPr sz="1200" b="1">
                <a:solidFill>
                  <a:srgbClr val="0F172A"/>
                </a:solidFill>
                <a:latin typeface="Arial"/>
              </a:rPr>
              <a:t>✔ Peter Chen Style ER Diagram (15 DB Tables)
</a:t>
            </a:r>
            <a:r>
              <a:rPr sz="1050">
                <a:solidFill>
                  <a:srgbClr val="64748B"/>
                </a:solidFill>
                <a:latin typeface="Arial"/>
              </a:rPr>
              <a:t>    Master scan history entity correlated with 10 scanner-specific detail tables.</a:t>
            </a:r>
          </a:p>
          <a:p>
            <a:pPr>
              <a:spcBef>
                <a:spcPts val="500"/>
              </a:spcBef>
            </a:pPr>
            <a:r>
              <a:rPr sz="1200" b="1">
                <a:solidFill>
                  <a:srgbClr val="0F172A"/>
                </a:solidFill>
                <a:latin typeface="Arial"/>
              </a:rPr>
              <a:t>✔ 4-Tier UML Class, Sequence &amp; Activity Diagrams
</a:t>
            </a:r>
            <a:r>
              <a:rPr sz="1050">
                <a:solidFill>
                  <a:srgbClr val="64748B"/>
                </a:solidFill>
                <a:latin typeface="Arial"/>
              </a:rPr>
              <a:t>    Static structure, dynamic call lifecycles, and parallel scanning activity models.</a:t>
            </a:r>
          </a:p>
          <a:p>
            <a:pPr>
              <a:spcBef>
                <a:spcPts val="500"/>
              </a:spcBef>
            </a:pPr>
            <a:r>
              <a:rPr sz="1200" b="1">
                <a:solidFill>
                  <a:srgbClr val="0F172A"/>
                </a:solidFill>
                <a:latin typeface="Arial"/>
              </a:rPr>
              <a:t>✔ Streamlit UI Prototype &amp; Component Wireframes
</a:t>
            </a:r>
            <a:r>
              <a:rPr sz="1050">
                <a:solidFill>
                  <a:srgbClr val="64748B"/>
                </a:solidFill>
                <a:latin typeface="Arial"/>
              </a:rPr>
              <a:t>    Initial navigation mockups and dark cybersecurity themed interface prototypes.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0000" y="1150000"/>
            <a:ext cx="5600000" cy="4750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50000" y="1300000"/>
            <a:ext cx="5400000" cy="550000"/>
          </a:xfrm>
          <a:prstGeom prst="roundRect">
            <a:avLst/>
          </a:prstGeom>
          <a:solidFill>
            <a:srgbClr val="33B6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REVIEW 3 — WORKING PROTOTYPE &amp; IMPLEMENTATION (Current)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0" y="1930000"/>
            <a:ext cx="5300000" cy="38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43541"/>
                </a:solidFill>
                <a:latin typeface="Arial"/>
              </a:rPr>
              <a:t>✔ 10/10 Core Scanner Modules Operational
</a:t>
            </a:r>
            <a:r>
              <a:rPr sz="1050">
                <a:solidFill>
                  <a:srgbClr val="0F172A"/>
                </a:solidFill>
                <a:latin typeface="Arial"/>
              </a:rPr>
              <a:t>    URL, Website, Domain, Email, IP, Phone, File/PE, QR, Device, &amp; Universal modules active.</a:t>
            </a:r>
          </a:p>
          <a:p>
            <a:pPr>
              <a:spcBef>
                <a:spcPts val="500"/>
              </a:spcBef>
            </a:pPr>
            <a:r>
              <a:rPr sz="1200" b="1">
                <a:solidFill>
                  <a:srgbClr val="243541"/>
                </a:solidFill>
                <a:latin typeface="Arial"/>
              </a:rPr>
              <a:t>✔ 30+ Threat Intelligence Services Layer
</a:t>
            </a:r>
            <a:r>
              <a:rPr sz="1050">
                <a:solidFill>
                  <a:srgbClr val="0F172A"/>
                </a:solidFill>
                <a:latin typeface="Arial"/>
              </a:rPr>
              <a:t>    Provider-agnostic connectors querying VirusTotal, AbuseIPDB, Veriphone, Google Safe Browsing.</a:t>
            </a:r>
          </a:p>
          <a:p>
            <a:pPr>
              <a:spcBef>
                <a:spcPts val="500"/>
              </a:spcBef>
            </a:pPr>
            <a:r>
              <a:rPr sz="1200" b="1">
                <a:solidFill>
                  <a:srgbClr val="243541"/>
                </a:solidFill>
                <a:latin typeface="Arial"/>
              </a:rPr>
              <a:t>✔ 4 Supervised ML Models Trained &amp; Deployed
</a:t>
            </a:r>
            <a:r>
              <a:rPr sz="1050">
                <a:solidFill>
                  <a:srgbClr val="0F172A"/>
                </a:solidFill>
                <a:latin typeface="Arial"/>
              </a:rPr>
              <a:t>    Random Forest models achieving 92.32% CV accuracy for phishing, malware, &amp; breaches.</a:t>
            </a:r>
          </a:p>
          <a:p>
            <a:pPr>
              <a:spcBef>
                <a:spcPts val="500"/>
              </a:spcBef>
            </a:pPr>
            <a:r>
              <a:rPr sz="1200" b="1">
                <a:solidFill>
                  <a:srgbClr val="243541"/>
                </a:solidFill>
                <a:latin typeface="Arial"/>
              </a:rPr>
              <a:t>✔ Multi-Factor 0–100 Unified Risk Engine
</a:t>
            </a:r>
            <a:r>
              <a:rPr sz="1050">
                <a:solidFill>
                  <a:srgbClr val="0F172A"/>
                </a:solidFill>
                <a:latin typeface="Arial"/>
              </a:rPr>
              <a:t>    Mathematical weighted risk scoring with 5 severity bands and critical override triggers.</a:t>
            </a:r>
          </a:p>
          <a:p>
            <a:pPr>
              <a:spcBef>
                <a:spcPts val="500"/>
              </a:spcBef>
            </a:pPr>
            <a:r>
              <a:rPr sz="1200" b="1">
                <a:solidFill>
                  <a:srgbClr val="243541"/>
                </a:solidFill>
                <a:latin typeface="Arial"/>
              </a:rPr>
              <a:t>✔ SQLite Database Telemetry Implementation
</a:t>
            </a:r>
            <a:r>
              <a:rPr sz="1050">
                <a:solidFill>
                  <a:srgbClr val="0F172A"/>
                </a:solidFill>
                <a:latin typeface="Arial"/>
              </a:rPr>
              <a:t>    Live persistence across 15 relational tables with 114+ real scan logs recorded in cybermind.db.</a:t>
            </a:r>
          </a:p>
          <a:p>
            <a:pPr>
              <a:spcBef>
                <a:spcPts val="500"/>
              </a:spcBef>
            </a:pPr>
            <a:r>
              <a:rPr sz="1200" b="1">
                <a:solidFill>
                  <a:srgbClr val="243541"/>
                </a:solidFill>
                <a:latin typeface="Arial"/>
              </a:rPr>
              <a:t>✔ Interactive Streamlit Dashboard &amp; Testing
</a:t>
            </a:r>
            <a:r>
              <a:rPr sz="1050">
                <a:solidFill>
                  <a:srgbClr val="0F172A"/>
                </a:solidFill>
                <a:latin typeface="Arial"/>
              </a:rPr>
              <a:t>    Production UI with 156 automated Pytest test cases passing (100% pass rate) and 12 bug fixes.</a:t>
            </a:r>
          </a:p>
        </p:txBody>
      </p:sp>
    </p:spTree>
    <p:extLst>
      <p:ext uri="{BB962C8B-B14F-4D97-AF65-F5344CB8AC3E}">
        <p14:creationId xmlns:p14="http://schemas.microsoft.com/office/powerpoint/2010/main" val="40641750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10500000" cy="930000"/>
          </a:xfrm>
          <a:prstGeom prst="rect">
            <a:avLst/>
          </a:prstGeom>
          <a:noFill/>
        </p:spPr>
        <p:txBody>
          <a:bodyPr wrap="square" lIns="120000" tIns="50000" rIns="0" bIns="0">
            <a:spAutoFit/>
          </a:bodyPr>
          <a:lstStyle/>
          <a:p>
            <a:pPr algn="l"/>
            <a:r>
              <a:rPr sz="5200" b="1">
                <a:solidFill>
                  <a:srgbClr val="0F172A"/>
                </a:solidFill>
                <a:latin typeface="Georgia Pro Cond Light"/>
              </a:rPr>
              <a:t>I</a:t>
            </a:r>
            <a:r>
              <a:rPr sz="3600" b="1">
                <a:solidFill>
                  <a:srgbClr val="0F172A"/>
                </a:solidFill>
                <a:latin typeface="Georgia Pro Cond Light"/>
              </a:rPr>
              <a:t>mplemented</a:t>
            </a:r>
            <a:r>
              <a:rPr sz="5200" b="1">
                <a:solidFill>
                  <a:srgbClr val="0F172A"/>
                </a:solidFill>
                <a:latin typeface="Georgia Pro Cond Light"/>
              </a:rPr>
              <a:t> S</a:t>
            </a:r>
            <a:r>
              <a:rPr sz="3600" b="1">
                <a:solidFill>
                  <a:srgbClr val="0F172A"/>
                </a:solidFill>
                <a:latin typeface="Georgia Pro Cond Light"/>
              </a:rPr>
              <a:t>ystem</a:t>
            </a:r>
            <a:r>
              <a:rPr sz="5200" b="1">
                <a:solidFill>
                  <a:srgbClr val="0F172A"/>
                </a:solidFill>
                <a:latin typeface="Georgia Pro Cond Light"/>
              </a:rPr>
              <a:t> A</a:t>
            </a:r>
            <a:r>
              <a:rPr sz="3600" b="1">
                <a:solidFill>
                  <a:srgbClr val="0F172A"/>
                </a:solidFill>
                <a:latin typeface="Georgia Pro Cond Light"/>
              </a:rPr>
              <a:t>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31985"/>
            <a:ext cx="2479431" cy="25000"/>
          </a:xfrm>
          <a:prstGeom prst="rect">
            <a:avLst/>
          </a:prstGeom>
          <a:solidFill>
            <a:srgbClr val="243541"/>
          </a:solidFill>
          <a:ln>
            <a:solidFill>
              <a:srgbClr val="2435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224954"/>
            <a:ext cx="12192000" cy="633036"/>
          </a:xfrm>
          <a:prstGeom prst="rect">
            <a:avLst/>
          </a:prstGeom>
          <a:solidFill>
            <a:srgbClr val="243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04" y="6471688"/>
            <a:ext cx="334970" cy="33144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0000" y="6430000"/>
            <a:ext cx="2500000" cy="3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Georgia Pro Cond Light"/>
              </a:rPr>
              <a:t>CyberMind-AI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00000" y="6180000"/>
            <a:ext cx="800000" cy="6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4400" b="1">
                <a:solidFill>
                  <a:srgbClr val="FFFFFF"/>
                </a:solidFill>
                <a:latin typeface="Algerian"/>
              </a:rP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0000" y="1150000"/>
            <a:ext cx="6800000" cy="4850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50000" y="1300000"/>
            <a:ext cx="6300000" cy="42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0000" lIns="100000"/>
          <a:lstStyle/>
          <a:p>
            <a:pPr algn="ctr"/>
            <a:r>
              <a:rPr sz="1200" b="1">
                <a:solidFill>
                  <a:srgbClr val="2980B9"/>
                </a:solidFill>
                <a:latin typeface="Arial"/>
              </a:rPr>
              <a:t>1. Analyst Target Input: </a:t>
            </a:r>
            <a:r>
              <a:rPr sz="1100">
                <a:solidFill>
                  <a:srgbClr val="0F172A"/>
                </a:solidFill>
                <a:latin typeface="Arial"/>
              </a:rPr>
              <a:t>URL, Domain, IP, Email, Phone, File, or QR code submitted via Dashboard</a:t>
            </a:r>
          </a:p>
        </p:txBody>
      </p:sp>
      <p:sp>
        <p:nvSpPr>
          <p:cNvPr id="10" name="Down Arrow 9"/>
          <p:cNvSpPr/>
          <p:nvPr/>
        </p:nvSpPr>
        <p:spPr>
          <a:xfrm>
            <a:off x="3600000" y="1740000"/>
            <a:ext cx="180000" cy="150000"/>
          </a:xfrm>
          <a:prstGeom prst="downArrow">
            <a:avLst/>
          </a:prstGeom>
          <a:solidFill>
            <a:srgbClr val="243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50000" y="1910000"/>
            <a:ext cx="6300000" cy="42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435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0000" lIns="100000"/>
          <a:lstStyle/>
          <a:p>
            <a:pPr algn="ctr"/>
            <a:r>
              <a:rPr sz="1200" b="1">
                <a:solidFill>
                  <a:srgbClr val="243541"/>
                </a:solidFill>
                <a:latin typeface="Arial"/>
              </a:rPr>
              <a:t>2. Input Validation &amp; Sanitization: </a:t>
            </a:r>
            <a:r>
              <a:rPr sz="1100">
                <a:solidFill>
                  <a:srgbClr val="0F172A"/>
                </a:solidFill>
                <a:latin typeface="Arial"/>
              </a:rPr>
              <a:t>core/validator.py validates schemas, regex patterns, and type boundaries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3600000" y="2350000"/>
            <a:ext cx="180000" cy="150000"/>
          </a:xfrm>
          <a:prstGeom prst="downArrow">
            <a:avLst/>
          </a:prstGeom>
          <a:solidFill>
            <a:srgbClr val="243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50000" y="2520000"/>
            <a:ext cx="6300000" cy="42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435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0000" lIns="100000"/>
          <a:lstStyle/>
          <a:p>
            <a:pPr algn="ctr"/>
            <a:r>
              <a:rPr sz="1200" b="1">
                <a:solidFill>
                  <a:srgbClr val="243541"/>
                </a:solidFill>
                <a:latin typeface="Arial"/>
              </a:rPr>
              <a:t>3. Scanner Engine &amp; Router: </a:t>
            </a:r>
            <a:r>
              <a:rPr sz="1100">
                <a:solidFill>
                  <a:srgbClr val="0F172A"/>
                </a:solidFill>
                <a:latin typeface="Arial"/>
              </a:rPr>
              <a:t>modules/scanner_engine.py routes sanitized target to specialized scanner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3600000" y="2960000"/>
            <a:ext cx="180000" cy="150000"/>
          </a:xfrm>
          <a:prstGeom prst="downArrow">
            <a:avLst/>
          </a:prstGeom>
          <a:solidFill>
            <a:srgbClr val="243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50000" y="3130000"/>
            <a:ext cx="6300000" cy="42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3B6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0000" lIns="100000"/>
          <a:lstStyle/>
          <a:p>
            <a:pPr algn="ctr"/>
            <a:r>
              <a:rPr sz="1200" b="1">
                <a:solidFill>
                  <a:srgbClr val="33B67D"/>
                </a:solidFill>
                <a:latin typeface="Arial"/>
              </a:rPr>
              <a:t>4. Threat Intelligence + ML Inference: </a:t>
            </a:r>
            <a:r>
              <a:rPr sz="1100">
                <a:solidFill>
                  <a:srgbClr val="0F172A"/>
                </a:solidFill>
                <a:latin typeface="Arial"/>
              </a:rPr>
              <a:t>Parallel execution of 30+ TI APIs (services/) and Random Forest classifiers (ml/)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3600000" y="3570000"/>
            <a:ext cx="180000" cy="150000"/>
          </a:xfrm>
          <a:prstGeom prst="downArrow">
            <a:avLst/>
          </a:prstGeom>
          <a:solidFill>
            <a:srgbClr val="243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50000" y="3740000"/>
            <a:ext cx="6300000" cy="42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0000" lIns="100000"/>
          <a:lstStyle/>
          <a:p>
            <a:pPr algn="ctr"/>
            <a:r>
              <a:rPr sz="1200" b="1">
                <a:solidFill>
                  <a:srgbClr val="F59E0B"/>
                </a:solidFill>
                <a:latin typeface="Arial"/>
              </a:rPr>
              <a:t>5. Unified Risk Engine: </a:t>
            </a:r>
            <a:r>
              <a:rPr sz="1100">
                <a:solidFill>
                  <a:srgbClr val="0F172A"/>
                </a:solidFill>
                <a:latin typeface="Arial"/>
              </a:rPr>
              <a:t>modules/risk_engine.py aggregates multi-source scores into a 0–100 risk score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3600000" y="4180000"/>
            <a:ext cx="180000" cy="150000"/>
          </a:xfrm>
          <a:prstGeom prst="downArrow">
            <a:avLst/>
          </a:prstGeom>
          <a:solidFill>
            <a:srgbClr val="243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50000" y="4350000"/>
            <a:ext cx="6300000" cy="42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435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0000" lIns="100000"/>
          <a:lstStyle/>
          <a:p>
            <a:pPr algn="ctr"/>
            <a:r>
              <a:rPr sz="1200" b="1">
                <a:solidFill>
                  <a:srgbClr val="243541"/>
                </a:solidFill>
                <a:latin typeface="Arial"/>
              </a:rPr>
              <a:t>6. Groq Llama-3 Generative AI: </a:t>
            </a:r>
            <a:r>
              <a:rPr sz="1100">
                <a:solidFill>
                  <a:srgbClr val="0F172A"/>
                </a:solidFill>
                <a:latin typeface="Arial"/>
              </a:rPr>
              <a:t>modules/ai_assistant.py generates plain-English summary and mitigation steps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3600000" y="4790000"/>
            <a:ext cx="180000" cy="150000"/>
          </a:xfrm>
          <a:prstGeom prst="downArrow">
            <a:avLst/>
          </a:prstGeom>
          <a:solidFill>
            <a:srgbClr val="243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50000" y="4960000"/>
            <a:ext cx="6300000" cy="42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0000" lIns="100000"/>
          <a:lstStyle/>
          <a:p>
            <a:pPr algn="ctr"/>
            <a:r>
              <a:rPr sz="1200" b="1">
                <a:solidFill>
                  <a:srgbClr val="22C55E"/>
                </a:solidFill>
                <a:latin typeface="Arial"/>
              </a:rPr>
              <a:t>7. SQLite Persistence &amp; Streamlit UI: </a:t>
            </a:r>
            <a:r>
              <a:rPr sz="1100">
                <a:solidFill>
                  <a:srgbClr val="0F172A"/>
                </a:solidFill>
                <a:latin typeface="Arial"/>
              </a:rPr>
              <a:t>Persisted in database/cybermind.db &amp; visualized in Streamlit + PDF reports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00000" y="1150000"/>
            <a:ext cx="4550000" cy="4850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00000" y="1300000"/>
            <a:ext cx="4150000" cy="4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43541"/>
                </a:solidFill>
                <a:latin typeface="Arial"/>
              </a:rPr>
              <a:t>✔ Decoupled 3-Tier Architecture
</a:t>
            </a:r>
            <a:r>
              <a:rPr sz="1050">
                <a:solidFill>
                  <a:srgbClr val="0F172A"/>
                </a:solidFill>
                <a:latin typeface="Arial"/>
              </a:rPr>
              <a:t>Presentation (Streamlit), Application (Services/Modules/ML), and Data (SQLite) layers are strictly decoupled for maintainability and independent testing.</a:t>
            </a:r>
          </a:p>
          <a:p>
            <a:pPr>
              <a:spcBef>
                <a:spcPts val="800"/>
              </a:spcBef>
            </a:pPr>
            <a:r>
              <a:rPr sz="1200" b="1">
                <a:solidFill>
                  <a:srgbClr val="243541"/>
                </a:solidFill>
                <a:latin typeface="Arial"/>
              </a:rPr>
              <a:t>✔ Provider-Agnostic Services Layer
</a:t>
            </a:r>
            <a:r>
              <a:rPr sz="1050">
                <a:solidFill>
                  <a:srgbClr val="0F172A"/>
                </a:solidFill>
                <a:latin typeface="Arial"/>
              </a:rPr>
              <a:t>External APIs are queried exclusively through modular adapters in services/, ensuring core scanner logic remains vendor-independent.</a:t>
            </a:r>
          </a:p>
          <a:p>
            <a:pPr>
              <a:spcBef>
                <a:spcPts val="800"/>
              </a:spcBef>
            </a:pPr>
            <a:r>
              <a:rPr sz="1200" b="1">
                <a:solidFill>
                  <a:srgbClr val="243541"/>
                </a:solidFill>
                <a:latin typeface="Arial"/>
              </a:rPr>
              <a:t>✔ Hybrid Machine Learning + Generative AI
</a:t>
            </a:r>
            <a:r>
              <a:rPr sz="1050">
                <a:solidFill>
                  <a:srgbClr val="0F172A"/>
                </a:solidFill>
                <a:latin typeface="Arial"/>
              </a:rPr>
              <a:t>Combines high-speed supervised Random Forest models for anomaly classification with Groq Llama-3 70B for explainable contextual intelligence.</a:t>
            </a:r>
          </a:p>
          <a:p>
            <a:pPr>
              <a:spcBef>
                <a:spcPts val="800"/>
              </a:spcBef>
            </a:pPr>
            <a:r>
              <a:rPr sz="1200" b="1">
                <a:solidFill>
                  <a:srgbClr val="243541"/>
                </a:solidFill>
                <a:latin typeface="Arial"/>
              </a:rPr>
              <a:t>✔ Centralized Telemetry &amp; Indexing
</a:t>
            </a:r>
            <a:r>
              <a:rPr sz="1050">
                <a:solidFill>
                  <a:srgbClr val="0F172A"/>
                </a:solidFill>
                <a:latin typeface="Arial"/>
              </a:rPr>
              <a:t>Every scan event, API response latency, and detection flag is logged in SQLite with 11 performance indexes ensuring sub-second lookups.</a:t>
            </a:r>
          </a:p>
          <a:p>
            <a:pPr>
              <a:spcBef>
                <a:spcPts val="800"/>
              </a:spcBef>
            </a:pPr>
            <a:r>
              <a:rPr sz="1200" b="1">
                <a:solidFill>
                  <a:srgbClr val="243541"/>
                </a:solidFill>
                <a:latin typeface="Arial"/>
              </a:rPr>
              <a:t>✔ Automated Offline Fallbacks
</a:t>
            </a:r>
            <a:r>
              <a:rPr sz="1050">
                <a:solidFill>
                  <a:srgbClr val="0F172A"/>
                </a:solidFill>
                <a:latin typeface="Arial"/>
              </a:rPr>
              <a:t>Every external service dependency implements graceful local heuristic fallbacks to guarantee platform uptime during network outages.</a:t>
            </a:r>
          </a:p>
        </p:txBody>
      </p:sp>
    </p:spTree>
    <p:extLst>
      <p:ext uri="{BB962C8B-B14F-4D97-AF65-F5344CB8AC3E}">
        <p14:creationId xmlns:p14="http://schemas.microsoft.com/office/powerpoint/2010/main" val="2964457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10500000" cy="930000"/>
          </a:xfrm>
          <a:prstGeom prst="rect">
            <a:avLst/>
          </a:prstGeom>
          <a:noFill/>
        </p:spPr>
        <p:txBody>
          <a:bodyPr wrap="square" lIns="120000" tIns="50000" rIns="0" bIns="0">
            <a:spAutoFit/>
          </a:bodyPr>
          <a:lstStyle/>
          <a:p>
            <a:pPr algn="l"/>
            <a:r>
              <a:rPr sz="5200" b="1">
                <a:solidFill>
                  <a:srgbClr val="0F172A"/>
                </a:solidFill>
                <a:latin typeface="Georgia Pro Cond Light"/>
              </a:rPr>
              <a:t>I</a:t>
            </a:r>
            <a:r>
              <a:rPr sz="3600" b="1">
                <a:solidFill>
                  <a:srgbClr val="0F172A"/>
                </a:solidFill>
                <a:latin typeface="Georgia Pro Cond Light"/>
              </a:rPr>
              <a:t>mplemented</a:t>
            </a:r>
            <a:r>
              <a:rPr sz="5200" b="1">
                <a:solidFill>
                  <a:srgbClr val="0F172A"/>
                </a:solidFill>
                <a:latin typeface="Georgia Pro Cond Light"/>
              </a:rPr>
              <a:t> S</a:t>
            </a:r>
            <a:r>
              <a:rPr sz="3600" b="1">
                <a:solidFill>
                  <a:srgbClr val="0F172A"/>
                </a:solidFill>
                <a:latin typeface="Georgia Pro Cond Light"/>
              </a:rPr>
              <a:t>canner</a:t>
            </a:r>
            <a:r>
              <a:rPr sz="5200" b="1">
                <a:solidFill>
                  <a:srgbClr val="0F172A"/>
                </a:solidFill>
                <a:latin typeface="Georgia Pro Cond Light"/>
              </a:rPr>
              <a:t> M</a:t>
            </a:r>
            <a:r>
              <a:rPr sz="3600" b="1">
                <a:solidFill>
                  <a:srgbClr val="0F172A"/>
                </a:solidFill>
                <a:latin typeface="Georgia Pro Cond Light"/>
              </a:rPr>
              <a:t>odules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31985"/>
            <a:ext cx="2479431" cy="25000"/>
          </a:xfrm>
          <a:prstGeom prst="rect">
            <a:avLst/>
          </a:prstGeom>
          <a:solidFill>
            <a:srgbClr val="243541"/>
          </a:solidFill>
          <a:ln>
            <a:solidFill>
              <a:srgbClr val="2435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224954"/>
            <a:ext cx="12192000" cy="633036"/>
          </a:xfrm>
          <a:prstGeom prst="rect">
            <a:avLst/>
          </a:prstGeom>
          <a:solidFill>
            <a:srgbClr val="243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04" y="6471688"/>
            <a:ext cx="334970" cy="33144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0000" y="6430000"/>
            <a:ext cx="2500000" cy="3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Georgia Pro Cond Light"/>
              </a:rPr>
              <a:t>CyberMind-AI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00000" y="6180000"/>
            <a:ext cx="800000" cy="6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4400" b="1">
                <a:solidFill>
                  <a:srgbClr val="FFFFFF"/>
                </a:solidFill>
                <a:latin typeface="Algerian"/>
              </a:rP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0000" y="1150000"/>
            <a:ext cx="5600000" cy="860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0000" y="1190000"/>
            <a:ext cx="5360000" cy="7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980B9"/>
                </a:solidFill>
                <a:latin typeface="Arial"/>
              </a:rPr>
              <a:t>01. </a:t>
            </a:r>
            <a:r>
              <a:rPr sz="1300" b="1">
                <a:solidFill>
                  <a:srgbClr val="0F172A"/>
                </a:solidFill>
                <a:latin typeface="Arial"/>
              </a:rPr>
              <a:t>URL Scanner</a:t>
            </a:r>
            <a:r>
              <a:rPr sz="1100" b="1">
                <a:solidFill>
                  <a:srgbClr val="22C55E"/>
                </a:solidFill>
                <a:latin typeface="Arial"/>
              </a:rPr>
              <a:t>  [✔ Operational]</a:t>
            </a:r>
          </a:p>
          <a:p>
            <a:r>
              <a:rPr sz="1050">
                <a:solidFill>
                  <a:srgbClr val="243541"/>
                </a:solidFill>
                <a:latin typeface="Arial"/>
              </a:rPr>
              <a:t>Phishing detection, lexical feature extraction, suspicious keyword entropy, and redirect trace.</a:t>
            </a:r>
          </a:p>
          <a:p>
            <a:r>
              <a:rPr sz="950" i="1">
                <a:solidFill>
                  <a:srgbClr val="64748B"/>
                </a:solidFill>
                <a:latin typeface="Arial"/>
              </a:rPr>
              <a:t>Code: modules/url_scanner.py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0000" y="2120000"/>
            <a:ext cx="5600000" cy="860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000" y="2160000"/>
            <a:ext cx="5360000" cy="7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980B9"/>
                </a:solidFill>
                <a:latin typeface="Arial"/>
              </a:rPr>
              <a:t>02. </a:t>
            </a:r>
            <a:r>
              <a:rPr sz="1300" b="1">
                <a:solidFill>
                  <a:srgbClr val="0F172A"/>
                </a:solidFill>
                <a:latin typeface="Arial"/>
              </a:rPr>
              <a:t>Website Security Scanner</a:t>
            </a:r>
            <a:r>
              <a:rPr sz="1100" b="1">
                <a:solidFill>
                  <a:srgbClr val="22C55E"/>
                </a:solidFill>
                <a:latin typeface="Arial"/>
              </a:rPr>
              <a:t>  [✔ Operational]</a:t>
            </a:r>
          </a:p>
          <a:p>
            <a:r>
              <a:rPr sz="1050">
                <a:solidFill>
                  <a:srgbClr val="243541"/>
                </a:solidFill>
                <a:latin typeface="Arial"/>
              </a:rPr>
              <a:t>SSL/TLS certificate verification, cipher audit, security headers (CSP/HSTS), and tech stack.</a:t>
            </a:r>
          </a:p>
          <a:p>
            <a:r>
              <a:rPr sz="950" i="1">
                <a:solidFill>
                  <a:srgbClr val="64748B"/>
                </a:solidFill>
                <a:latin typeface="Arial"/>
              </a:rPr>
              <a:t>Code: modules/website_scanner.py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0000" y="3090000"/>
            <a:ext cx="5600000" cy="860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0000" y="3130000"/>
            <a:ext cx="5360000" cy="7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980B9"/>
                </a:solidFill>
                <a:latin typeface="Arial"/>
              </a:rPr>
              <a:t>03. </a:t>
            </a:r>
            <a:r>
              <a:rPr sz="1300" b="1">
                <a:solidFill>
                  <a:srgbClr val="0F172A"/>
                </a:solidFill>
                <a:latin typeface="Arial"/>
              </a:rPr>
              <a:t>Domain WHOIS Scanner</a:t>
            </a:r>
            <a:r>
              <a:rPr sz="1100" b="1">
                <a:solidFill>
                  <a:srgbClr val="22C55E"/>
                </a:solidFill>
                <a:latin typeface="Arial"/>
              </a:rPr>
              <a:t>  [✔ Operational]</a:t>
            </a:r>
          </a:p>
          <a:p>
            <a:r>
              <a:rPr sz="1050">
                <a:solidFill>
                  <a:srgbClr val="243541"/>
                </a:solidFill>
                <a:latin typeface="Arial"/>
              </a:rPr>
              <a:t>Registrar lookup, domain creation/expiration age, DNSSEC verification, and nameserver audit.</a:t>
            </a:r>
          </a:p>
          <a:p>
            <a:r>
              <a:rPr sz="950" i="1">
                <a:solidFill>
                  <a:srgbClr val="64748B"/>
                </a:solidFill>
                <a:latin typeface="Arial"/>
              </a:rPr>
              <a:t>Code: modules/domain_scanner.py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0000" y="4060000"/>
            <a:ext cx="5600000" cy="860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0000" y="4100000"/>
            <a:ext cx="5360000" cy="7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980B9"/>
                </a:solidFill>
                <a:latin typeface="Arial"/>
              </a:rPr>
              <a:t>04. </a:t>
            </a:r>
            <a:r>
              <a:rPr sz="1300" b="1">
                <a:solidFill>
                  <a:srgbClr val="0F172A"/>
                </a:solidFill>
                <a:latin typeface="Arial"/>
              </a:rPr>
              <a:t>Email Deliverability Scanner</a:t>
            </a:r>
            <a:r>
              <a:rPr sz="1100" b="1">
                <a:solidFill>
                  <a:srgbClr val="22C55E"/>
                </a:solidFill>
                <a:latin typeface="Arial"/>
              </a:rPr>
              <a:t>  [✔ Operational]</a:t>
            </a:r>
          </a:p>
          <a:p>
            <a:r>
              <a:rPr sz="1050">
                <a:solidFill>
                  <a:srgbClr val="243541"/>
                </a:solidFill>
                <a:latin typeface="Arial"/>
              </a:rPr>
              <a:t>SPF, DKIM, DMARC record checks, MX host resolution, and disposable email domain filtering.</a:t>
            </a:r>
          </a:p>
          <a:p>
            <a:r>
              <a:rPr sz="950" i="1">
                <a:solidFill>
                  <a:srgbClr val="64748B"/>
                </a:solidFill>
                <a:latin typeface="Arial"/>
              </a:rPr>
              <a:t>Code: modules/email_scanner.py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50000" y="5030000"/>
            <a:ext cx="5600000" cy="860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0000" y="5070000"/>
            <a:ext cx="5360000" cy="7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980B9"/>
                </a:solidFill>
                <a:latin typeface="Arial"/>
              </a:rPr>
              <a:t>05. </a:t>
            </a:r>
            <a:r>
              <a:rPr sz="1300" b="1">
                <a:solidFill>
                  <a:srgbClr val="0F172A"/>
                </a:solidFill>
                <a:latin typeface="Arial"/>
              </a:rPr>
              <a:t>IP Address &amp; Abuse Scanner</a:t>
            </a:r>
            <a:r>
              <a:rPr sz="1100" b="1">
                <a:solidFill>
                  <a:srgbClr val="22C55E"/>
                </a:solidFill>
                <a:latin typeface="Arial"/>
              </a:rPr>
              <a:t>  [✔ Operational]</a:t>
            </a:r>
          </a:p>
          <a:p>
            <a:r>
              <a:rPr sz="1050">
                <a:solidFill>
                  <a:srgbClr val="243541"/>
                </a:solidFill>
                <a:latin typeface="Arial"/>
              </a:rPr>
              <a:t>AbuseIPDB reputation scoring, IPinfo geolocation, ASN lookup, and Tor exit-node detection.</a:t>
            </a:r>
          </a:p>
          <a:p>
            <a:r>
              <a:rPr sz="950" i="1">
                <a:solidFill>
                  <a:srgbClr val="64748B"/>
                </a:solidFill>
                <a:latin typeface="Arial"/>
              </a:rPr>
              <a:t>Code: modules/ip_scanner.py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50000" y="1150000"/>
            <a:ext cx="5600000" cy="860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70000" y="1190000"/>
            <a:ext cx="5360000" cy="7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980B9"/>
                </a:solidFill>
                <a:latin typeface="Arial"/>
              </a:rPr>
              <a:t>06. </a:t>
            </a:r>
            <a:r>
              <a:rPr sz="1300" b="1">
                <a:solidFill>
                  <a:srgbClr val="0F172A"/>
                </a:solidFill>
                <a:latin typeface="Arial"/>
              </a:rPr>
              <a:t>Phone Threat Intelligence</a:t>
            </a:r>
            <a:r>
              <a:rPr sz="1100" b="1">
                <a:solidFill>
                  <a:srgbClr val="22C55E"/>
                </a:solidFill>
                <a:latin typeface="Arial"/>
              </a:rPr>
              <a:t>  [✔ Operational]</a:t>
            </a:r>
          </a:p>
          <a:p>
            <a:r>
              <a:rPr sz="1050">
                <a:solidFill>
                  <a:srgbClr val="243541"/>
                </a:solidFill>
                <a:latin typeface="Arial"/>
              </a:rPr>
              <a:t>Veriphone API carrier identification, line type validation, international E.164 formatting.</a:t>
            </a:r>
          </a:p>
          <a:p>
            <a:r>
              <a:rPr sz="950" i="1">
                <a:solidFill>
                  <a:srgbClr val="64748B"/>
                </a:solidFill>
                <a:latin typeface="Arial"/>
              </a:rPr>
              <a:t>Code: modules/phone_scanner.py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50000" y="2120000"/>
            <a:ext cx="5600000" cy="860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0000" y="2160000"/>
            <a:ext cx="5360000" cy="7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980B9"/>
                </a:solidFill>
                <a:latin typeface="Arial"/>
              </a:rPr>
              <a:t>07. </a:t>
            </a:r>
            <a:r>
              <a:rPr sz="1300" b="1">
                <a:solidFill>
                  <a:srgbClr val="0F172A"/>
                </a:solidFill>
                <a:latin typeface="Arial"/>
              </a:rPr>
              <a:t>File &amp; PE Malware Scanner</a:t>
            </a:r>
            <a:r>
              <a:rPr sz="1100" b="1">
                <a:solidFill>
                  <a:srgbClr val="22C55E"/>
                </a:solidFill>
                <a:latin typeface="Arial"/>
              </a:rPr>
              <a:t>  [✔ Operational]</a:t>
            </a:r>
          </a:p>
          <a:p>
            <a:r>
              <a:rPr sz="1050">
                <a:solidFill>
                  <a:srgbClr val="243541"/>
                </a:solidFill>
                <a:latin typeface="Arial"/>
              </a:rPr>
              <a:t>MD5/SHA-256 hash lookup, section entropy calculation, PE header parsing, and hex signatures.</a:t>
            </a:r>
          </a:p>
          <a:p>
            <a:r>
              <a:rPr sz="950" i="1">
                <a:solidFill>
                  <a:srgbClr val="64748B"/>
                </a:solidFill>
                <a:latin typeface="Arial"/>
              </a:rPr>
              <a:t>Code: modules/file_scanner.py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50000" y="3090000"/>
            <a:ext cx="5600000" cy="860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70000" y="3130000"/>
            <a:ext cx="5360000" cy="7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980B9"/>
                </a:solidFill>
                <a:latin typeface="Arial"/>
              </a:rPr>
              <a:t>08. </a:t>
            </a:r>
            <a:r>
              <a:rPr sz="1300" b="1">
                <a:solidFill>
                  <a:srgbClr val="0F172A"/>
                </a:solidFill>
                <a:latin typeface="Arial"/>
              </a:rPr>
              <a:t>QR &amp; Payment Fraud Scanner</a:t>
            </a:r>
            <a:r>
              <a:rPr sz="1100" b="1">
                <a:solidFill>
                  <a:srgbClr val="22C55E"/>
                </a:solidFill>
                <a:latin typeface="Arial"/>
              </a:rPr>
              <a:t>  [✔ Operational]</a:t>
            </a:r>
          </a:p>
          <a:p>
            <a:r>
              <a:rPr sz="1050">
                <a:solidFill>
                  <a:srgbClr val="243541"/>
                </a:solidFill>
                <a:latin typeface="Arial"/>
              </a:rPr>
              <a:t>QR payload decoding, UPI payment URI parameter validation, and malicious redirect checking.</a:t>
            </a:r>
          </a:p>
          <a:p>
            <a:r>
              <a:rPr sz="950" i="1">
                <a:solidFill>
                  <a:srgbClr val="64748B"/>
                </a:solidFill>
                <a:latin typeface="Arial"/>
              </a:rPr>
              <a:t>Code: modules/qr_scanner.py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50000" y="4060000"/>
            <a:ext cx="5600000" cy="860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70000" y="4100000"/>
            <a:ext cx="5360000" cy="7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980B9"/>
                </a:solidFill>
                <a:latin typeface="Arial"/>
              </a:rPr>
              <a:t>09. </a:t>
            </a:r>
            <a:r>
              <a:rPr sz="1300" b="1">
                <a:solidFill>
                  <a:srgbClr val="0F172A"/>
                </a:solidFill>
                <a:latin typeface="Arial"/>
              </a:rPr>
              <a:t>Device Security Audit</a:t>
            </a:r>
            <a:r>
              <a:rPr sz="1100" b="1">
                <a:solidFill>
                  <a:srgbClr val="22C55E"/>
                </a:solidFill>
                <a:latin typeface="Arial"/>
              </a:rPr>
              <a:t>  [✔ Operational]</a:t>
            </a:r>
          </a:p>
          <a:p>
            <a:r>
              <a:rPr sz="1050">
                <a:solidFill>
                  <a:srgbClr val="243541"/>
                </a:solidFill>
                <a:latin typeface="Arial"/>
              </a:rPr>
              <a:t>Local OS hardening inspection, open ports scanning, Windows firewall status, and update audit.</a:t>
            </a:r>
          </a:p>
          <a:p>
            <a:r>
              <a:rPr sz="950" i="1">
                <a:solidFill>
                  <a:srgbClr val="64748B"/>
                </a:solidFill>
                <a:latin typeface="Arial"/>
              </a:rPr>
              <a:t>Code: modules/device_security_module.py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50000" y="5030000"/>
            <a:ext cx="5600000" cy="860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70000" y="5070000"/>
            <a:ext cx="5360000" cy="7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980B9"/>
                </a:solidFill>
                <a:latin typeface="Arial"/>
              </a:rPr>
              <a:t>10. </a:t>
            </a:r>
            <a:r>
              <a:rPr sz="1300" b="1">
                <a:solidFill>
                  <a:srgbClr val="0F172A"/>
                </a:solidFill>
                <a:latin typeface="Arial"/>
              </a:rPr>
              <a:t>Universal Auto Scanner</a:t>
            </a:r>
            <a:r>
              <a:rPr sz="1100" b="1">
                <a:solidFill>
                  <a:srgbClr val="22C55E"/>
                </a:solidFill>
                <a:latin typeface="Arial"/>
              </a:rPr>
              <a:t>  [✔ Operational]</a:t>
            </a:r>
          </a:p>
          <a:p>
            <a:r>
              <a:rPr sz="1050">
                <a:solidFill>
                  <a:srgbClr val="243541"/>
                </a:solidFill>
                <a:latin typeface="Arial"/>
              </a:rPr>
              <a:t>Intelligent multi-pattern regex detector auto-identifying target type with consolidated dispatch.</a:t>
            </a:r>
          </a:p>
          <a:p>
            <a:r>
              <a:rPr sz="950" i="1">
                <a:solidFill>
                  <a:srgbClr val="64748B"/>
                </a:solidFill>
                <a:latin typeface="Arial"/>
              </a:rPr>
              <a:t>Code: modules/universal_scan_module.py</a:t>
            </a:r>
          </a:p>
        </p:txBody>
      </p:sp>
    </p:spTree>
    <p:extLst>
      <p:ext uri="{BB962C8B-B14F-4D97-AF65-F5344CB8AC3E}">
        <p14:creationId xmlns:p14="http://schemas.microsoft.com/office/powerpoint/2010/main" val="30116434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10500000" cy="930000"/>
          </a:xfrm>
          <a:prstGeom prst="rect">
            <a:avLst/>
          </a:prstGeom>
          <a:noFill/>
        </p:spPr>
        <p:txBody>
          <a:bodyPr wrap="square" lIns="120000" tIns="50000" rIns="0" bIns="0">
            <a:spAutoFit/>
          </a:bodyPr>
          <a:lstStyle/>
          <a:p>
            <a:pPr algn="l"/>
            <a:r>
              <a:rPr sz="5200" b="1">
                <a:solidFill>
                  <a:srgbClr val="0F172A"/>
                </a:solidFill>
                <a:latin typeface="Georgia Pro Cond Light"/>
              </a:rPr>
              <a:t>A</a:t>
            </a:r>
            <a:r>
              <a:rPr sz="3600" b="1">
                <a:solidFill>
                  <a:srgbClr val="0F172A"/>
                </a:solidFill>
                <a:latin typeface="Georgia Pro Cond Light"/>
              </a:rPr>
              <a:t>PI</a:t>
            </a:r>
            <a:r>
              <a:rPr sz="3600" b="1">
                <a:solidFill>
                  <a:srgbClr val="0F172A"/>
                </a:solidFill>
                <a:latin typeface="Georgia Pro Cond Light"/>
              </a:rPr>
              <a:t> &amp;</a:t>
            </a:r>
            <a:r>
              <a:rPr sz="5200" b="1">
                <a:solidFill>
                  <a:srgbClr val="0F172A"/>
                </a:solidFill>
                <a:latin typeface="Georgia Pro Cond Light"/>
              </a:rPr>
              <a:t> T</a:t>
            </a:r>
            <a:r>
              <a:rPr sz="3600" b="1">
                <a:solidFill>
                  <a:srgbClr val="0F172A"/>
                </a:solidFill>
                <a:latin typeface="Georgia Pro Cond Light"/>
              </a:rPr>
              <a:t>hreat</a:t>
            </a:r>
            <a:r>
              <a:rPr sz="5200" b="1">
                <a:solidFill>
                  <a:srgbClr val="0F172A"/>
                </a:solidFill>
                <a:latin typeface="Georgia Pro Cond Light"/>
              </a:rPr>
              <a:t> I</a:t>
            </a:r>
            <a:r>
              <a:rPr sz="3600" b="1">
                <a:solidFill>
                  <a:srgbClr val="0F172A"/>
                </a:solidFill>
                <a:latin typeface="Georgia Pro Cond Light"/>
              </a:rPr>
              <a:t>ntelligence</a:t>
            </a:r>
            <a:r>
              <a:rPr sz="5200" b="1">
                <a:solidFill>
                  <a:srgbClr val="0F172A"/>
                </a:solidFill>
                <a:latin typeface="Georgia Pro Cond Light"/>
              </a:rPr>
              <a:t> I</a:t>
            </a:r>
            <a:r>
              <a:rPr sz="3600" b="1">
                <a:solidFill>
                  <a:srgbClr val="0F172A"/>
                </a:solidFill>
                <a:latin typeface="Georgia Pro Cond Light"/>
              </a:rPr>
              <a:t>ntegration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31985"/>
            <a:ext cx="2479431" cy="25000"/>
          </a:xfrm>
          <a:prstGeom prst="rect">
            <a:avLst/>
          </a:prstGeom>
          <a:solidFill>
            <a:srgbClr val="243541"/>
          </a:solidFill>
          <a:ln>
            <a:solidFill>
              <a:srgbClr val="2435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224954"/>
            <a:ext cx="12192000" cy="633036"/>
          </a:xfrm>
          <a:prstGeom prst="rect">
            <a:avLst/>
          </a:prstGeom>
          <a:solidFill>
            <a:srgbClr val="243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04" y="6471688"/>
            <a:ext cx="334970" cy="33144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0000" y="6430000"/>
            <a:ext cx="2500000" cy="3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Georgia Pro Cond Light"/>
              </a:rPr>
              <a:t>CyberMind-AI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00000" y="6180000"/>
            <a:ext cx="800000" cy="6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4400" b="1">
                <a:solidFill>
                  <a:srgbClr val="FFFFFF"/>
                </a:solidFill>
                <a:latin typeface="Algerian"/>
              </a:rP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0000" y="1150000"/>
            <a:ext cx="11592000" cy="600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00000" y="1190000"/>
            <a:ext cx="11392000" cy="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980B9"/>
                </a:solidFill>
                <a:latin typeface="Arial"/>
              </a:rPr>
              <a:t>SERVICES LAYER INTEGRATION PIPELINE: </a:t>
            </a:r>
            <a:r>
              <a:rPr sz="1150">
                <a:solidFill>
                  <a:srgbClr val="0F172A"/>
                </a:solidFill>
                <a:latin typeface="Arial"/>
              </a:rPr>
              <a:t>Scanner Engine ➔ Provider-Agnostic Services Layer (services/) ➔ External Threat Intelligence APIs ➔ Normalized Schema ➔ Risk Engine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0000" y="1830000"/>
            <a:ext cx="3650000" cy="1650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0000" y="1880000"/>
            <a:ext cx="3410000" cy="15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980B9"/>
                </a:solidFill>
                <a:latin typeface="Arial"/>
              </a:rPr>
              <a:t>VirusTotal API
</a:t>
            </a:r>
            <a:r>
              <a:rPr sz="900" i="1">
                <a:solidFill>
                  <a:srgbClr val="64748B"/>
                </a:solidFill>
                <a:latin typeface="Arial"/>
              </a:rPr>
              <a:t>Multi-Engine AV Scanning | services/virustotal_service.py
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0F172A"/>
                </a:solidFill>
                <a:latin typeface="Arial"/>
              </a:rPr>
              <a:t>• Queries 70+ antivirus vendor engines simultaneously.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0F172A"/>
                </a:solidFill>
                <a:latin typeface="Arial"/>
              </a:rPr>
              <a:t>• Extracts detection ratios, engine flags, and reputation score.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0F172A"/>
                </a:solidFill>
                <a:latin typeface="Arial"/>
              </a:rPr>
              <a:t>• Covers URLs, domain lookups, and SHA-256/MD5 file hashes.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70000" y="1830000"/>
            <a:ext cx="3650000" cy="1650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90000" y="1880000"/>
            <a:ext cx="3410000" cy="15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F4444"/>
                </a:solidFill>
                <a:latin typeface="Arial"/>
              </a:rPr>
              <a:t>AbuseIPDB API
</a:t>
            </a:r>
            <a:r>
              <a:rPr sz="900" i="1">
                <a:solidFill>
                  <a:srgbClr val="64748B"/>
                </a:solidFill>
                <a:latin typeface="Arial"/>
              </a:rPr>
              <a:t>IP Reputation &amp; Abuse Scoring | services/abuseipdb_service.py
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0F172A"/>
                </a:solidFill>
                <a:latin typeface="Arial"/>
              </a:rPr>
              <a:t>• Calculates confidence of abuse score (0–100%).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0F172A"/>
                </a:solidFill>
                <a:latin typeface="Arial"/>
              </a:rPr>
              <a:t>• Retrieves total reported abuse incidents and reporter count.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0F172A"/>
                </a:solidFill>
                <a:latin typeface="Arial"/>
              </a:rPr>
              <a:t>• Checks ISP name, usage type (Data Center/Residential), &amp; country.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40000" y="1830000"/>
            <a:ext cx="3650000" cy="1650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0000" y="1880000"/>
            <a:ext cx="3410000" cy="15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2C55E"/>
                </a:solidFill>
                <a:latin typeface="Arial"/>
              </a:rPr>
              <a:t>Google Safe Browsing
</a:t>
            </a:r>
            <a:r>
              <a:rPr sz="900" i="1">
                <a:solidFill>
                  <a:srgbClr val="64748B"/>
                </a:solidFill>
                <a:latin typeface="Arial"/>
              </a:rPr>
              <a:t>Real-Time Blacklist Feed | services/google_safe_browsing_service.py
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0F172A"/>
                </a:solidFill>
                <a:latin typeface="Arial"/>
              </a:rPr>
              <a:t>• Lookup against Google's global threat databases.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0F172A"/>
                </a:solidFill>
                <a:latin typeface="Arial"/>
              </a:rPr>
              <a:t>• Identifies active malware distribution, phishing, &amp; deceptive sites.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0F172A"/>
                </a:solidFill>
                <a:latin typeface="Arial"/>
              </a:rPr>
              <a:t>• Instantly escalates target severity score upon match.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00000" y="3580000"/>
            <a:ext cx="3650000" cy="1650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0000" y="3630000"/>
            <a:ext cx="3410000" cy="15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43541"/>
                </a:solidFill>
                <a:latin typeface="Arial"/>
              </a:rPr>
              <a:t>Veriphone API
</a:t>
            </a:r>
            <a:r>
              <a:rPr sz="900" i="1">
                <a:solidFill>
                  <a:srgbClr val="64748B"/>
                </a:solidFill>
                <a:latin typeface="Arial"/>
              </a:rPr>
              <a:t>Telephony Threat Intelligence | services/veriphone_service.py
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0F172A"/>
                </a:solidFill>
                <a:latin typeface="Arial"/>
              </a:rPr>
              <a:t>• Parses international phone numbers to E.164 standard.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0F172A"/>
                </a:solidFill>
                <a:latin typeface="Arial"/>
              </a:rPr>
              <a:t>• Identifies carrier name, line type (mobile/VoIP), &amp; validity.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0F172A"/>
                </a:solidFill>
                <a:latin typeface="Arial"/>
              </a:rPr>
              <a:t>• Flags suspicious disposable VoIP numbers used in scams.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70000" y="3580000"/>
            <a:ext cx="3650000" cy="1650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90000" y="3630000"/>
            <a:ext cx="3410000" cy="15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3B67D"/>
                </a:solidFill>
                <a:latin typeface="Arial"/>
              </a:rPr>
              <a:t>IPinfo &amp; IPQS Services
</a:t>
            </a:r>
            <a:r>
              <a:rPr sz="900" i="1">
                <a:solidFill>
                  <a:srgbClr val="64748B"/>
                </a:solidFill>
                <a:latin typeface="Arial"/>
              </a:rPr>
              <a:t>Geolocation &amp; Proxy Detection | services/ipinfo_service.py &amp; ipqs_service.py
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0F172A"/>
                </a:solidFill>
                <a:latin typeface="Arial"/>
              </a:rPr>
              <a:t>• Provides city, country, and precise latitude/longitude.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0F172A"/>
                </a:solidFill>
                <a:latin typeface="Arial"/>
              </a:rPr>
              <a:t>• Extracts Autonomous System Number (ASN) &amp; org info.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0F172A"/>
                </a:solidFill>
                <a:latin typeface="Arial"/>
              </a:rPr>
              <a:t>• Flags commercial VPNs, open proxies, and Tor exit nodes.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40000" y="3580000"/>
            <a:ext cx="3650000" cy="1650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60000" y="3630000"/>
            <a:ext cx="3410000" cy="15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59E0B"/>
                </a:solidFill>
                <a:latin typeface="Arial"/>
              </a:rPr>
              <a:t>DNS &amp; WHOIS Query Engine
</a:t>
            </a:r>
            <a:r>
              <a:rPr sz="900" i="1">
                <a:solidFill>
                  <a:srgbClr val="64748B"/>
                </a:solidFill>
                <a:latin typeface="Arial"/>
              </a:rPr>
              <a:t>Domain Infrastructure Telemetry | services/whois_service.py &amp; dns_service.py
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0F172A"/>
                </a:solidFill>
                <a:latin typeface="Arial"/>
              </a:rPr>
              <a:t>• Executes RDAP/WHOIS for registrar &amp; creation dates.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0F172A"/>
                </a:solidFill>
                <a:latin typeface="Arial"/>
              </a:rPr>
              <a:t>• Resolves A, AAAA, MX, TXT, NS records via dnspython.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0F172A"/>
                </a:solidFill>
                <a:latin typeface="Arial"/>
              </a:rPr>
              <a:t>• Validates DNSSEC deployment &amp; SSL/TLS cipher strength.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00000" y="5330000"/>
            <a:ext cx="11592000" cy="680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00000" y="5380000"/>
            <a:ext cx="11392000" cy="5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22C55E"/>
                </a:solidFill>
                <a:latin typeface="Arial"/>
              </a:rPr>
              <a:t>Resilience &amp; Fallback Architecture: </a:t>
            </a:r>
            <a:r>
              <a:rPr sz="1100">
                <a:solidFill>
                  <a:srgbClr val="0F172A"/>
                </a:solidFill>
                <a:latin typeface="Arial"/>
              </a:rPr>
              <a:t>All API connectors implement strict 5-second asynchronous timeouts, connection retry limits, rate-limit backoffs, and automated fallback to local heuristic threat algorithms to maintain 100% platform availability.</a:t>
            </a:r>
          </a:p>
        </p:txBody>
      </p:sp>
    </p:spTree>
    <p:extLst>
      <p:ext uri="{BB962C8B-B14F-4D97-AF65-F5344CB8AC3E}">
        <p14:creationId xmlns:p14="http://schemas.microsoft.com/office/powerpoint/2010/main" val="18662437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10500000" cy="930000"/>
          </a:xfrm>
          <a:prstGeom prst="rect">
            <a:avLst/>
          </a:prstGeom>
          <a:noFill/>
        </p:spPr>
        <p:txBody>
          <a:bodyPr wrap="square" lIns="120000" tIns="50000" rIns="0" bIns="0">
            <a:spAutoFit/>
          </a:bodyPr>
          <a:lstStyle/>
          <a:p>
            <a:pPr algn="l"/>
            <a:r>
              <a:rPr sz="5200" b="1">
                <a:solidFill>
                  <a:srgbClr val="0F172A"/>
                </a:solidFill>
                <a:latin typeface="Georgia Pro Cond Light"/>
              </a:rPr>
              <a:t>M</a:t>
            </a:r>
            <a:r>
              <a:rPr sz="3600" b="1">
                <a:solidFill>
                  <a:srgbClr val="0F172A"/>
                </a:solidFill>
                <a:latin typeface="Georgia Pro Cond Light"/>
              </a:rPr>
              <a:t>achine</a:t>
            </a:r>
            <a:r>
              <a:rPr sz="5200" b="1">
                <a:solidFill>
                  <a:srgbClr val="0F172A"/>
                </a:solidFill>
                <a:latin typeface="Georgia Pro Cond Light"/>
              </a:rPr>
              <a:t> L</a:t>
            </a:r>
            <a:r>
              <a:rPr sz="3600" b="1">
                <a:solidFill>
                  <a:srgbClr val="0F172A"/>
                </a:solidFill>
                <a:latin typeface="Georgia Pro Cond Light"/>
              </a:rPr>
              <a:t>earning</a:t>
            </a:r>
            <a:r>
              <a:rPr sz="5200" b="1">
                <a:solidFill>
                  <a:srgbClr val="0F172A"/>
                </a:solidFill>
                <a:latin typeface="Georgia Pro Cond Light"/>
              </a:rPr>
              <a:t> I</a:t>
            </a:r>
            <a:r>
              <a:rPr sz="3600" b="1">
                <a:solidFill>
                  <a:srgbClr val="0F172A"/>
                </a:solidFill>
                <a:latin typeface="Georgia Pro Cond Light"/>
              </a:rPr>
              <a:t>mplementation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31985"/>
            <a:ext cx="2479431" cy="25000"/>
          </a:xfrm>
          <a:prstGeom prst="rect">
            <a:avLst/>
          </a:prstGeom>
          <a:solidFill>
            <a:srgbClr val="243541"/>
          </a:solidFill>
          <a:ln>
            <a:solidFill>
              <a:srgbClr val="2435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224954"/>
            <a:ext cx="12192000" cy="633036"/>
          </a:xfrm>
          <a:prstGeom prst="rect">
            <a:avLst/>
          </a:prstGeom>
          <a:solidFill>
            <a:srgbClr val="243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04" y="6471688"/>
            <a:ext cx="334970" cy="33144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0000" y="6430000"/>
            <a:ext cx="2500000" cy="3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Georgia Pro Cond Light"/>
              </a:rPr>
              <a:t>CyberMind-AI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00000" y="6180000"/>
            <a:ext cx="800000" cy="6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4400" b="1">
                <a:solidFill>
                  <a:srgbClr val="FFFFFF"/>
                </a:solidFill>
                <a:latin typeface="Algerian"/>
              </a:rPr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0000" y="1150000"/>
            <a:ext cx="5600000" cy="4850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20000" y="1250000"/>
            <a:ext cx="5360000" cy="550000"/>
          </a:xfrm>
          <a:prstGeom prst="roundRect">
            <a:avLst/>
          </a:prstGeom>
          <a:solidFill>
            <a:srgbClr val="243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ML ARCHITECTURE &amp; FEATURE ENGINEERING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0000" y="1880000"/>
            <a:ext cx="5300000" cy="4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980B9"/>
                </a:solidFill>
                <a:latin typeface="Arial"/>
              </a:rPr>
              <a:t>✔ Real-Time Feature Engineering (ml/feature_engineering.py)
</a:t>
            </a:r>
            <a:r>
              <a:rPr sz="1050">
                <a:solidFill>
                  <a:srgbClr val="0F172A"/>
                </a:solidFill>
                <a:latin typeface="Arial"/>
              </a:rPr>
              <a:t>    Extracts 50 dynamic lexical and structural features from target URLs: character counts, suspicious token entropy, TLD risk weights, path depths, and brand keyword similarity.</a:t>
            </a:r>
          </a:p>
          <a:p>
            <a:pPr>
              <a:spcBef>
                <a:spcPts val="800"/>
              </a:spcBef>
            </a:pPr>
            <a:r>
              <a:rPr sz="1200" b="1">
                <a:solidFill>
                  <a:srgbClr val="2980B9"/>
                </a:solidFill>
                <a:latin typeface="Arial"/>
              </a:rPr>
              <a:t>✔ Binary &amp; Multi-Class Classifiers (ml/inference.py)
</a:t>
            </a:r>
            <a:r>
              <a:rPr sz="1050">
                <a:solidFill>
                  <a:srgbClr val="0F172A"/>
                </a:solidFill>
                <a:latin typeface="Arial"/>
              </a:rPr>
              <a:t>    Scikit-Learn Random Forest ensemble models calibrated with 5-fold Stratified Cross-Validation for robust decision boundary convergence.</a:t>
            </a:r>
          </a:p>
          <a:p>
            <a:pPr>
              <a:spcBef>
                <a:spcPts val="800"/>
              </a:spcBef>
            </a:pPr>
            <a:r>
              <a:rPr sz="1200" b="1">
                <a:solidFill>
                  <a:srgbClr val="2980B9"/>
                </a:solidFill>
                <a:latin typeface="Arial"/>
              </a:rPr>
              <a:t>✔ Portable Serialized Artifacts (ml/models/*.pkl)
</a:t>
            </a:r>
            <a:r>
              <a:rPr sz="1050">
                <a:solidFill>
                  <a:srgbClr val="0F172A"/>
                </a:solidFill>
                <a:latin typeface="Arial"/>
              </a:rPr>
              <a:t>    Pre-trained models loaded via thread-safe singleton cache in ml/model_loader.py, enabling sub-20ms inference latency per query.</a:t>
            </a:r>
          </a:p>
          <a:p>
            <a:pPr>
              <a:spcBef>
                <a:spcPts val="800"/>
              </a:spcBef>
            </a:pPr>
            <a:r>
              <a:rPr sz="1200" b="1">
                <a:solidFill>
                  <a:srgbClr val="2980B9"/>
                </a:solidFill>
                <a:latin typeface="Arial"/>
              </a:rPr>
              <a:t>✔ Explainability &amp; Risk Contribution
</a:t>
            </a:r>
            <a:r>
              <a:rPr sz="1050">
                <a:solidFill>
                  <a:srgbClr val="0F172A"/>
                </a:solidFill>
                <a:latin typeface="Arial"/>
              </a:rPr>
              <a:t>    Extracts feature importance weights feeding into the Unified Risk Engine to directly modulate risk scores based on ML model confidence.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0000" y="1150000"/>
            <a:ext cx="5600000" cy="4850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70000" y="1250000"/>
            <a:ext cx="5360000" cy="550000"/>
          </a:xfrm>
          <a:prstGeom prst="roundRect">
            <a:avLst/>
          </a:prstGeom>
          <a:solidFill>
            <a:srgbClr val="33B6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</a:rPr>
              <a:t>ACTUAL MEASURED MODEL BENCHMARKS (cybermind_metrics.json)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0" y="1880000"/>
            <a:ext cx="5300000" cy="4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43541"/>
                </a:solidFill>
                <a:latin typeface="Arial"/>
              </a:rPr>
              <a:t>OVERALL SYSTEM ML PERFORMANCE (5-Fold Stratified CV):
</a:t>
            </a:r>
            <a:r>
              <a:rPr sz="1100" b="1">
                <a:solidFill>
                  <a:srgbClr val="22C55E"/>
                </a:solidFill>
                <a:latin typeface="Arial"/>
              </a:rPr>
              <a:t>• Accuracy: 92.32%  |  Precision: 92.10%  |  Recall: 92.32%
• F1-Score: 92.07%  |  ROC-AUC: 0.9742  |  Ensemble: Random Forest
</a:t>
            </a:r>
          </a:p>
          <a:p>
            <a:pPr>
              <a:spcBef>
                <a:spcPts val="500"/>
              </a:spcBef>
            </a:pPr>
            <a:r>
              <a:rPr sz="1100" b="1">
                <a:solidFill>
                  <a:srgbClr val="243541"/>
                </a:solidFill>
                <a:latin typeface="Arial"/>
              </a:rPr>
              <a:t>✔ PhiUSIIL Phishing URL Model (phishing_url_model.pkl)
</a:t>
            </a:r>
            <a:r>
              <a:rPr sz="1000">
                <a:solidFill>
                  <a:srgbClr val="0F172A"/>
                </a:solidFill>
                <a:latin typeface="Arial"/>
              </a:rPr>
              <a:t>234,987 samples, 50 features | Binary Classification
• Training CV Accuracy: 100.0% | ROC-AUC: 1.0000
• External OpenPhish Feed Benchmark (1,000 samples): 94.50% Accuracy</a:t>
            </a:r>
          </a:p>
          <a:p>
            <a:pPr>
              <a:spcBef>
                <a:spcPts val="500"/>
              </a:spcBef>
            </a:pPr>
            <a:r>
              <a:rPr sz="1100" b="1">
                <a:solidFill>
                  <a:srgbClr val="243541"/>
                </a:solidFill>
                <a:latin typeface="Arial"/>
              </a:rPr>
              <a:t>✔ File Signatures Model (file_signatures_model.pkl)
</a:t>
            </a:r>
            <a:r>
              <a:rPr sz="1000">
                <a:solidFill>
                  <a:srgbClr val="0F172A"/>
                </a:solidFill>
                <a:latin typeface="Arial"/>
              </a:rPr>
              <a:t>1,024 samples, 9 features | Multi-Class Risk Classification
• Accuracy: 97.56% | Precision: 97.67% | ROC-AUC: 0.9985
• High: 98.15% F1 | Medium: 97.76% F1 | Low: 96.85% F1</a:t>
            </a:r>
          </a:p>
          <a:p>
            <a:pPr>
              <a:spcBef>
                <a:spcPts val="500"/>
              </a:spcBef>
            </a:pPr>
            <a:r>
              <a:rPr sz="1100" b="1">
                <a:solidFill>
                  <a:srgbClr val="243541"/>
                </a:solidFill>
                <a:latin typeface="Arial"/>
              </a:rPr>
              <a:t>✔ Online-Valid Phishing Model (online_valid_model.pkl)
</a:t>
            </a:r>
            <a:r>
              <a:rPr sz="1000">
                <a:solidFill>
                  <a:srgbClr val="0F172A"/>
                </a:solidFill>
                <a:latin typeface="Arial"/>
              </a:rPr>
              <a:t>5,761 samples, 18 features | 5-Class Target Classifier
• Accuracy: 72.87% | ROC-AUC: 0.8982 (PayPal, Blizzard, AOL, Sulake, Other)</a:t>
            </a:r>
          </a:p>
          <a:p>
            <a:pPr>
              <a:spcBef>
                <a:spcPts val="500"/>
              </a:spcBef>
            </a:pPr>
            <a:r>
              <a:rPr sz="1100" b="1">
                <a:solidFill>
                  <a:srgbClr val="243541"/>
                </a:solidFill>
                <a:latin typeface="Arial"/>
              </a:rPr>
              <a:t>✔ Data Breaches Model (breaches_model.pkl)
</a:t>
            </a:r>
            <a:r>
              <a:rPr sz="1000">
                <a:solidFill>
                  <a:srgbClr val="0F172A"/>
                </a:solidFill>
                <a:latin typeface="Arial"/>
              </a:rPr>
              <a:t>520 samples, 6 features | 5-Class Root-Cause Classifier
• Accuracy: 98.85% | Precision: 98.88% | ROC-AUC: 1.0000</a:t>
            </a:r>
          </a:p>
        </p:txBody>
      </p:sp>
    </p:spTree>
    <p:extLst>
      <p:ext uri="{BB962C8B-B14F-4D97-AF65-F5344CB8AC3E}">
        <p14:creationId xmlns:p14="http://schemas.microsoft.com/office/powerpoint/2010/main" val="30451158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10500000" cy="930000"/>
          </a:xfrm>
          <a:prstGeom prst="rect">
            <a:avLst/>
          </a:prstGeom>
          <a:noFill/>
        </p:spPr>
        <p:txBody>
          <a:bodyPr wrap="square" lIns="120000" tIns="50000" rIns="0" bIns="0">
            <a:spAutoFit/>
          </a:bodyPr>
          <a:lstStyle/>
          <a:p>
            <a:pPr algn="l"/>
            <a:r>
              <a:rPr sz="5200" b="1">
                <a:solidFill>
                  <a:srgbClr val="0F172A"/>
                </a:solidFill>
                <a:latin typeface="Georgia Pro Cond Light"/>
              </a:rPr>
              <a:t>R</a:t>
            </a:r>
            <a:r>
              <a:rPr sz="3600" b="1">
                <a:solidFill>
                  <a:srgbClr val="0F172A"/>
                </a:solidFill>
                <a:latin typeface="Georgia Pro Cond Light"/>
              </a:rPr>
              <a:t>isk</a:t>
            </a:r>
            <a:r>
              <a:rPr sz="5200" b="1">
                <a:solidFill>
                  <a:srgbClr val="0F172A"/>
                </a:solidFill>
                <a:latin typeface="Georgia Pro Cond Light"/>
              </a:rPr>
              <a:t> E</a:t>
            </a:r>
            <a:r>
              <a:rPr sz="3600" b="1">
                <a:solidFill>
                  <a:srgbClr val="0F172A"/>
                </a:solidFill>
                <a:latin typeface="Georgia Pro Cond Light"/>
              </a:rPr>
              <a:t>ngine</a:t>
            </a:r>
            <a:r>
              <a:rPr sz="3600" b="1">
                <a:solidFill>
                  <a:srgbClr val="0F172A"/>
                </a:solidFill>
                <a:latin typeface="Georgia Pro Cond Light"/>
              </a:rPr>
              <a:t> &amp;</a:t>
            </a:r>
            <a:r>
              <a:rPr sz="5200" b="1">
                <a:solidFill>
                  <a:srgbClr val="0F172A"/>
                </a:solidFill>
                <a:latin typeface="Georgia Pro Cond Light"/>
              </a:rPr>
              <a:t> A</a:t>
            </a:r>
            <a:r>
              <a:rPr sz="3600" b="1">
                <a:solidFill>
                  <a:srgbClr val="0F172A"/>
                </a:solidFill>
                <a:latin typeface="Georgia Pro Cond Light"/>
              </a:rPr>
              <a:t>I</a:t>
            </a:r>
            <a:r>
              <a:rPr sz="5200" b="1">
                <a:solidFill>
                  <a:srgbClr val="0F172A"/>
                </a:solidFill>
                <a:latin typeface="Georgia Pro Cond Light"/>
              </a:rPr>
              <a:t> E</a:t>
            </a:r>
            <a:r>
              <a:rPr sz="3600" b="1">
                <a:solidFill>
                  <a:srgbClr val="0F172A"/>
                </a:solidFill>
                <a:latin typeface="Georgia Pro Cond Light"/>
              </a:rPr>
              <a:t>xplanation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31985"/>
            <a:ext cx="2479431" cy="25000"/>
          </a:xfrm>
          <a:prstGeom prst="rect">
            <a:avLst/>
          </a:prstGeom>
          <a:solidFill>
            <a:srgbClr val="243541"/>
          </a:solidFill>
          <a:ln>
            <a:solidFill>
              <a:srgbClr val="2435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224954"/>
            <a:ext cx="12192000" cy="633036"/>
          </a:xfrm>
          <a:prstGeom prst="rect">
            <a:avLst/>
          </a:prstGeom>
          <a:solidFill>
            <a:srgbClr val="243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04" y="6471688"/>
            <a:ext cx="334970" cy="33144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0000" y="6430000"/>
            <a:ext cx="2500000" cy="3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Georgia Pro Cond Light"/>
              </a:rPr>
              <a:t>CyberMind-AI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00000" y="6180000"/>
            <a:ext cx="800000" cy="6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4400" b="1">
                <a:solidFill>
                  <a:srgbClr val="FFFFFF"/>
                </a:solidFill>
                <a:latin typeface="Algerian"/>
              </a:rPr>
              <a:t>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0000" y="1150000"/>
            <a:ext cx="5600000" cy="4850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20000" y="1250000"/>
            <a:ext cx="5360000" cy="550000"/>
          </a:xfrm>
          <a:prstGeom prst="roundRect">
            <a:avLst/>
          </a:prstGeom>
          <a:solidFill>
            <a:srgbClr val="243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UNIFIED 0–100 RISK ENGINE (modules/risk_engine.py)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0000" y="1880000"/>
            <a:ext cx="5300000" cy="4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2980B9"/>
                </a:solidFill>
                <a:latin typeface="Arial"/>
              </a:rPr>
              <a:t>Multi-Factor Mathematical Formulation:
</a:t>
            </a:r>
            <a:r>
              <a:rPr sz="1100" b="1">
                <a:solidFill>
                  <a:srgbClr val="0F172A"/>
                </a:solidFill>
                <a:latin typeface="Arial"/>
              </a:rPr>
              <a:t>  Risk Score = (w1 · API_Score) + (w2 · ML_Prob) + (w3 · Heuristics)
  Where w1=0.45, w2=0.35, w3=0.20 (dynamically weighted).
</a:t>
            </a:r>
          </a:p>
          <a:p>
            <a:pPr>
              <a:spcBef>
                <a:spcPts val="600"/>
              </a:spcBef>
            </a:pPr>
            <a:r>
              <a:rPr sz="1250" b="1">
                <a:solidFill>
                  <a:srgbClr val="EF4444"/>
                </a:solidFill>
                <a:latin typeface="Arial"/>
              </a:rPr>
              <a:t>Critical Override Logic:
</a:t>
            </a:r>
            <a:r>
              <a:rPr sz="1100">
                <a:solidFill>
                  <a:srgbClr val="0F172A"/>
                </a:solidFill>
                <a:latin typeface="Arial"/>
              </a:rPr>
              <a:t>  If VirusTotal engine flags &gt; 5 OR Google Safe Browsing triggers, the score is automatically escalated to 90–100 (Critical), overriding benign weights.
</a:t>
            </a:r>
          </a:p>
          <a:p>
            <a:pPr>
              <a:spcBef>
                <a:spcPts val="600"/>
              </a:spcBef>
            </a:pPr>
            <a:r>
              <a:rPr sz="1250" b="1">
                <a:solidFill>
                  <a:srgbClr val="243541"/>
                </a:solidFill>
                <a:latin typeface="Arial"/>
              </a:rPr>
              <a:t>5 Standardized Severity Bands:
</a:t>
            </a:r>
          </a:p>
          <a:p>
            <a:pPr>
              <a:spcBef>
                <a:spcPts val="300"/>
              </a:spcBef>
            </a:pPr>
            <a:r>
              <a:rPr sz="1100" b="1">
                <a:solidFill>
                  <a:srgbClr val="0F172A"/>
                </a:solidFill>
                <a:latin typeface="Arial"/>
              </a:rPr>
              <a:t>• 🟢 SAFE (0–20): </a:t>
            </a:r>
            <a:r>
              <a:rPr sz="1050">
                <a:solidFill>
                  <a:srgbClr val="64748B"/>
                </a:solidFill>
                <a:latin typeface="Arial"/>
              </a:rPr>
              <a:t>Clean reputation, valid SSL, zero engine blacklist hits.</a:t>
            </a:r>
          </a:p>
          <a:p>
            <a:pPr>
              <a:spcBef>
                <a:spcPts val="300"/>
              </a:spcBef>
            </a:pPr>
            <a:r>
              <a:rPr sz="1100" b="1">
                <a:solidFill>
                  <a:srgbClr val="0F172A"/>
                </a:solidFill>
                <a:latin typeface="Arial"/>
              </a:rPr>
              <a:t>• 🔵 LOW (21–40): </a:t>
            </a:r>
            <a:r>
              <a:rPr sz="1050">
                <a:solidFill>
                  <a:srgbClr val="64748B"/>
                </a:solidFill>
                <a:latin typeface="Arial"/>
              </a:rPr>
              <a:t>Minor misconfigurations (missing CSP headers, new domain).</a:t>
            </a:r>
          </a:p>
          <a:p>
            <a:pPr>
              <a:spcBef>
                <a:spcPts val="300"/>
              </a:spcBef>
            </a:pPr>
            <a:r>
              <a:rPr sz="1100" b="1">
                <a:solidFill>
                  <a:srgbClr val="0F172A"/>
                </a:solidFill>
                <a:latin typeface="Arial"/>
              </a:rPr>
              <a:t>• 🟡 MEDIUM (41–60): </a:t>
            </a:r>
            <a:r>
              <a:rPr sz="1050">
                <a:solidFill>
                  <a:srgbClr val="64748B"/>
                </a:solidFill>
                <a:latin typeface="Arial"/>
              </a:rPr>
              <a:t>Elevated entropy, suspicious redirects, or spam keywords.</a:t>
            </a:r>
          </a:p>
          <a:p>
            <a:pPr>
              <a:spcBef>
                <a:spcPts val="300"/>
              </a:spcBef>
            </a:pPr>
            <a:r>
              <a:rPr sz="1100" b="1">
                <a:solidFill>
                  <a:srgbClr val="0F172A"/>
                </a:solidFill>
                <a:latin typeface="Arial"/>
              </a:rPr>
              <a:t>• 🟠 HIGH (61–80): </a:t>
            </a:r>
            <a:r>
              <a:rPr sz="1050">
                <a:solidFill>
                  <a:srgbClr val="64748B"/>
                </a:solidFill>
                <a:latin typeface="Arial"/>
              </a:rPr>
              <a:t>Multiple threat indicators, high abuse confidence score.</a:t>
            </a:r>
          </a:p>
          <a:p>
            <a:pPr>
              <a:spcBef>
                <a:spcPts val="300"/>
              </a:spcBef>
            </a:pPr>
            <a:r>
              <a:rPr sz="1100" b="1">
                <a:solidFill>
                  <a:srgbClr val="0F172A"/>
                </a:solidFill>
                <a:latin typeface="Arial"/>
              </a:rPr>
              <a:t>• 🔴 CRITICAL (81–100): </a:t>
            </a:r>
            <a:r>
              <a:rPr sz="1050">
                <a:solidFill>
                  <a:srgbClr val="64748B"/>
                </a:solidFill>
                <a:latin typeface="Arial"/>
              </a:rPr>
              <a:t>Active malware distribution, verified phishing, known C2 IP.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0000" y="1150000"/>
            <a:ext cx="5600000" cy="4850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70000" y="1250000"/>
            <a:ext cx="5360000" cy="550000"/>
          </a:xfrm>
          <a:prstGeom prst="roundRect">
            <a:avLst/>
          </a:prstGeom>
          <a:solidFill>
            <a:srgbClr val="33B6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GROQ LLAMA-3 GENERATIVE AI EXPLANATION ENGINE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0" y="1880000"/>
            <a:ext cx="5300000" cy="4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43541"/>
                </a:solidFill>
                <a:latin typeface="Arial"/>
              </a:rPr>
              <a:t>✔ Contextual Threat Translation
</a:t>
            </a:r>
            <a:r>
              <a:rPr sz="1050">
                <a:solidFill>
                  <a:srgbClr val="0F172A"/>
                </a:solidFill>
                <a:latin typeface="Arial"/>
              </a:rPr>
              <a:t>Synthesizes multi-page JSON payloads from VirusTotal, AbuseIPDB, and ML models into a clean 3-sentence executive summary that non-technical managers can instantly comprehend.</a:t>
            </a:r>
          </a:p>
          <a:p>
            <a:pPr>
              <a:spcBef>
                <a:spcPts val="800"/>
              </a:spcBef>
            </a:pPr>
            <a:r>
              <a:rPr sz="1200" b="1">
                <a:solidFill>
                  <a:srgbClr val="243541"/>
                </a:solidFill>
                <a:latin typeface="Arial"/>
              </a:rPr>
              <a:t>✔ Actionable Remediation Directives
</a:t>
            </a:r>
            <a:r>
              <a:rPr sz="1050">
                <a:solidFill>
                  <a:srgbClr val="0F172A"/>
                </a:solidFill>
                <a:latin typeface="Arial"/>
              </a:rPr>
              <a:t>Generates role-specific mitigation recommendations:
• For SOC Analysts: Specific iptables block rules, DNS sinkhole targets, and hash blacklist values.
• For Leadership: Business impact, user credential revoking advice, and policy adjustments.</a:t>
            </a:r>
          </a:p>
          <a:p>
            <a:pPr>
              <a:spcBef>
                <a:spcPts val="800"/>
              </a:spcBef>
            </a:pPr>
            <a:r>
              <a:rPr sz="1200" b="1">
                <a:solidFill>
                  <a:srgbClr val="243541"/>
                </a:solidFill>
                <a:latin typeface="Arial"/>
              </a:rPr>
              <a:t>✔ Low-Latency Inference via Groq Cloud
</a:t>
            </a:r>
            <a:r>
              <a:rPr sz="1050">
                <a:solidFill>
                  <a:srgbClr val="0F172A"/>
                </a:solidFill>
                <a:latin typeface="Arial"/>
              </a:rPr>
              <a:t>Integrates Groq Llama-3 70B API via modules/ai_assistant.py, streaming high-speed reasoning tokens in under 1.2 seconds.</a:t>
            </a:r>
          </a:p>
          <a:p>
            <a:pPr>
              <a:spcBef>
                <a:spcPts val="800"/>
              </a:spcBef>
            </a:pPr>
            <a:r>
              <a:rPr sz="1200" b="1">
                <a:solidFill>
                  <a:srgbClr val="243541"/>
                </a:solidFill>
                <a:latin typeface="Arial"/>
              </a:rPr>
              <a:t>✔ Resilient Offline Heuristic Engine
</a:t>
            </a:r>
            <a:r>
              <a:rPr sz="1050">
                <a:solidFill>
                  <a:srgbClr val="0F172A"/>
                </a:solidFill>
                <a:latin typeface="Arial"/>
              </a:rPr>
              <a:t>Includes an embedded deterministic template engine that automatically provides rule-based remediation when GROQ_API_KEY is not set or network is disconnected.</a:t>
            </a:r>
          </a:p>
        </p:txBody>
      </p:sp>
    </p:spTree>
    <p:extLst>
      <p:ext uri="{BB962C8B-B14F-4D97-AF65-F5344CB8AC3E}">
        <p14:creationId xmlns:p14="http://schemas.microsoft.com/office/powerpoint/2010/main" val="31019043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10500000" cy="930000"/>
          </a:xfrm>
          <a:prstGeom prst="rect">
            <a:avLst/>
          </a:prstGeom>
          <a:noFill/>
        </p:spPr>
        <p:txBody>
          <a:bodyPr wrap="square" lIns="120000" tIns="50000" rIns="0" bIns="0">
            <a:spAutoFit/>
          </a:bodyPr>
          <a:lstStyle/>
          <a:p>
            <a:pPr algn="l"/>
            <a:r>
              <a:rPr sz="5200" b="1">
                <a:solidFill>
                  <a:srgbClr val="0F172A"/>
                </a:solidFill>
                <a:latin typeface="Georgia Pro Cond Light"/>
              </a:rPr>
              <a:t>D</a:t>
            </a:r>
            <a:r>
              <a:rPr sz="3600" b="1">
                <a:solidFill>
                  <a:srgbClr val="0F172A"/>
                </a:solidFill>
                <a:latin typeface="Georgia Pro Cond Light"/>
              </a:rPr>
              <a:t>atabase</a:t>
            </a:r>
            <a:r>
              <a:rPr sz="5200" b="1">
                <a:solidFill>
                  <a:srgbClr val="0F172A"/>
                </a:solidFill>
                <a:latin typeface="Georgia Pro Cond Light"/>
              </a:rPr>
              <a:t> I</a:t>
            </a:r>
            <a:r>
              <a:rPr sz="3600" b="1">
                <a:solidFill>
                  <a:srgbClr val="0F172A"/>
                </a:solidFill>
                <a:latin typeface="Georgia Pro Cond Light"/>
              </a:rPr>
              <a:t>mplementation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31985"/>
            <a:ext cx="2479431" cy="25000"/>
          </a:xfrm>
          <a:prstGeom prst="rect">
            <a:avLst/>
          </a:prstGeom>
          <a:solidFill>
            <a:srgbClr val="243541"/>
          </a:solidFill>
          <a:ln>
            <a:solidFill>
              <a:srgbClr val="2435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224954"/>
            <a:ext cx="12192000" cy="633036"/>
          </a:xfrm>
          <a:prstGeom prst="rect">
            <a:avLst/>
          </a:prstGeom>
          <a:solidFill>
            <a:srgbClr val="243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04" y="6471688"/>
            <a:ext cx="334970" cy="33144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0000" y="6430000"/>
            <a:ext cx="2500000" cy="3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Georgia Pro Cond Light"/>
              </a:rPr>
              <a:t>CyberMind-AI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00000" y="6180000"/>
            <a:ext cx="800000" cy="6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4400" b="1">
                <a:solidFill>
                  <a:srgbClr val="FFFFFF"/>
                </a:solidFill>
                <a:latin typeface="Algerian"/>
              </a:rPr>
              <a:t>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0000" y="1150000"/>
            <a:ext cx="11592000" cy="750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00000" y="1200000"/>
            <a:ext cx="11392000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980B9"/>
                </a:solidFill>
                <a:latin typeface="Arial"/>
              </a:rPr>
              <a:t>DATABASE CONFIGURATION: </a:t>
            </a:r>
            <a:r>
              <a:rPr sz="1200">
                <a:solidFill>
                  <a:srgbClr val="0F172A"/>
                </a:solidFill>
                <a:latin typeface="Arial"/>
              </a:rPr>
              <a:t>SQLite 3 | database/cybermind.db | 15 Relational Tables | 11 Optimized B-Tree Indexes | PRAGMA foreign_keys = ON; | Thread-Safe Connection Pool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0000" y="2050000"/>
            <a:ext cx="3650000" cy="4000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0000" y="2200000"/>
            <a:ext cx="3350000" cy="600000"/>
          </a:xfrm>
          <a:prstGeom prst="round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Master Entity: scan_history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000" y="2900000"/>
            <a:ext cx="3290000" cy="3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64748B"/>
                </a:solidFill>
                <a:latin typeface="Arial"/>
              </a:rPr>
              <a:t>114+ REAL SCAN RECORDS LOGGED</a:t>
            </a:r>
          </a:p>
          <a:p>
            <a:pPr>
              <a:spcBef>
                <a:spcPts val="400"/>
              </a:spcBef>
            </a:pPr>
            <a:r>
              <a:rPr sz="1100" b="1">
                <a:solidFill>
                  <a:srgbClr val="0F172A"/>
                </a:solidFill>
                <a:latin typeface="Arial"/>
              </a:rPr>
              <a:t>• scan_id: </a:t>
            </a:r>
            <a:r>
              <a:rPr sz="1000">
                <a:solidFill>
                  <a:srgbClr val="243541"/>
                </a:solidFill>
                <a:latin typeface="Arial"/>
              </a:rPr>
              <a:t>INTEGER PRIMARY KEY AUTOINCREMENT</a:t>
            </a:r>
          </a:p>
          <a:p>
            <a:pPr>
              <a:spcBef>
                <a:spcPts val="400"/>
              </a:spcBef>
            </a:pPr>
            <a:r>
              <a:rPr sz="1100" b="1">
                <a:solidFill>
                  <a:srgbClr val="0F172A"/>
                </a:solidFill>
                <a:latin typeface="Arial"/>
              </a:rPr>
              <a:t>• scan_type: </a:t>
            </a:r>
            <a:r>
              <a:rPr sz="1000">
                <a:solidFill>
                  <a:srgbClr val="243541"/>
                </a:solidFill>
                <a:latin typeface="Arial"/>
              </a:rPr>
              <a:t>TEXT (e.g. Website Scanner, URL, Phone)</a:t>
            </a:r>
          </a:p>
          <a:p>
            <a:pPr>
              <a:spcBef>
                <a:spcPts val="400"/>
              </a:spcBef>
            </a:pPr>
            <a:r>
              <a:rPr sz="1100" b="1">
                <a:solidFill>
                  <a:srgbClr val="0F172A"/>
                </a:solidFill>
                <a:latin typeface="Arial"/>
              </a:rPr>
              <a:t>• target: </a:t>
            </a:r>
            <a:r>
              <a:rPr sz="1000">
                <a:solidFill>
                  <a:srgbClr val="243541"/>
                </a:solidFill>
                <a:latin typeface="Arial"/>
              </a:rPr>
              <a:t>TEXT (URL, IP, domain, phone number)</a:t>
            </a:r>
          </a:p>
          <a:p>
            <a:pPr>
              <a:spcBef>
                <a:spcPts val="400"/>
              </a:spcBef>
            </a:pPr>
            <a:r>
              <a:rPr sz="1100" b="1">
                <a:solidFill>
                  <a:srgbClr val="0F172A"/>
                </a:solidFill>
                <a:latin typeface="Arial"/>
              </a:rPr>
              <a:t>• risk_level: </a:t>
            </a:r>
            <a:r>
              <a:rPr sz="1000">
                <a:solidFill>
                  <a:srgbClr val="243541"/>
                </a:solidFill>
                <a:latin typeface="Arial"/>
              </a:rPr>
              <a:t>TEXT (Safe, Low, Medium, High, Critical)</a:t>
            </a:r>
          </a:p>
          <a:p>
            <a:pPr>
              <a:spcBef>
                <a:spcPts val="400"/>
              </a:spcBef>
            </a:pPr>
            <a:r>
              <a:rPr sz="1100" b="1">
                <a:solidFill>
                  <a:srgbClr val="0F172A"/>
                </a:solidFill>
                <a:latin typeface="Arial"/>
              </a:rPr>
              <a:t>• risk_score: </a:t>
            </a:r>
            <a:r>
              <a:rPr sz="1000">
                <a:solidFill>
                  <a:srgbClr val="243541"/>
                </a:solidFill>
                <a:latin typeface="Arial"/>
              </a:rPr>
              <a:t>REAL (0.0 to 100.0 unified score)</a:t>
            </a:r>
          </a:p>
          <a:p>
            <a:pPr>
              <a:spcBef>
                <a:spcPts val="400"/>
              </a:spcBef>
            </a:pPr>
            <a:r>
              <a:rPr sz="1100" b="1">
                <a:solidFill>
                  <a:srgbClr val="0F172A"/>
                </a:solidFill>
                <a:latin typeface="Arial"/>
              </a:rPr>
              <a:t>• status: </a:t>
            </a:r>
            <a:r>
              <a:rPr sz="1000">
                <a:solidFill>
                  <a:srgbClr val="243541"/>
                </a:solidFill>
                <a:latin typeface="Arial"/>
              </a:rPr>
              <a:t>TEXT (Completed, Processing, Failed)</a:t>
            </a:r>
          </a:p>
          <a:p>
            <a:pPr>
              <a:spcBef>
                <a:spcPts val="400"/>
              </a:spcBef>
            </a:pPr>
            <a:r>
              <a:rPr sz="1100" b="1">
                <a:solidFill>
                  <a:srgbClr val="0F172A"/>
                </a:solidFill>
                <a:latin typeface="Arial"/>
              </a:rPr>
              <a:t>• scan_time: </a:t>
            </a:r>
            <a:r>
              <a:rPr sz="1000">
                <a:solidFill>
                  <a:srgbClr val="243541"/>
                </a:solidFill>
                <a:latin typeface="Arial"/>
              </a:rPr>
              <a:t>TIMESTAMP (ISO 8601 UTC)</a:t>
            </a:r>
          </a:p>
          <a:p>
            <a:pPr>
              <a:spcBef>
                <a:spcPts val="400"/>
              </a:spcBef>
            </a:pPr>
            <a:r>
              <a:rPr sz="1100" b="1">
                <a:solidFill>
                  <a:srgbClr val="0F172A"/>
                </a:solidFill>
                <a:latin typeface="Arial"/>
              </a:rPr>
              <a:t>• country: </a:t>
            </a:r>
            <a:r>
              <a:rPr sz="1000">
                <a:solidFill>
                  <a:srgbClr val="243541"/>
                </a:solidFill>
                <a:latin typeface="Arial"/>
              </a:rPr>
              <a:t>TEXT (Geolocation resolved country)</a:t>
            </a:r>
          </a:p>
          <a:p>
            <a:pPr>
              <a:spcBef>
                <a:spcPts val="400"/>
              </a:spcBef>
            </a:pPr>
            <a:r>
              <a:rPr sz="1100" b="1">
                <a:solidFill>
                  <a:srgbClr val="0F172A"/>
                </a:solidFill>
                <a:latin typeface="Arial"/>
              </a:rPr>
              <a:t>• latitude / longitude: </a:t>
            </a:r>
            <a:r>
              <a:rPr sz="1000">
                <a:solidFill>
                  <a:srgbClr val="243541"/>
                </a:solidFill>
                <a:latin typeface="Arial"/>
              </a:rPr>
              <a:t>REAL (Coordinates for live map)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70000" y="2050000"/>
            <a:ext cx="3650000" cy="4000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420000" y="2200000"/>
            <a:ext cx="3350000" cy="600000"/>
          </a:xfrm>
          <a:prstGeom prst="roundRect">
            <a:avLst/>
          </a:prstGeom>
          <a:solidFill>
            <a:srgbClr val="243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Scanner Detail Tables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50000" y="2900000"/>
            <a:ext cx="3290000" cy="3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64748B"/>
                </a:solidFill>
                <a:latin typeface="Arial"/>
              </a:rPr>
              <a:t>NORMALIZED MULTI-VECTOR DATA</a:t>
            </a:r>
          </a:p>
          <a:p>
            <a:pPr>
              <a:spcBef>
                <a:spcPts val="400"/>
              </a:spcBef>
            </a:pPr>
            <a:r>
              <a:rPr sz="1100" b="1">
                <a:solidFill>
                  <a:srgbClr val="0F172A"/>
                </a:solidFill>
                <a:latin typeface="Arial"/>
              </a:rPr>
              <a:t>• url_scans: </a:t>
            </a:r>
            <a:r>
              <a:rPr sz="1000">
                <a:solidFill>
                  <a:srgbClr val="243541"/>
                </a:solidFill>
                <a:latin typeface="Arial"/>
              </a:rPr>
              <a:t>14 cols: status_code, redirects, age, VT flags</a:t>
            </a:r>
          </a:p>
          <a:p>
            <a:pPr>
              <a:spcBef>
                <a:spcPts val="400"/>
              </a:spcBef>
            </a:pPr>
            <a:r>
              <a:rPr sz="1100" b="1">
                <a:solidFill>
                  <a:srgbClr val="0F172A"/>
                </a:solidFill>
                <a:latin typeface="Arial"/>
              </a:rPr>
              <a:t>• ip_scans: </a:t>
            </a:r>
            <a:r>
              <a:rPr sz="1000">
                <a:solidFill>
                  <a:srgbClr val="243541"/>
                </a:solidFill>
                <a:latin typeface="Arial"/>
              </a:rPr>
              <a:t>13 cols: abuse_score, ASN, ISP, Tor exit flag</a:t>
            </a:r>
          </a:p>
          <a:p>
            <a:pPr>
              <a:spcBef>
                <a:spcPts val="400"/>
              </a:spcBef>
            </a:pPr>
            <a:r>
              <a:rPr sz="1100" b="1">
                <a:solidFill>
                  <a:srgbClr val="0F172A"/>
                </a:solidFill>
                <a:latin typeface="Arial"/>
              </a:rPr>
              <a:t>• website_scans: </a:t>
            </a:r>
            <a:r>
              <a:rPr sz="1000">
                <a:solidFill>
                  <a:srgbClr val="243541"/>
                </a:solidFill>
                <a:latin typeface="Arial"/>
              </a:rPr>
              <a:t>12 cols: SSL cert, cipher, headers, tech stack</a:t>
            </a:r>
          </a:p>
          <a:p>
            <a:pPr>
              <a:spcBef>
                <a:spcPts val="400"/>
              </a:spcBef>
            </a:pPr>
            <a:r>
              <a:rPr sz="1100" b="1">
                <a:solidFill>
                  <a:srgbClr val="0F172A"/>
                </a:solidFill>
                <a:latin typeface="Arial"/>
              </a:rPr>
              <a:t>• email_scans: </a:t>
            </a:r>
            <a:r>
              <a:rPr sz="1000">
                <a:solidFill>
                  <a:srgbClr val="243541"/>
                </a:solidFill>
                <a:latin typeface="Arial"/>
              </a:rPr>
              <a:t>10 cols: SPF, DKIM, DMARC, MX, disposable</a:t>
            </a:r>
          </a:p>
          <a:p>
            <a:pPr>
              <a:spcBef>
                <a:spcPts val="400"/>
              </a:spcBef>
            </a:pPr>
            <a:r>
              <a:rPr sz="1100" b="1">
                <a:solidFill>
                  <a:srgbClr val="0F172A"/>
                </a:solidFill>
                <a:latin typeface="Arial"/>
              </a:rPr>
              <a:t>• domain_scans: </a:t>
            </a:r>
            <a:r>
              <a:rPr sz="1000">
                <a:solidFill>
                  <a:srgbClr val="243541"/>
                </a:solidFill>
                <a:latin typeface="Arial"/>
              </a:rPr>
              <a:t>11 cols: WHOIS, registrar, DNSSEC, expiry</a:t>
            </a:r>
          </a:p>
          <a:p>
            <a:pPr>
              <a:spcBef>
                <a:spcPts val="400"/>
              </a:spcBef>
            </a:pPr>
            <a:r>
              <a:rPr sz="1100" b="1">
                <a:solidFill>
                  <a:srgbClr val="0F172A"/>
                </a:solidFill>
                <a:latin typeface="Arial"/>
              </a:rPr>
              <a:t>• file_scans: </a:t>
            </a:r>
            <a:r>
              <a:rPr sz="1000">
                <a:solidFill>
                  <a:srgbClr val="243541"/>
                </a:solidFill>
                <a:latin typeface="Arial"/>
              </a:rPr>
              <a:t>13 cols: MD5, SHA256, size, entropy, PE headers</a:t>
            </a:r>
          </a:p>
          <a:p>
            <a:pPr>
              <a:spcBef>
                <a:spcPts val="400"/>
              </a:spcBef>
            </a:pPr>
            <a:r>
              <a:rPr sz="1100" b="1">
                <a:solidFill>
                  <a:srgbClr val="0F172A"/>
                </a:solidFill>
                <a:latin typeface="Arial"/>
              </a:rPr>
              <a:t>• qr_scans: </a:t>
            </a:r>
            <a:r>
              <a:rPr sz="1000">
                <a:solidFill>
                  <a:srgbClr val="243541"/>
                </a:solidFill>
                <a:latin typeface="Arial"/>
              </a:rPr>
              <a:t>9 cols: decoded_text, payment_uri, redirect_url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40000" y="2050000"/>
            <a:ext cx="3650000" cy="4000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390000" y="2200000"/>
            <a:ext cx="3350000" cy="600000"/>
          </a:xfrm>
          <a:prstGeom prst="roundRect">
            <a:avLst/>
          </a:prstGeom>
          <a:solidFill>
            <a:srgbClr val="33B6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System Telemetry Tables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20000" y="2900000"/>
            <a:ext cx="3290000" cy="3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64748B"/>
                </a:solidFill>
                <a:latin typeface="Arial"/>
              </a:rPr>
              <a:t>AUDITING &amp; ADMINISTRATION</a:t>
            </a:r>
          </a:p>
          <a:p>
            <a:pPr>
              <a:spcBef>
                <a:spcPts val="400"/>
              </a:spcBef>
            </a:pPr>
            <a:r>
              <a:rPr sz="1100" b="1">
                <a:solidFill>
                  <a:srgbClr val="0F172A"/>
                </a:solidFill>
                <a:latin typeface="Arial"/>
              </a:rPr>
              <a:t>• api_logs: </a:t>
            </a:r>
            <a:r>
              <a:rPr sz="1000">
                <a:solidFill>
                  <a:srgbClr val="243541"/>
                </a:solidFill>
                <a:latin typeface="Arial"/>
              </a:rPr>
              <a:t>7 cols: service, latency_ms, status_code, quota</a:t>
            </a:r>
          </a:p>
          <a:p>
            <a:pPr>
              <a:spcBef>
                <a:spcPts val="400"/>
              </a:spcBef>
            </a:pPr>
            <a:r>
              <a:rPr sz="1100" b="1">
                <a:solidFill>
                  <a:srgbClr val="0F172A"/>
                </a:solidFill>
                <a:latin typeface="Arial"/>
              </a:rPr>
              <a:t>• reports: </a:t>
            </a:r>
            <a:r>
              <a:rPr sz="1000">
                <a:solidFill>
                  <a:srgbClr val="243541"/>
                </a:solidFill>
                <a:latin typeface="Arial"/>
              </a:rPr>
              <a:t>5 cols: report_id, scan_id, pdf_path, json_path</a:t>
            </a:r>
          </a:p>
          <a:p>
            <a:pPr>
              <a:spcBef>
                <a:spcPts val="400"/>
              </a:spcBef>
            </a:pPr>
            <a:r>
              <a:rPr sz="1100" b="1">
                <a:solidFill>
                  <a:srgbClr val="0F172A"/>
                </a:solidFill>
                <a:latin typeface="Arial"/>
              </a:rPr>
              <a:t>• settings: </a:t>
            </a:r>
            <a:r>
              <a:rPr sz="1000">
                <a:solidFill>
                  <a:srgbClr val="243541"/>
                </a:solidFill>
                <a:latin typeface="Arial"/>
              </a:rPr>
              <a:t>Key-value system configuration records</a:t>
            </a:r>
          </a:p>
          <a:p>
            <a:pPr>
              <a:spcBef>
                <a:spcPts val="400"/>
              </a:spcBef>
            </a:pPr>
            <a:r>
              <a:rPr sz="1100" b="1">
                <a:solidFill>
                  <a:srgbClr val="0F172A"/>
                </a:solidFill>
                <a:latin typeface="Arial"/>
              </a:rPr>
              <a:t>• scan_statistics: </a:t>
            </a:r>
            <a:r>
              <a:rPr sz="1000">
                <a:solidFill>
                  <a:srgbClr val="243541"/>
                </a:solidFill>
                <a:latin typeface="Arial"/>
              </a:rPr>
              <a:t>Aggregated daily/weekly threat metrics</a:t>
            </a:r>
          </a:p>
          <a:p>
            <a:pPr>
              <a:spcBef>
                <a:spcPts val="400"/>
              </a:spcBef>
            </a:pPr>
            <a:r>
              <a:rPr sz="1100" b="1">
                <a:solidFill>
                  <a:srgbClr val="0F172A"/>
                </a:solidFill>
                <a:latin typeface="Arial"/>
              </a:rPr>
              <a:t>• feedback: </a:t>
            </a:r>
            <a:r>
              <a:rPr sz="1000">
                <a:solidFill>
                  <a:srgbClr val="243541"/>
                </a:solidFill>
                <a:latin typeface="Arial"/>
              </a:rPr>
              <a:t>Analyst verification and review telemetry</a:t>
            </a:r>
          </a:p>
          <a:p>
            <a:pPr>
              <a:spcBef>
                <a:spcPts val="400"/>
              </a:spcBef>
            </a:pPr>
            <a:r>
              <a:rPr sz="1100" b="1">
                <a:solidFill>
                  <a:srgbClr val="0F172A"/>
                </a:solidFill>
                <a:latin typeface="Arial"/>
              </a:rPr>
              <a:t>• users: </a:t>
            </a:r>
            <a:r>
              <a:rPr sz="1000">
                <a:solidFill>
                  <a:srgbClr val="243541"/>
                </a:solidFill>
                <a:latin typeface="Arial"/>
              </a:rPr>
              <a:t>Authentication and role permissions</a:t>
            </a:r>
          </a:p>
          <a:p>
            <a:pPr>
              <a:spcBef>
                <a:spcPts val="400"/>
              </a:spcBef>
            </a:pPr>
            <a:r>
              <a:rPr sz="1100" b="1">
                <a:solidFill>
                  <a:srgbClr val="0F172A"/>
                </a:solidFill>
                <a:latin typeface="Arial"/>
              </a:rPr>
              <a:t>• Performance: </a:t>
            </a:r>
            <a:r>
              <a:rPr sz="1000">
                <a:solidFill>
                  <a:srgbClr val="243541"/>
                </a:solidFill>
                <a:latin typeface="Arial"/>
              </a:rPr>
              <a:t>11 B-Tree indexes on scan_time, risk_level, target</a:t>
            </a:r>
          </a:p>
        </p:txBody>
      </p:sp>
    </p:spTree>
    <p:extLst>
      <p:ext uri="{BB962C8B-B14F-4D97-AF65-F5344CB8AC3E}">
        <p14:creationId xmlns:p14="http://schemas.microsoft.com/office/powerpoint/2010/main" val="17785415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10500000" cy="930000"/>
          </a:xfrm>
          <a:prstGeom prst="rect">
            <a:avLst/>
          </a:prstGeom>
          <a:noFill/>
        </p:spPr>
        <p:txBody>
          <a:bodyPr wrap="square" lIns="120000" tIns="50000" rIns="0" bIns="0">
            <a:spAutoFit/>
          </a:bodyPr>
          <a:lstStyle/>
          <a:p>
            <a:pPr algn="l"/>
            <a:r>
              <a:rPr sz="5200" b="1">
                <a:solidFill>
                  <a:srgbClr val="0F172A"/>
                </a:solidFill>
                <a:latin typeface="Georgia Pro Cond Light"/>
              </a:rPr>
              <a:t>W</a:t>
            </a:r>
            <a:r>
              <a:rPr sz="3600" b="1">
                <a:solidFill>
                  <a:srgbClr val="0F172A"/>
                </a:solidFill>
                <a:latin typeface="Georgia Pro Cond Light"/>
              </a:rPr>
              <a:t>orking</a:t>
            </a:r>
            <a:r>
              <a:rPr sz="5200" b="1">
                <a:solidFill>
                  <a:srgbClr val="0F172A"/>
                </a:solidFill>
                <a:latin typeface="Georgia Pro Cond Light"/>
              </a:rPr>
              <a:t> P</a:t>
            </a:r>
            <a:r>
              <a:rPr sz="3600" b="1">
                <a:solidFill>
                  <a:srgbClr val="0F172A"/>
                </a:solidFill>
                <a:latin typeface="Georgia Pro Cond Light"/>
              </a:rPr>
              <a:t>rototype</a:t>
            </a:r>
            <a:r>
              <a:rPr sz="3600" b="1">
                <a:solidFill>
                  <a:srgbClr val="0F172A"/>
                </a:solidFill>
                <a:latin typeface="Georgia Pro Cond Light"/>
              </a:rPr>
              <a:t> &amp;</a:t>
            </a:r>
            <a:r>
              <a:rPr sz="5200" b="1">
                <a:solidFill>
                  <a:srgbClr val="0F172A"/>
                </a:solidFill>
                <a:latin typeface="Georgia Pro Cond Light"/>
              </a:rPr>
              <a:t> U</a:t>
            </a:r>
            <a:r>
              <a:rPr sz="3600" b="1">
                <a:solidFill>
                  <a:srgbClr val="0F172A"/>
                </a:solidFill>
                <a:latin typeface="Georgia Pro Cond Light"/>
              </a:rPr>
              <a:t>I</a:t>
            </a:r>
            <a:r>
              <a:rPr sz="5200" b="1">
                <a:solidFill>
                  <a:srgbClr val="0F172A"/>
                </a:solidFill>
                <a:latin typeface="Georgia Pro Cond Light"/>
              </a:rPr>
              <a:t> D</a:t>
            </a:r>
            <a:r>
              <a:rPr sz="3600" b="1">
                <a:solidFill>
                  <a:srgbClr val="0F172A"/>
                </a:solidFill>
                <a:latin typeface="Georgia Pro Cond Light"/>
              </a:rPr>
              <a:t>ashboard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31985"/>
            <a:ext cx="2479431" cy="25000"/>
          </a:xfrm>
          <a:prstGeom prst="rect">
            <a:avLst/>
          </a:prstGeom>
          <a:solidFill>
            <a:srgbClr val="243541"/>
          </a:solidFill>
          <a:ln>
            <a:solidFill>
              <a:srgbClr val="2435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224954"/>
            <a:ext cx="12192000" cy="633036"/>
          </a:xfrm>
          <a:prstGeom prst="rect">
            <a:avLst/>
          </a:prstGeom>
          <a:solidFill>
            <a:srgbClr val="243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04" y="6471688"/>
            <a:ext cx="334970" cy="33144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0000" y="6430000"/>
            <a:ext cx="2500000" cy="3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Georgia Pro Cond Light"/>
              </a:rPr>
              <a:t>CyberMind-AI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00000" y="6180000"/>
            <a:ext cx="800000" cy="6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4400" b="1">
                <a:solidFill>
                  <a:srgbClr val="FFFFFF"/>
                </a:solidFill>
                <a:latin typeface="Algerian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0000" y="1150000"/>
            <a:ext cx="5600000" cy="2320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0000" y="1210000"/>
            <a:ext cx="5480000" cy="1870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0000" y="3050000"/>
            <a:ext cx="54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2980B9"/>
                </a:solidFill>
                <a:latin typeface="Arial"/>
              </a:rPr>
              <a:t>✔ Streamlit Main Dashboard: </a:t>
            </a:r>
            <a:r>
              <a:rPr sz="950">
                <a:solidFill>
                  <a:srgbClr val="243541"/>
                </a:solidFill>
                <a:latin typeface="Arial"/>
              </a:rPr>
              <a:t>Total Scans (25), Safe (12), Threats (9), Suspicious (4), Avg Risk Score (48/100), and Analysis Modules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0000" y="1150000"/>
            <a:ext cx="5600000" cy="2320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10000" y="1210000"/>
            <a:ext cx="5480000" cy="18700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50000" y="3050000"/>
            <a:ext cx="54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2980B9"/>
                </a:solidFill>
                <a:latin typeface="Arial"/>
              </a:rPr>
              <a:t>✔ Real-Time Scan History Telemetry: </a:t>
            </a:r>
            <a:r>
              <a:rPr sz="950">
                <a:solidFill>
                  <a:srgbClr val="243541"/>
                </a:solidFill>
                <a:latin typeface="Arial"/>
              </a:rPr>
              <a:t>Live SQLite database table showing historical scans with risk score badges, targets, and inspection buttons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0000" y="3620000"/>
            <a:ext cx="5600000" cy="2320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0000" y="3680000"/>
            <a:ext cx="5480000" cy="1870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50000" y="5520000"/>
            <a:ext cx="54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2980B9"/>
                </a:solidFill>
                <a:latin typeface="Arial"/>
              </a:rPr>
              <a:t>✔ Analytics &amp; Threat Intelligence Panel: </a:t>
            </a:r>
            <a:r>
              <a:rPr sz="950">
                <a:solidFill>
                  <a:srgbClr val="243541"/>
                </a:solidFill>
                <a:latin typeface="Arial"/>
              </a:rPr>
              <a:t>System ML Accuracy (94.0%), 7-day scan trendlines, risk score trajectory graph, and live geographical threat map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50000" y="3620000"/>
            <a:ext cx="5600000" cy="2320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10000" y="3680000"/>
            <a:ext cx="5480000" cy="18700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350000" y="5520000"/>
            <a:ext cx="54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2980B9"/>
                </a:solidFill>
                <a:latin typeface="Arial"/>
              </a:rPr>
              <a:t>✔ Live URL Scanner in Action: </a:t>
            </a:r>
            <a:r>
              <a:rPr sz="950">
                <a:solidFill>
                  <a:srgbClr val="243541"/>
                </a:solidFill>
                <a:latin typeface="Arial"/>
              </a:rPr>
              <a:t>Malicious URL scan flagging 100/100 Critical risk in 7.14s latency with Groq Llama-3 AI executive summary</a:t>
            </a:r>
          </a:p>
        </p:txBody>
      </p:sp>
    </p:spTree>
    <p:extLst>
      <p:ext uri="{BB962C8B-B14F-4D97-AF65-F5344CB8AC3E}">
        <p14:creationId xmlns:p14="http://schemas.microsoft.com/office/powerpoint/2010/main" val="13105744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10500000" cy="930000"/>
          </a:xfrm>
          <a:prstGeom prst="rect">
            <a:avLst/>
          </a:prstGeom>
          <a:noFill/>
        </p:spPr>
        <p:txBody>
          <a:bodyPr wrap="square" lIns="120000" tIns="50000" rIns="0" bIns="0">
            <a:spAutoFit/>
          </a:bodyPr>
          <a:lstStyle/>
          <a:p>
            <a:pPr algn="l"/>
            <a:r>
              <a:rPr sz="5200" b="1">
                <a:solidFill>
                  <a:srgbClr val="0F172A"/>
                </a:solidFill>
                <a:latin typeface="Georgia Pro Cond Light"/>
              </a:rPr>
              <a:t>T</a:t>
            </a:r>
            <a:r>
              <a:rPr sz="3600" b="1">
                <a:solidFill>
                  <a:srgbClr val="0F172A"/>
                </a:solidFill>
                <a:latin typeface="Georgia Pro Cond Light"/>
              </a:rPr>
              <a:t>esting</a:t>
            </a:r>
            <a:r>
              <a:rPr sz="5200" b="1">
                <a:solidFill>
                  <a:srgbClr val="0F172A"/>
                </a:solidFill>
                <a:latin typeface="Georgia Pro Cond Light"/>
              </a:rPr>
              <a:t> M</a:t>
            </a:r>
            <a:r>
              <a:rPr sz="3600" b="1">
                <a:solidFill>
                  <a:srgbClr val="0F172A"/>
                </a:solidFill>
                <a:latin typeface="Georgia Pro Cond Light"/>
              </a:rPr>
              <a:t>ethodology</a:t>
            </a:r>
            <a:r>
              <a:rPr sz="3600" b="1">
                <a:solidFill>
                  <a:srgbClr val="0F172A"/>
                </a:solidFill>
                <a:latin typeface="Georgia Pro Cond Light"/>
              </a:rPr>
              <a:t> &amp;</a:t>
            </a:r>
            <a:r>
              <a:rPr sz="5200" b="1">
                <a:solidFill>
                  <a:srgbClr val="0F172A"/>
                </a:solidFill>
                <a:latin typeface="Georgia Pro Cond Light"/>
              </a:rPr>
              <a:t> V</a:t>
            </a:r>
            <a:r>
              <a:rPr sz="3600" b="1">
                <a:solidFill>
                  <a:srgbClr val="0F172A"/>
                </a:solidFill>
                <a:latin typeface="Georgia Pro Cond Light"/>
              </a:rPr>
              <a:t>erification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31985"/>
            <a:ext cx="2479431" cy="25000"/>
          </a:xfrm>
          <a:prstGeom prst="rect">
            <a:avLst/>
          </a:prstGeom>
          <a:solidFill>
            <a:srgbClr val="243541"/>
          </a:solidFill>
          <a:ln>
            <a:solidFill>
              <a:srgbClr val="2435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224954"/>
            <a:ext cx="12192000" cy="633036"/>
          </a:xfrm>
          <a:prstGeom prst="rect">
            <a:avLst/>
          </a:prstGeom>
          <a:solidFill>
            <a:srgbClr val="243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04" y="6471688"/>
            <a:ext cx="334970" cy="33144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0000" y="6430000"/>
            <a:ext cx="2500000" cy="3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Georgia Pro Cond Light"/>
              </a:rPr>
              <a:t>CyberMind-AI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00000" y="6180000"/>
            <a:ext cx="800000" cy="6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4400" b="1">
                <a:solidFill>
                  <a:srgbClr val="FFFFFF"/>
                </a:solidFill>
                <a:latin typeface="Algerian"/>
              </a:rP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0000" y="1150000"/>
            <a:ext cx="5600000" cy="4850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20000" y="1250000"/>
            <a:ext cx="5360000" cy="550000"/>
          </a:xfrm>
          <a:prstGeom prst="roundRect">
            <a:avLst/>
          </a:prstGeom>
          <a:solidFill>
            <a:srgbClr val="243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TESTING ARCHITECTURE &amp; AUTOMATION WORKFLOW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0000" y="1880000"/>
            <a:ext cx="5300000" cy="4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980B9"/>
                </a:solidFill>
                <a:latin typeface="Arial"/>
              </a:rPr>
              <a:t>✔ Automated Pytest Framework (tests/tests_root.py)
</a:t>
            </a:r>
            <a:r>
              <a:rPr sz="1050">
                <a:solidFill>
                  <a:srgbClr val="0F172A"/>
                </a:solidFill>
                <a:latin typeface="Arial"/>
              </a:rPr>
              <a:t>Enterprise Pytest test harness orchestrated via root.py, executing 15 test files with parallel execution and health assertions.</a:t>
            </a:r>
          </a:p>
          <a:p>
            <a:pPr>
              <a:spcBef>
                <a:spcPts val="800"/>
              </a:spcBef>
            </a:pPr>
            <a:r>
              <a:rPr sz="1200" b="1">
                <a:solidFill>
                  <a:srgbClr val="2980B9"/>
                </a:solidFill>
                <a:latin typeface="Arial"/>
              </a:rPr>
              <a:t>✔ Deterministic Test Fixtures (tests/conftest.py)
</a:t>
            </a:r>
            <a:r>
              <a:rPr sz="1050">
                <a:solidFill>
                  <a:srgbClr val="0F172A"/>
                </a:solidFill>
                <a:latin typeface="Arial"/>
              </a:rPr>
              <a:t>Standardized session-scoped fixtures providing verified inputs: sample URLs, domains, emails, IP addresses, PE sample files, and decoded QR payloads.</a:t>
            </a:r>
          </a:p>
          <a:p>
            <a:pPr>
              <a:spcBef>
                <a:spcPts val="800"/>
              </a:spcBef>
            </a:pPr>
            <a:r>
              <a:rPr sz="1200" b="1">
                <a:solidFill>
                  <a:srgbClr val="2980B9"/>
                </a:solidFill>
                <a:latin typeface="Arial"/>
              </a:rPr>
              <a:t>✔ Multi-Stage Verification Pipeline
</a:t>
            </a:r>
            <a:r>
              <a:rPr sz="1050">
                <a:solidFill>
                  <a:srgbClr val="0F172A"/>
                </a:solidFill>
                <a:latin typeface="Arial"/>
              </a:rPr>
              <a:t>Input Target ➔ core/validator.py Sanitization ➔ Service Execution ➔ Assertion of Expected vs. Actual Outputs ➔ Pass / Fail ➔ Auto-Fallback Verification.</a:t>
            </a:r>
          </a:p>
          <a:p>
            <a:pPr>
              <a:spcBef>
                <a:spcPts val="800"/>
              </a:spcBef>
            </a:pPr>
            <a:r>
              <a:rPr sz="1200" b="1">
                <a:solidFill>
                  <a:srgbClr val="2980B9"/>
                </a:solidFill>
                <a:latin typeface="Arial"/>
              </a:rPr>
              <a:t>✔ Diagnostics Master Orchestrator (root.py)
</a:t>
            </a:r>
            <a:r>
              <a:rPr sz="1050">
                <a:solidFill>
                  <a:srgbClr val="0F172A"/>
                </a:solidFill>
                <a:latin typeface="Arial"/>
              </a:rPr>
              <a:t>Sequential 5-phase validation: module discovery, manager initialization, health checks, test suite execution, and live diagnostic scans.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0000" y="1150000"/>
            <a:ext cx="5600000" cy="4850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70000" y="1250000"/>
            <a:ext cx="5360000" cy="550000"/>
          </a:xfrm>
          <a:prstGeom prst="roundRect">
            <a:avLst/>
          </a:prstGeom>
          <a:solidFill>
            <a:srgbClr val="33B6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7 IMPLEMENTED TESTING CATEGORIES (156 TEST CASES)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0" y="1880000"/>
            <a:ext cx="5300000" cy="4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243541"/>
                </a:solidFill>
                <a:latin typeface="Arial"/>
              </a:rPr>
              <a:t>• 1. Functional Scanner Tests: </a:t>
            </a:r>
            <a:r>
              <a:rPr sz="1050">
                <a:solidFill>
                  <a:srgbClr val="0F172A"/>
                </a:solidFill>
                <a:latin typeface="Arial"/>
              </a:rPr>
              <a:t>test_modules.py &amp; test_universal_scan.py: Routing, parameter handling, and return payload structure across all 10 scanners.</a:t>
            </a:r>
          </a:p>
          <a:p>
            <a:pPr>
              <a:spcBef>
                <a:spcPts val="600"/>
              </a:spcBef>
            </a:pPr>
            <a:r>
              <a:rPr sz="1150" b="1">
                <a:solidFill>
                  <a:srgbClr val="243541"/>
                </a:solidFill>
                <a:latin typeface="Arial"/>
              </a:rPr>
              <a:t>• 2. External Service &amp; API Tests: </a:t>
            </a:r>
            <a:r>
              <a:rPr sz="1050">
                <a:solidFill>
                  <a:srgbClr val="0F172A"/>
                </a:solidFill>
                <a:latin typeface="Arial"/>
              </a:rPr>
              <a:t>test_api.py &amp; test_services.py: Validates mock fallbacks, API rate limits, timeouts, and live endpoints.</a:t>
            </a:r>
          </a:p>
          <a:p>
            <a:pPr>
              <a:spcBef>
                <a:spcPts val="600"/>
              </a:spcBef>
            </a:pPr>
            <a:r>
              <a:rPr sz="1150" b="1">
                <a:solidFill>
                  <a:srgbClr val="243541"/>
                </a:solidFill>
                <a:latin typeface="Arial"/>
              </a:rPr>
              <a:t>• 3. ML Prediction &amp; Inference Tests: </a:t>
            </a:r>
            <a:r>
              <a:rPr sz="1050">
                <a:solidFill>
                  <a:srgbClr val="0F172A"/>
                </a:solidFill>
                <a:latin typeface="Arial"/>
              </a:rPr>
              <a:t>test_ml.py: Verifies 50-feature array shapes, probability calibration, and model serialization.</a:t>
            </a:r>
          </a:p>
          <a:p>
            <a:pPr>
              <a:spcBef>
                <a:spcPts val="600"/>
              </a:spcBef>
            </a:pPr>
            <a:r>
              <a:rPr sz="1150" b="1">
                <a:solidFill>
                  <a:srgbClr val="243541"/>
                </a:solidFill>
                <a:latin typeface="Arial"/>
              </a:rPr>
              <a:t>• 4. Relational Database Tests: </a:t>
            </a:r>
            <a:r>
              <a:rPr sz="1050">
                <a:solidFill>
                  <a:srgbClr val="0F172A"/>
                </a:solidFill>
                <a:latin typeface="Arial"/>
              </a:rPr>
              <a:t>test_database.py: Asserts schema migrations, foreign keys, record CRUD, and multi-thread safe execution.</a:t>
            </a:r>
          </a:p>
          <a:p>
            <a:pPr>
              <a:spcBef>
                <a:spcPts val="600"/>
              </a:spcBef>
            </a:pPr>
            <a:r>
              <a:rPr sz="1150" b="1">
                <a:solidFill>
                  <a:srgbClr val="243541"/>
                </a:solidFill>
                <a:latin typeface="Arial"/>
              </a:rPr>
              <a:t>• 5. Device Hardening Audit Tests: </a:t>
            </a:r>
            <a:r>
              <a:rPr sz="1050">
                <a:solidFill>
                  <a:srgbClr val="0F172A"/>
                </a:solidFill>
                <a:latin typeface="Arial"/>
              </a:rPr>
              <a:t>test_device_security.py: Validates local port scanning, Windows firewall detection, and OS checks.</a:t>
            </a:r>
          </a:p>
          <a:p>
            <a:pPr>
              <a:spcBef>
                <a:spcPts val="600"/>
              </a:spcBef>
            </a:pPr>
            <a:r>
              <a:rPr sz="1150" b="1">
                <a:solidFill>
                  <a:srgbClr val="243541"/>
                </a:solidFill>
                <a:latin typeface="Arial"/>
              </a:rPr>
              <a:t>• 6. Input Validation &amp; Error Handling: </a:t>
            </a:r>
            <a:r>
              <a:rPr sz="1050">
                <a:solidFill>
                  <a:srgbClr val="0F172A"/>
                </a:solidFill>
                <a:latin typeface="Arial"/>
              </a:rPr>
              <a:t>Tests malformed URLs, empty targets, non-numeric phones, and SQL injection sanitization.</a:t>
            </a:r>
          </a:p>
          <a:p>
            <a:pPr>
              <a:spcBef>
                <a:spcPts val="600"/>
              </a:spcBef>
            </a:pPr>
            <a:r>
              <a:rPr sz="1150" b="1">
                <a:solidFill>
                  <a:srgbClr val="243541"/>
                </a:solidFill>
                <a:latin typeface="Arial"/>
              </a:rPr>
              <a:t>• 7. Startup Diagnostics &amp; Health Checks: </a:t>
            </a:r>
            <a:r>
              <a:rPr sz="1050">
                <a:solidFill>
                  <a:srgbClr val="0F172A"/>
                </a:solidFill>
                <a:latin typeface="Arial"/>
              </a:rPr>
              <a:t>test_startup.py: Comprehensive health verification across all 10 manager classes.</a:t>
            </a:r>
          </a:p>
        </p:txBody>
      </p:sp>
    </p:spTree>
    <p:extLst>
      <p:ext uri="{BB962C8B-B14F-4D97-AF65-F5344CB8AC3E}">
        <p14:creationId xmlns:p14="http://schemas.microsoft.com/office/powerpoint/2010/main" val="33864497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10500000" cy="930000"/>
          </a:xfrm>
          <a:prstGeom prst="rect">
            <a:avLst/>
          </a:prstGeom>
          <a:noFill/>
        </p:spPr>
        <p:txBody>
          <a:bodyPr wrap="square" lIns="120000" tIns="50000" rIns="0" bIns="0">
            <a:spAutoFit/>
          </a:bodyPr>
          <a:lstStyle/>
          <a:p>
            <a:pPr algn="l"/>
            <a:r>
              <a:rPr sz="5200" b="1">
                <a:solidFill>
                  <a:srgbClr val="0F172A"/>
                </a:solidFill>
                <a:latin typeface="Georgia Pro Cond Light"/>
              </a:rPr>
              <a:t>T</a:t>
            </a:r>
            <a:r>
              <a:rPr sz="3600" b="1">
                <a:solidFill>
                  <a:srgbClr val="0F172A"/>
                </a:solidFill>
                <a:latin typeface="Georgia Pro Cond Light"/>
              </a:rPr>
              <a:t>est</a:t>
            </a:r>
            <a:r>
              <a:rPr sz="5200" b="1">
                <a:solidFill>
                  <a:srgbClr val="0F172A"/>
                </a:solidFill>
                <a:latin typeface="Georgia Pro Cond Light"/>
              </a:rPr>
              <a:t> C</a:t>
            </a:r>
            <a:r>
              <a:rPr sz="3600" b="1">
                <a:solidFill>
                  <a:srgbClr val="0F172A"/>
                </a:solidFill>
                <a:latin typeface="Georgia Pro Cond Light"/>
              </a:rPr>
              <a:t>ases</a:t>
            </a:r>
            <a:r>
              <a:rPr sz="3600" b="1">
                <a:solidFill>
                  <a:srgbClr val="0F172A"/>
                </a:solidFill>
                <a:latin typeface="Georgia Pro Cond Light"/>
              </a:rPr>
              <a:t> &amp;</a:t>
            </a:r>
            <a:r>
              <a:rPr sz="5200" b="1">
                <a:solidFill>
                  <a:srgbClr val="0F172A"/>
                </a:solidFill>
                <a:latin typeface="Georgia Pro Cond Light"/>
              </a:rPr>
              <a:t> E</a:t>
            </a:r>
            <a:r>
              <a:rPr sz="3600" b="1">
                <a:solidFill>
                  <a:srgbClr val="0F172A"/>
                </a:solidFill>
                <a:latin typeface="Georgia Pro Cond Light"/>
              </a:rPr>
              <a:t>xecution</a:t>
            </a:r>
            <a:r>
              <a:rPr sz="5200" b="1">
                <a:solidFill>
                  <a:srgbClr val="0F172A"/>
                </a:solidFill>
                <a:latin typeface="Georgia Pro Cond Light"/>
              </a:rPr>
              <a:t> M</a:t>
            </a:r>
            <a:r>
              <a:rPr sz="3600" b="1">
                <a:solidFill>
                  <a:srgbClr val="0F172A"/>
                </a:solidFill>
                <a:latin typeface="Georgia Pro Cond Light"/>
              </a:rPr>
              <a:t>atrix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31985"/>
            <a:ext cx="2479431" cy="25000"/>
          </a:xfrm>
          <a:prstGeom prst="rect">
            <a:avLst/>
          </a:prstGeom>
          <a:solidFill>
            <a:srgbClr val="243541"/>
          </a:solidFill>
          <a:ln>
            <a:solidFill>
              <a:srgbClr val="2435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224954"/>
            <a:ext cx="12192000" cy="633036"/>
          </a:xfrm>
          <a:prstGeom prst="rect">
            <a:avLst/>
          </a:prstGeom>
          <a:solidFill>
            <a:srgbClr val="243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04" y="6471688"/>
            <a:ext cx="334970" cy="33144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0000" y="6430000"/>
            <a:ext cx="2500000" cy="3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Georgia Pro Cond Light"/>
              </a:rPr>
              <a:t>CyberMind-AI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00000" y="6180000"/>
            <a:ext cx="800000" cy="6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4400" b="1">
                <a:solidFill>
                  <a:srgbClr val="FFFFFF"/>
                </a:solidFill>
                <a:latin typeface="Algerian"/>
              </a:rPr>
              <a:t>12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00000" y="1150000"/>
          <a:ext cx="11592000" cy="42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0000"/>
                <a:gridCol w="2500000"/>
                <a:gridCol w="2200000"/>
                <a:gridCol w="2600000"/>
                <a:gridCol w="2200000"/>
                <a:gridCol w="992000"/>
              </a:tblGrid>
              <a:tr h="466666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Test ID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Target / Input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Test Scope &amp; Module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Expected Result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Actual Result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66666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43541"/>
                          </a:solidFill>
                          <a:latin typeface="Arial"/>
                        </a:rPr>
                        <a:t>TC-01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0F172A"/>
                          </a:solidFill>
                          <a:latin typeface="Arial"/>
                        </a:rPr>
                        <a:t>https://example.com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0F172A"/>
                          </a:solidFill>
                          <a:latin typeface="Arial"/>
                        </a:rPr>
                        <a:t>URL Scanner Validation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0F172A"/>
                          </a:solidFill>
                          <a:latin typeface="Arial"/>
                        </a:rPr>
                        <a:t>Score &lt; 20, 0 engine flags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0F172A"/>
                          </a:solidFill>
                          <a:latin typeface="Arial"/>
                        </a:rPr>
                        <a:t>Risk: 8/100 (Safe), 0 flags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2C55E"/>
                          </a:solidFill>
                          <a:latin typeface="Arial"/>
                        </a:rPr>
                        <a:t>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6666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43541"/>
                          </a:solidFill>
                          <a:latin typeface="Arial"/>
                        </a:rPr>
                        <a:t>TC-02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0F172A"/>
                          </a:solidFill>
                          <a:latin typeface="Arial"/>
                        </a:rPr>
                        <a:t>testsafebrowsing.appspot.com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0F172A"/>
                          </a:solidFill>
                          <a:latin typeface="Arial"/>
                        </a:rPr>
                        <a:t>Malicious URL Detection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0F172A"/>
                          </a:solidFill>
                          <a:latin typeface="Arial"/>
                        </a:rPr>
                        <a:t>Score = 100, Critical alert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0F172A"/>
                          </a:solidFill>
                          <a:latin typeface="Arial"/>
                        </a:rPr>
                        <a:t>Risk: 100/100 (Critical), VT flagged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2C55E"/>
                          </a:solidFill>
                          <a:latin typeface="Arial"/>
                        </a:rPr>
                        <a:t>PASS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66666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43541"/>
                          </a:solidFill>
                          <a:latin typeface="Arial"/>
                        </a:rPr>
                        <a:t>TC-03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0F172A"/>
                          </a:solidFill>
                          <a:latin typeface="Arial"/>
                        </a:rPr>
                        <a:t>8.8.8.8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0F172A"/>
                          </a:solidFill>
                          <a:latin typeface="Arial"/>
                        </a:rPr>
                        <a:t>IP Intelligence Scanner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0F172A"/>
                          </a:solidFill>
                          <a:latin typeface="Arial"/>
                        </a:rPr>
                        <a:t>Resolved ASN, score = 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0F172A"/>
                          </a:solidFill>
                          <a:latin typeface="Arial"/>
                        </a:rPr>
                        <a:t>Org: Google LLC, Score: 0 (Safe)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2C55E"/>
                          </a:solidFill>
                          <a:latin typeface="Arial"/>
                        </a:rPr>
                        <a:t>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6666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43541"/>
                          </a:solidFill>
                          <a:latin typeface="Arial"/>
                        </a:rPr>
                        <a:t>TC-04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0F172A"/>
                          </a:solidFill>
                          <a:latin typeface="Arial"/>
                        </a:rPr>
                        <a:t>+91 9123456789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0F172A"/>
                          </a:solidFill>
                          <a:latin typeface="Arial"/>
                        </a:rPr>
                        <a:t>Phone Threat Intelligence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0F172A"/>
                          </a:solidFill>
                          <a:latin typeface="Arial"/>
                        </a:rPr>
                        <a:t>Carrier identified, line type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0F172A"/>
                          </a:solidFill>
                          <a:latin typeface="Arial"/>
                        </a:rPr>
                        <a:t>Carrier resolved, mobile line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2C55E"/>
                          </a:solidFill>
                          <a:latin typeface="Arial"/>
                        </a:rPr>
                        <a:t>PASS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66666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43541"/>
                          </a:solidFill>
                          <a:latin typeface="Arial"/>
                        </a:rPr>
                        <a:t>TC-05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0F172A"/>
                          </a:solidFill>
                          <a:latin typeface="Arial"/>
                        </a:rPr>
                        <a:t>sample.pdf (1,024 B)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0F172A"/>
                          </a:solidFill>
                          <a:latin typeface="Arial"/>
                        </a:rPr>
                        <a:t>File &amp; PE Malware Scanner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0F172A"/>
                          </a:solidFill>
                          <a:latin typeface="Arial"/>
                        </a:rPr>
                        <a:t>Benign signature match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0F172A"/>
                          </a:solidFill>
                          <a:latin typeface="Arial"/>
                        </a:rPr>
                        <a:t>High-confidence benign signature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2C55E"/>
                          </a:solidFill>
                          <a:latin typeface="Arial"/>
                        </a:rPr>
                        <a:t>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6666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43541"/>
                          </a:solidFill>
                          <a:latin typeface="Arial"/>
                        </a:rPr>
                        <a:t>TC-06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0F172A"/>
                          </a:solidFill>
                          <a:latin typeface="Arial"/>
                        </a:rPr>
                        <a:t>Query: 'password policy'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0F172A"/>
                          </a:solidFill>
                          <a:latin typeface="Arial"/>
                        </a:rPr>
                        <a:t>Groq AI Offline Fallback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0F172A"/>
                          </a:solidFill>
                          <a:latin typeface="Arial"/>
                        </a:rPr>
                        <a:t>Executive mitigation advice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0F172A"/>
                          </a:solidFill>
                          <a:latin typeface="Arial"/>
                        </a:rPr>
                        <a:t>Plain-English policy advice returned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2C55E"/>
                          </a:solidFill>
                          <a:latin typeface="Arial"/>
                        </a:rPr>
                        <a:t>PASS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66666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43541"/>
                          </a:solidFill>
                          <a:latin typeface="Arial"/>
                        </a:rPr>
                        <a:t>TC-07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0F172A"/>
                          </a:solidFill>
                          <a:latin typeface="Arial"/>
                        </a:rPr>
                        <a:t>Write Scan to cybermind.db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0F172A"/>
                          </a:solidFill>
                          <a:latin typeface="Arial"/>
                        </a:rPr>
                        <a:t>Database Persistence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0F172A"/>
                          </a:solidFill>
                          <a:latin typeface="Arial"/>
                        </a:rPr>
                        <a:t>New row in scan_history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0F172A"/>
                          </a:solidFill>
                          <a:latin typeface="Arial"/>
                        </a:rPr>
                        <a:t>Row created with PK &amp; timestamp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2C55E"/>
                          </a:solidFill>
                          <a:latin typeface="Arial"/>
                        </a:rPr>
                        <a:t>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6672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43541"/>
                          </a:solidFill>
                          <a:latin typeface="Arial"/>
                        </a:rPr>
                        <a:t>TC-08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0F172A"/>
                          </a:solidFill>
                          <a:latin typeface="Arial"/>
                        </a:rPr>
                        <a:t>Invalid non-numeric phone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0F172A"/>
                          </a:solidFill>
                          <a:latin typeface="Arial"/>
                        </a:rPr>
                        <a:t>Input Validation Sanitizer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0F172A"/>
                          </a:solidFill>
                          <a:latin typeface="Arial"/>
                        </a:rPr>
                        <a:t>ValidationError raised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0F172A"/>
                          </a:solidFill>
                          <a:latin typeface="Arial"/>
                        </a:rPr>
                        <a:t>Sanitizer rejects, UI error displayed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2C55E"/>
                          </a:solidFill>
                          <a:latin typeface="Arial"/>
                        </a:rPr>
                        <a:t>PASS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300000" y="5450000"/>
            <a:ext cx="11592000" cy="650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0000" y="5500000"/>
            <a:ext cx="11392000" cy="5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980B9"/>
                </a:solidFill>
                <a:latin typeface="Arial"/>
              </a:rPr>
              <a:t>EXECUTION SUMMARY: </a:t>
            </a:r>
            <a:r>
              <a:rPr sz="1200" b="1">
                <a:solidFill>
                  <a:srgbClr val="22C55E"/>
                </a:solidFill>
                <a:latin typeface="Arial"/>
              </a:rPr>
              <a:t>Total Automated Test Cases: 156  |  Passed: 156 (100% Pass Rate)  |  Failed: 0  |  Execution Duration: 8.42s  |  All 10 Managers Verified Healthy</a:t>
            </a:r>
          </a:p>
        </p:txBody>
      </p:sp>
    </p:spTree>
    <p:extLst>
      <p:ext uri="{BB962C8B-B14F-4D97-AF65-F5344CB8AC3E}">
        <p14:creationId xmlns:p14="http://schemas.microsoft.com/office/powerpoint/2010/main" val="12009206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10500000" cy="930000"/>
          </a:xfrm>
          <a:prstGeom prst="rect">
            <a:avLst/>
          </a:prstGeom>
          <a:noFill/>
        </p:spPr>
        <p:txBody>
          <a:bodyPr wrap="square" lIns="120000" tIns="50000" rIns="0" bIns="0">
            <a:spAutoFit/>
          </a:bodyPr>
          <a:lstStyle/>
          <a:p>
            <a:pPr algn="l"/>
            <a:r>
              <a:rPr sz="5200" b="1">
                <a:solidFill>
                  <a:srgbClr val="0F172A"/>
                </a:solidFill>
                <a:latin typeface="Georgia Pro Cond Light"/>
              </a:rPr>
              <a:t>C</a:t>
            </a:r>
            <a:r>
              <a:rPr sz="3600" b="1">
                <a:solidFill>
                  <a:srgbClr val="0F172A"/>
                </a:solidFill>
                <a:latin typeface="Georgia Pro Cond Light"/>
              </a:rPr>
              <a:t>ode</a:t>
            </a:r>
            <a:r>
              <a:rPr sz="5200" b="1">
                <a:solidFill>
                  <a:srgbClr val="0F172A"/>
                </a:solidFill>
                <a:latin typeface="Georgia Pro Cond Light"/>
              </a:rPr>
              <a:t> R</a:t>
            </a:r>
            <a:r>
              <a:rPr sz="3600" b="1">
                <a:solidFill>
                  <a:srgbClr val="0F172A"/>
                </a:solidFill>
                <a:latin typeface="Georgia Pro Cond Light"/>
              </a:rPr>
              <a:t>eview,</a:t>
            </a:r>
            <a:r>
              <a:rPr sz="5200" b="1">
                <a:solidFill>
                  <a:srgbClr val="0F172A"/>
                </a:solidFill>
                <a:latin typeface="Georgia Pro Cond Light"/>
              </a:rPr>
              <a:t> B</a:t>
            </a:r>
            <a:r>
              <a:rPr sz="3600" b="1">
                <a:solidFill>
                  <a:srgbClr val="0F172A"/>
                </a:solidFill>
                <a:latin typeface="Georgia Pro Cond Light"/>
              </a:rPr>
              <a:t>ugs</a:t>
            </a:r>
            <a:r>
              <a:rPr sz="3600" b="1">
                <a:solidFill>
                  <a:srgbClr val="0F172A"/>
                </a:solidFill>
                <a:latin typeface="Georgia Pro Cond Light"/>
              </a:rPr>
              <a:t> &amp;</a:t>
            </a:r>
            <a:r>
              <a:rPr sz="5200" b="1">
                <a:solidFill>
                  <a:srgbClr val="0F172A"/>
                </a:solidFill>
                <a:latin typeface="Georgia Pro Cond Light"/>
              </a:rPr>
              <a:t> I</a:t>
            </a:r>
            <a:r>
              <a:rPr sz="3600" b="1">
                <a:solidFill>
                  <a:srgbClr val="0F172A"/>
                </a:solidFill>
                <a:latin typeface="Georgia Pro Cond Light"/>
              </a:rPr>
              <a:t>ssue</a:t>
            </a:r>
            <a:r>
              <a:rPr sz="5200" b="1">
                <a:solidFill>
                  <a:srgbClr val="0F172A"/>
                </a:solidFill>
                <a:latin typeface="Georgia Pro Cond Light"/>
              </a:rPr>
              <a:t> R</a:t>
            </a:r>
            <a:r>
              <a:rPr sz="3600" b="1">
                <a:solidFill>
                  <a:srgbClr val="0F172A"/>
                </a:solidFill>
                <a:latin typeface="Georgia Pro Cond Light"/>
              </a:rPr>
              <a:t>esolution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31985"/>
            <a:ext cx="2479431" cy="25000"/>
          </a:xfrm>
          <a:prstGeom prst="rect">
            <a:avLst/>
          </a:prstGeom>
          <a:solidFill>
            <a:srgbClr val="243541"/>
          </a:solidFill>
          <a:ln>
            <a:solidFill>
              <a:srgbClr val="2435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224954"/>
            <a:ext cx="12192000" cy="633036"/>
          </a:xfrm>
          <a:prstGeom prst="rect">
            <a:avLst/>
          </a:prstGeom>
          <a:solidFill>
            <a:srgbClr val="243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04" y="6471688"/>
            <a:ext cx="334970" cy="33144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0000" y="6430000"/>
            <a:ext cx="2500000" cy="3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Georgia Pro Cond Light"/>
              </a:rPr>
              <a:t>CyberMind-AI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00000" y="6180000"/>
            <a:ext cx="800000" cy="6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4400" b="1">
                <a:solidFill>
                  <a:srgbClr val="FFFFFF"/>
                </a:solidFill>
                <a:latin typeface="Algerian"/>
              </a:rPr>
              <a:t>13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00000" y="1150000"/>
          <a:ext cx="11592000" cy="31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0000"/>
                <a:gridCol w="3200000"/>
                <a:gridCol w="4792000"/>
                <a:gridCol w="1200000"/>
              </a:tblGrid>
              <a:tr h="516666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Issue Encountered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Root Cause Analysis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Architectural Solution Applied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16666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243541"/>
                          </a:solidFill>
                          <a:latin typeface="Arial"/>
                        </a:rPr>
                        <a:t>API Timeouts &amp; Rate Limits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0F172A"/>
                          </a:solidFill>
                          <a:latin typeface="Arial"/>
                        </a:rPr>
                        <a:t>External TI network delays and quota exhaustions on VirusTotal/AbuseIPDB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0F172A"/>
                          </a:solidFill>
                          <a:latin typeface="Arial"/>
                        </a:rPr>
                        <a:t>Implemented asynchronous 5-second timeout guards with local heuristic fallbacks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2C55E"/>
                          </a:solidFill>
                          <a:latin typeface="Arial"/>
                        </a:rPr>
                        <a:t>Resolved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6666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243541"/>
                          </a:solidFill>
                          <a:latin typeface="Arial"/>
                        </a:rPr>
                        <a:t>Service Export Singleton Mismatch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0F172A"/>
                          </a:solidFill>
                          <a:latin typeface="Arial"/>
                        </a:rPr>
                        <a:t>Service classes were defined but uninstantiated at bottom of files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0F172A"/>
                          </a:solidFill>
                          <a:latin typeface="Arial"/>
                        </a:rPr>
                        <a:t>Instantiated singleton instances in services/* and exposed via services_root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2C55E"/>
                          </a:solidFill>
                          <a:latin typeface="Arial"/>
                        </a:rPr>
                        <a:t>Resolved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16666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243541"/>
                          </a:solidFill>
                          <a:latin typeface="Arial"/>
                        </a:rPr>
                        <a:t>Database Initialization Race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0F172A"/>
                          </a:solidFill>
                          <a:latin typeface="Arial"/>
                        </a:rPr>
                        <a:t>Queries executed in tests before tables were created in cybermind.db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0F172A"/>
                          </a:solidFill>
                          <a:latin typeface="Arial"/>
                        </a:rPr>
                        <a:t>Added dynamic initialize_database() migration runner invoked in db.py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2C55E"/>
                          </a:solidFill>
                          <a:latin typeface="Arial"/>
                        </a:rPr>
                        <a:t>Resolved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6666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243541"/>
                          </a:solidFill>
                          <a:latin typeface="Arial"/>
                        </a:rPr>
                        <a:t>Streamlit ScriptRunContext Warns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0F172A"/>
                          </a:solidFill>
                          <a:latin typeface="Arial"/>
                        </a:rPr>
                        <a:t>Pytest CLI lacked active Streamlit session state, causing noisy warnings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0F172A"/>
                          </a:solidFill>
                          <a:latin typeface="Arial"/>
                        </a:rPr>
                        <a:t>Implemented _NoStreamlitBare logger filter and mock session state in tests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2C55E"/>
                          </a:solidFill>
                          <a:latin typeface="Arial"/>
                        </a:rPr>
                        <a:t>Resolved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1667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243541"/>
                          </a:solidFill>
                          <a:latin typeface="Arial"/>
                        </a:rPr>
                        <a:t>Timezone-Naive Timestamp Arithmetic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0F172A"/>
                          </a:solidFill>
                          <a:latin typeface="Arial"/>
                        </a:rPr>
                        <a:t>Date comparisons mixed naive and UTC datetimes in analytics module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0F172A"/>
                          </a:solidFill>
                          <a:latin typeface="Arial"/>
                        </a:rPr>
                        <a:t>Standardized on timezone-aware ISO 8601 UTC timestamps across database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2C55E"/>
                          </a:solidFill>
                          <a:latin typeface="Arial"/>
                        </a:rPr>
                        <a:t>Resolved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300000" y="4400000"/>
            <a:ext cx="11592000" cy="1650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0000" y="4480000"/>
            <a:ext cx="1129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980B9"/>
                </a:solidFill>
                <a:latin typeface="Arial"/>
              </a:rPr>
              <a:t>CODING STANDARDS &amp; ARCHITECTURAL BEST PRACTICES APPLIED:</a:t>
            </a:r>
          </a:p>
          <a:p>
            <a:pPr>
              <a:spcBef>
                <a:spcPts val="300"/>
              </a:spcBef>
            </a:pPr>
            <a:r>
              <a:rPr sz="1100" b="1">
                <a:solidFill>
                  <a:srgbClr val="243541"/>
                </a:solidFill>
                <a:latin typeface="Arial"/>
              </a:rPr>
              <a:t>✔ Decoupled 3-Tier Layering: </a:t>
            </a:r>
            <a:r>
              <a:rPr sz="1050">
                <a:solidFill>
                  <a:srgbClr val="0F172A"/>
                </a:solidFill>
                <a:latin typeface="Arial"/>
              </a:rPr>
              <a:t>Strict separation between UI (Streamlit), Business Logic (Modules/Services/ML), and Storage (SQLite).</a:t>
            </a:r>
          </a:p>
          <a:p>
            <a:pPr>
              <a:spcBef>
                <a:spcPts val="300"/>
              </a:spcBef>
            </a:pPr>
            <a:r>
              <a:rPr sz="1100" b="1">
                <a:solidFill>
                  <a:srgbClr val="243541"/>
                </a:solidFill>
                <a:latin typeface="Arial"/>
              </a:rPr>
              <a:t>✔ Strict Schema Validation: </a:t>
            </a:r>
            <a:r>
              <a:rPr sz="1050">
                <a:solidFill>
                  <a:srgbClr val="0F172A"/>
                </a:solidFill>
                <a:latin typeface="Arial"/>
              </a:rPr>
              <a:t>All incoming payloads sanitized through core/validator.py before reaching scanner engines.</a:t>
            </a:r>
          </a:p>
          <a:p>
            <a:pPr>
              <a:spcBef>
                <a:spcPts val="300"/>
              </a:spcBef>
            </a:pPr>
            <a:r>
              <a:rPr sz="1100" b="1">
                <a:solidFill>
                  <a:srgbClr val="243541"/>
                </a:solidFill>
                <a:latin typeface="Arial"/>
              </a:rPr>
              <a:t>✔ Defensive Error Handling: </a:t>
            </a:r>
            <a:r>
              <a:rPr sz="1050">
                <a:solidFill>
                  <a:srgbClr val="0F172A"/>
                </a:solidFill>
                <a:latin typeface="Arial"/>
              </a:rPr>
              <a:t>Every external API call wrapped in try/except blocks with structured logging via core/logger.py.</a:t>
            </a:r>
          </a:p>
          <a:p>
            <a:pPr>
              <a:spcBef>
                <a:spcPts val="300"/>
              </a:spcBef>
            </a:pPr>
            <a:r>
              <a:rPr sz="1100" b="1">
                <a:solidFill>
                  <a:srgbClr val="243541"/>
                </a:solidFill>
                <a:latin typeface="Arial"/>
              </a:rPr>
              <a:t>✔ Type Hinting &amp; Modularity: </a:t>
            </a:r>
            <a:r>
              <a:rPr sz="1050">
                <a:solidFill>
                  <a:srgbClr val="0F172A"/>
                </a:solidFill>
                <a:latin typeface="Arial"/>
              </a:rPr>
              <a:t>Comprehensive Python 3.12+ type annotations (from __future__ import annotations) throughout.</a:t>
            </a:r>
          </a:p>
        </p:txBody>
      </p:sp>
    </p:spTree>
    <p:extLst>
      <p:ext uri="{BB962C8B-B14F-4D97-AF65-F5344CB8AC3E}">
        <p14:creationId xmlns:p14="http://schemas.microsoft.com/office/powerpoint/2010/main" val="7787836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10500000" cy="930000"/>
          </a:xfrm>
          <a:prstGeom prst="rect">
            <a:avLst/>
          </a:prstGeom>
          <a:noFill/>
        </p:spPr>
        <p:txBody>
          <a:bodyPr wrap="square" lIns="120000" tIns="50000" rIns="0" bIns="0">
            <a:spAutoFit/>
          </a:bodyPr>
          <a:lstStyle/>
          <a:p>
            <a:pPr algn="l"/>
            <a:r>
              <a:rPr sz="5200" b="1">
                <a:solidFill>
                  <a:srgbClr val="0F172A"/>
                </a:solidFill>
                <a:latin typeface="Georgia Pro Cond Light"/>
              </a:rPr>
              <a:t>C</a:t>
            </a:r>
            <a:r>
              <a:rPr sz="3600" b="1">
                <a:solidFill>
                  <a:srgbClr val="0F172A"/>
                </a:solidFill>
                <a:latin typeface="Georgia Pro Cond Light"/>
              </a:rPr>
              <a:t>urrent</a:t>
            </a:r>
            <a:r>
              <a:rPr sz="5200" b="1">
                <a:solidFill>
                  <a:srgbClr val="0F172A"/>
                </a:solidFill>
                <a:latin typeface="Georgia Pro Cond Light"/>
              </a:rPr>
              <a:t> P</a:t>
            </a:r>
            <a:r>
              <a:rPr sz="3600" b="1">
                <a:solidFill>
                  <a:srgbClr val="0F172A"/>
                </a:solidFill>
                <a:latin typeface="Georgia Pro Cond Light"/>
              </a:rPr>
              <a:t>roject</a:t>
            </a:r>
            <a:r>
              <a:rPr sz="5200" b="1">
                <a:solidFill>
                  <a:srgbClr val="0F172A"/>
                </a:solidFill>
                <a:latin typeface="Georgia Pro Cond Light"/>
              </a:rPr>
              <a:t> P</a:t>
            </a:r>
            <a:r>
              <a:rPr sz="3600" b="1">
                <a:solidFill>
                  <a:srgbClr val="0F172A"/>
                </a:solidFill>
                <a:latin typeface="Georgia Pro Cond Light"/>
              </a:rPr>
              <a:t>rogress</a:t>
            </a:r>
            <a:r>
              <a:rPr sz="3600" b="1">
                <a:solidFill>
                  <a:srgbClr val="0F172A"/>
                </a:solidFill>
                <a:latin typeface="Georgia Pro Cond Light"/>
              </a:rPr>
              <a:t> &amp;</a:t>
            </a:r>
            <a:r>
              <a:rPr sz="5200" b="1">
                <a:solidFill>
                  <a:srgbClr val="0F172A"/>
                </a:solidFill>
                <a:latin typeface="Georgia Pro Cond Light"/>
              </a:rPr>
              <a:t> R</a:t>
            </a:r>
            <a:r>
              <a:rPr sz="3600" b="1">
                <a:solidFill>
                  <a:srgbClr val="0F172A"/>
                </a:solidFill>
                <a:latin typeface="Georgia Pro Cond Light"/>
              </a:rPr>
              <a:t>oadmap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31985"/>
            <a:ext cx="2479431" cy="25000"/>
          </a:xfrm>
          <a:prstGeom prst="rect">
            <a:avLst/>
          </a:prstGeom>
          <a:solidFill>
            <a:srgbClr val="243541"/>
          </a:solidFill>
          <a:ln>
            <a:solidFill>
              <a:srgbClr val="2435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224954"/>
            <a:ext cx="12192000" cy="633036"/>
          </a:xfrm>
          <a:prstGeom prst="rect">
            <a:avLst/>
          </a:prstGeom>
          <a:solidFill>
            <a:srgbClr val="243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04" y="6471688"/>
            <a:ext cx="334970" cy="33144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0000" y="6430000"/>
            <a:ext cx="2500000" cy="3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Georgia Pro Cond Light"/>
              </a:rPr>
              <a:t>CyberMind-AI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00000" y="6180000"/>
            <a:ext cx="800000" cy="6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4400" b="1">
                <a:solidFill>
                  <a:srgbClr val="FFFFFF"/>
                </a:solidFill>
                <a:latin typeface="Algerian"/>
              </a:rP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0000" y="1150000"/>
            <a:ext cx="1800000" cy="1050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0000" y="1210000"/>
            <a:ext cx="1640000" cy="9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64748B"/>
                </a:solidFill>
                <a:latin typeface="Arial"/>
              </a:rPr>
              <a:t>IMPLEMENTATION</a:t>
            </a:r>
          </a:p>
          <a:p>
            <a:pPr algn="ctr"/>
            <a:r>
              <a:rPr sz="1700" b="1">
                <a:solidFill>
                  <a:srgbClr val="2980B9"/>
                </a:solidFill>
                <a:latin typeface="Arial"/>
              </a:rPr>
              <a:t>68%</a:t>
            </a:r>
          </a:p>
          <a:p>
            <a:pPr algn="ctr"/>
            <a:r>
              <a:rPr sz="900">
                <a:solidFill>
                  <a:srgbClr val="243541"/>
                </a:solidFill>
                <a:latin typeface="Arial"/>
              </a:rPr>
              <a:t>Core Operational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58400" y="1150000"/>
            <a:ext cx="1800000" cy="1050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38400" y="1210000"/>
            <a:ext cx="1640000" cy="9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64748B"/>
                </a:solidFill>
                <a:latin typeface="Arial"/>
              </a:rPr>
              <a:t>MODULES</a:t>
            </a:r>
          </a:p>
          <a:p>
            <a:pPr algn="ctr"/>
            <a:r>
              <a:rPr sz="1700" b="1">
                <a:solidFill>
                  <a:srgbClr val="33B67D"/>
                </a:solidFill>
                <a:latin typeface="Arial"/>
              </a:rPr>
              <a:t>10 / 10</a:t>
            </a:r>
          </a:p>
          <a:p>
            <a:pPr algn="ctr"/>
            <a:r>
              <a:rPr sz="900">
                <a:solidFill>
                  <a:srgbClr val="243541"/>
                </a:solidFill>
                <a:latin typeface="Arial"/>
              </a:rPr>
              <a:t>All Active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16800" y="1150000"/>
            <a:ext cx="1800000" cy="1050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6800" y="1210000"/>
            <a:ext cx="1640000" cy="9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64748B"/>
                </a:solidFill>
                <a:latin typeface="Arial"/>
              </a:rPr>
              <a:t>SERVICES / APIs</a:t>
            </a:r>
          </a:p>
          <a:p>
            <a:pPr algn="ctr"/>
            <a:r>
              <a:rPr sz="1700" b="1">
                <a:solidFill>
                  <a:srgbClr val="243541"/>
                </a:solidFill>
                <a:latin typeface="Arial"/>
              </a:rPr>
              <a:t>30+</a:t>
            </a:r>
          </a:p>
          <a:p>
            <a:pPr algn="ctr"/>
            <a:r>
              <a:rPr sz="900">
                <a:solidFill>
                  <a:srgbClr val="243541"/>
                </a:solidFill>
                <a:latin typeface="Arial"/>
              </a:rPr>
              <a:t>Integrated &amp; Cached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5200" y="1150000"/>
            <a:ext cx="1800000" cy="1050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55200" y="1210000"/>
            <a:ext cx="1640000" cy="9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64748B"/>
                </a:solidFill>
                <a:latin typeface="Arial"/>
              </a:rPr>
              <a:t>ML ACCURACY</a:t>
            </a:r>
          </a:p>
          <a:p>
            <a:pPr algn="ctr"/>
            <a:r>
              <a:rPr sz="1700" b="1">
                <a:solidFill>
                  <a:srgbClr val="22C55E"/>
                </a:solidFill>
                <a:latin typeface="Arial"/>
              </a:rPr>
              <a:t>92.3%</a:t>
            </a:r>
          </a:p>
          <a:p>
            <a:pPr algn="ctr"/>
            <a:r>
              <a:rPr sz="900">
                <a:solidFill>
                  <a:srgbClr val="243541"/>
                </a:solidFill>
                <a:latin typeface="Arial"/>
              </a:rPr>
              <a:t>5-Fold Stratified CV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3600" y="1150000"/>
            <a:ext cx="1800000" cy="1050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13600" y="1210000"/>
            <a:ext cx="1640000" cy="9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64748B"/>
                </a:solidFill>
                <a:latin typeface="Arial"/>
              </a:rPr>
              <a:t>TEST CASES</a:t>
            </a:r>
          </a:p>
          <a:p>
            <a:pPr algn="ctr"/>
            <a:r>
              <a:rPr sz="1700" b="1">
                <a:solidFill>
                  <a:srgbClr val="22C55E"/>
                </a:solidFill>
                <a:latin typeface="Arial"/>
              </a:rPr>
              <a:t>156 / 156</a:t>
            </a:r>
          </a:p>
          <a:p>
            <a:pPr algn="ctr"/>
            <a:r>
              <a:rPr sz="900">
                <a:solidFill>
                  <a:srgbClr val="243541"/>
                </a:solidFill>
                <a:latin typeface="Arial"/>
              </a:rPr>
              <a:t>100% Passing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092000" y="1150000"/>
            <a:ext cx="1800000" cy="1050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172000" y="1210000"/>
            <a:ext cx="1640000" cy="9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64748B"/>
                </a:solidFill>
                <a:latin typeface="Arial"/>
              </a:rPr>
              <a:t>RESOLVED BUGS</a:t>
            </a:r>
          </a:p>
          <a:p>
            <a:pPr algn="ctr"/>
            <a:r>
              <a:rPr sz="1700" b="1">
                <a:solidFill>
                  <a:srgbClr val="F59E0B"/>
                </a:solidFill>
                <a:latin typeface="Arial"/>
              </a:rPr>
              <a:t>12 Fixes</a:t>
            </a:r>
          </a:p>
          <a:p>
            <a:pPr algn="ctr"/>
            <a:r>
              <a:rPr sz="900">
                <a:solidFill>
                  <a:srgbClr val="243541"/>
                </a:solidFill>
                <a:latin typeface="Arial"/>
              </a:rPr>
              <a:t>Refactored &amp; Verified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00000" y="2350000"/>
            <a:ext cx="5600000" cy="3700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20000" y="2500000"/>
            <a:ext cx="5360000" cy="55000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REVIEW 3 COMPLETED MILESTONES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0000" y="3130000"/>
            <a:ext cx="5300000" cy="28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43541"/>
                </a:solidFill>
                <a:latin typeface="Arial"/>
              </a:rPr>
              <a:t>✔ 10 Scanner Modules Fully Operational
</a:t>
            </a:r>
            <a:r>
              <a:rPr sz="1050">
                <a:solidFill>
                  <a:srgbClr val="0F172A"/>
                </a:solidFill>
                <a:latin typeface="Arial"/>
              </a:rPr>
              <a:t>    URL, Website, Domain, Email, IP, Phone, File/PE, QR, Device, and Universal.</a:t>
            </a:r>
          </a:p>
          <a:p>
            <a:pPr>
              <a:spcBef>
                <a:spcPts val="500"/>
              </a:spcBef>
            </a:pPr>
            <a:r>
              <a:rPr sz="1200" b="1">
                <a:solidFill>
                  <a:srgbClr val="243541"/>
                </a:solidFill>
                <a:latin typeface="Arial"/>
              </a:rPr>
              <a:t>✔ 30+ Threat Intelligence Services Integrated
</a:t>
            </a:r>
            <a:r>
              <a:rPr sz="1050">
                <a:solidFill>
                  <a:srgbClr val="0F172A"/>
                </a:solidFill>
                <a:latin typeface="Arial"/>
              </a:rPr>
              <a:t>    VirusTotal, AbuseIPDB, Veriphone, Google Safe Browsing, IPinfo, and IPQS.</a:t>
            </a:r>
          </a:p>
          <a:p>
            <a:pPr>
              <a:spcBef>
                <a:spcPts val="500"/>
              </a:spcBef>
            </a:pPr>
            <a:r>
              <a:rPr sz="1200" b="1">
                <a:solidFill>
                  <a:srgbClr val="243541"/>
                </a:solidFill>
                <a:latin typeface="Arial"/>
              </a:rPr>
              <a:t>✔ 4 Supervised ML Models Deployed
</a:t>
            </a:r>
            <a:r>
              <a:rPr sz="1050">
                <a:solidFill>
                  <a:srgbClr val="0F172A"/>
                </a:solidFill>
                <a:latin typeface="Arial"/>
              </a:rPr>
              <a:t>    Random Forest models achieving 92.32% CV accuracy across 240,000+ samples.</a:t>
            </a:r>
          </a:p>
          <a:p>
            <a:pPr>
              <a:spcBef>
                <a:spcPts val="500"/>
              </a:spcBef>
            </a:pPr>
            <a:r>
              <a:rPr sz="1200" b="1">
                <a:solidFill>
                  <a:srgbClr val="243541"/>
                </a:solidFill>
                <a:latin typeface="Arial"/>
              </a:rPr>
              <a:t>✔ Unified 0–100 Multi-Factor Risk Engine
</a:t>
            </a:r>
            <a:r>
              <a:rPr sz="1050">
                <a:solidFill>
                  <a:srgbClr val="0F172A"/>
                </a:solidFill>
                <a:latin typeface="Arial"/>
              </a:rPr>
              <a:t>    Dynamic weighted risk scores with 5 severity tiers and critical override triggers.</a:t>
            </a:r>
          </a:p>
          <a:p>
            <a:pPr>
              <a:spcBef>
                <a:spcPts val="500"/>
              </a:spcBef>
            </a:pPr>
            <a:r>
              <a:rPr sz="1200" b="1">
                <a:solidFill>
                  <a:srgbClr val="243541"/>
                </a:solidFill>
                <a:latin typeface="Arial"/>
              </a:rPr>
              <a:t>✔ Full Interactive Streamlit Dashboard
</a:t>
            </a:r>
            <a:r>
              <a:rPr sz="1050">
                <a:solidFill>
                  <a:srgbClr val="0F172A"/>
                </a:solidFill>
                <a:latin typeface="Arial"/>
              </a:rPr>
              <a:t>    Multi-page navigation, live scan charts, KPI cards, and threat map.</a:t>
            </a:r>
          </a:p>
          <a:p>
            <a:pPr>
              <a:spcBef>
                <a:spcPts val="500"/>
              </a:spcBef>
            </a:pPr>
            <a:r>
              <a:rPr sz="1200" b="1">
                <a:solidFill>
                  <a:srgbClr val="243541"/>
                </a:solidFill>
                <a:latin typeface="Arial"/>
              </a:rPr>
              <a:t>✔ 156 Automated Pytest Test Cases Passing
</a:t>
            </a:r>
            <a:r>
              <a:rPr sz="1050">
                <a:solidFill>
                  <a:srgbClr val="0F172A"/>
                </a:solidFill>
                <a:latin typeface="Arial"/>
              </a:rPr>
              <a:t>    100% passing test suite covering APIs, ML models, modules, and database.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50000" y="2350000"/>
            <a:ext cx="5600000" cy="3700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370000" y="2500000"/>
            <a:ext cx="5360000" cy="550000"/>
          </a:xfrm>
          <a:prstGeom prst="roundRect">
            <a:avLst/>
          </a:prstGeom>
          <a:solidFill>
            <a:srgbClr val="243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ROADMAP FOR REVIEW 4 / FINAL SUBMISSION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000" y="3130000"/>
            <a:ext cx="5300000" cy="28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980B9"/>
                </a:solidFill>
                <a:latin typeface="Arial"/>
              </a:rPr>
              <a:t>• Dynamic Malware Detonation Sandbox
</a:t>
            </a:r>
            <a:r>
              <a:rPr sz="1050">
                <a:solidFill>
                  <a:srgbClr val="0F172A"/>
                </a:solidFill>
                <a:latin typeface="Arial"/>
              </a:rPr>
              <a:t>    Integrate automated safe container detonation for runtime PE behavioral analysis.</a:t>
            </a:r>
          </a:p>
          <a:p>
            <a:pPr>
              <a:spcBef>
                <a:spcPts val="800"/>
              </a:spcBef>
            </a:pPr>
            <a:r>
              <a:rPr sz="1200" b="1">
                <a:solidFill>
                  <a:srgbClr val="2980B9"/>
                </a:solidFill>
                <a:latin typeface="Arial"/>
              </a:rPr>
              <a:t>• Enterprise SIEM / SOAR Webhook Connectors
</a:t>
            </a:r>
            <a:r>
              <a:rPr sz="1050">
                <a:solidFill>
                  <a:srgbClr val="0F172A"/>
                </a:solidFill>
                <a:latin typeface="Arial"/>
              </a:rPr>
              <a:t>    Real-time alert streaming to Splunk, Elastic Security, and Microsoft Sentinel.</a:t>
            </a:r>
          </a:p>
          <a:p>
            <a:pPr>
              <a:spcBef>
                <a:spcPts val="800"/>
              </a:spcBef>
            </a:pPr>
            <a:r>
              <a:rPr sz="1200" b="1">
                <a:solidFill>
                  <a:srgbClr val="2980B9"/>
                </a:solidFill>
                <a:latin typeface="Arial"/>
              </a:rPr>
              <a:t>• Automated Windows Firewall Active Response
</a:t>
            </a:r>
            <a:r>
              <a:rPr sz="1050">
                <a:solidFill>
                  <a:srgbClr val="0F172A"/>
                </a:solidFill>
                <a:latin typeface="Arial"/>
              </a:rPr>
              <a:t>    Automated script generation for immediate host-based IP and port blocking.</a:t>
            </a:r>
          </a:p>
          <a:p>
            <a:pPr>
              <a:spcBef>
                <a:spcPts val="800"/>
              </a:spcBef>
            </a:pPr>
            <a:r>
              <a:rPr sz="1200" b="1">
                <a:solidFill>
                  <a:srgbClr val="2980B9"/>
                </a:solidFill>
                <a:latin typeface="Arial"/>
              </a:rPr>
              <a:t>• Multi-User Role-Based Access Control (RBAC)
</a:t>
            </a:r>
            <a:r>
              <a:rPr sz="1050">
                <a:solidFill>
                  <a:srgbClr val="0F172A"/>
                </a:solidFill>
                <a:latin typeface="Arial"/>
              </a:rPr>
              <a:t>    Analyst vs. Administrator access tiers with audit trails and team reporting.</a:t>
            </a:r>
          </a:p>
          <a:p>
            <a:pPr>
              <a:spcBef>
                <a:spcPts val="800"/>
              </a:spcBef>
            </a:pPr>
            <a:r>
              <a:rPr sz="1200" b="1">
                <a:solidFill>
                  <a:srgbClr val="2980B9"/>
                </a:solidFill>
                <a:latin typeface="Arial"/>
              </a:rPr>
              <a:t>• Final Project Dissertation &amp; Deployment
</a:t>
            </a:r>
            <a:r>
              <a:rPr sz="1050">
                <a:solidFill>
                  <a:srgbClr val="0F172A"/>
                </a:solidFill>
                <a:latin typeface="Arial"/>
              </a:rPr>
              <a:t>    Production Docker containerization and comprehensive M.Sc. dissertation report.</a:t>
            </a:r>
          </a:p>
        </p:txBody>
      </p:sp>
    </p:spTree>
    <p:extLst>
      <p:ext uri="{BB962C8B-B14F-4D97-AF65-F5344CB8AC3E}">
        <p14:creationId xmlns:p14="http://schemas.microsoft.com/office/powerpoint/2010/main" val="34502064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D06FB18-DBE1-94CB-3EDC-444FA867E82F}"/>
              </a:ext>
            </a:extLst>
          </p:cNvPr>
          <p:cNvSpPr/>
          <p:nvPr/>
        </p:nvSpPr>
        <p:spPr>
          <a:xfrm>
            <a:off x="0" y="6224954"/>
            <a:ext cx="12192000" cy="6330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8D470F9-984A-9B2E-0D92-14193B0A30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6096000" y="0"/>
            <a:ext cx="6096000" cy="685799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B4DBD2D3-CA12-068E-53BB-D4CF2EE51C65}"/>
              </a:ext>
            </a:extLst>
          </p:cNvPr>
          <p:cNvSpPr txBox="1">
            <a:spLocks/>
          </p:cNvSpPr>
          <p:nvPr/>
        </p:nvSpPr>
        <p:spPr>
          <a:xfrm>
            <a:off x="285238" y="2494274"/>
            <a:ext cx="6748607" cy="253492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8000" dirty="0"/>
              <a:t>Thank You!</a:t>
            </a:r>
          </a:p>
          <a:p>
            <a:r>
              <a:rPr lang="en-US" sz="5400" dirty="0"/>
              <a:t>For Your Attention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928F34D-8AC3-4219-267E-DDEA1DED039C}"/>
              </a:ext>
            </a:extLst>
          </p:cNvPr>
          <p:cNvSpPr txBox="1"/>
          <p:nvPr/>
        </p:nvSpPr>
        <p:spPr>
          <a:xfrm>
            <a:off x="350229" y="4290619"/>
            <a:ext cx="62161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effectLst/>
              </a:rPr>
              <a:t>Stay Secure, Stay Smart, Stay Ahead.</a:t>
            </a:r>
            <a:endParaRPr lang="en-US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904106C-7EF7-28E8-1CFC-2582FAC7F42E}"/>
              </a:ext>
            </a:extLst>
          </p:cNvPr>
          <p:cNvSpPr txBox="1"/>
          <p:nvPr/>
        </p:nvSpPr>
        <p:spPr>
          <a:xfrm>
            <a:off x="656969" y="246157"/>
            <a:ext cx="16378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 err="1">
                <a:effectLst/>
                <a:latin typeface="+mj-lt"/>
              </a:rPr>
              <a:t>CyberMind</a:t>
            </a:r>
            <a:r>
              <a:rPr lang="en-US" b="1" i="0" dirty="0">
                <a:effectLst/>
                <a:latin typeface="+mj-lt"/>
              </a:rPr>
              <a:t>-AI</a:t>
            </a:r>
            <a:endParaRPr lang="en-US" b="1" dirty="0">
              <a:latin typeface="+mj-lt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72033A9-8D36-7EDC-D81B-309EEE99B3C1}"/>
              </a:ext>
            </a:extLst>
          </p:cNvPr>
          <p:cNvSpPr txBox="1"/>
          <p:nvPr/>
        </p:nvSpPr>
        <p:spPr>
          <a:xfrm>
            <a:off x="4285663" y="175819"/>
            <a:ext cx="19474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effectLst/>
                <a:latin typeface="+mj-lt"/>
              </a:rPr>
              <a:t>SOCCA - MSC DS</a:t>
            </a:r>
            <a:endParaRPr lang="en-US" b="1" dirty="0">
              <a:latin typeface="+mj-lt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9519522-FE1A-2235-D45A-47B99A42D854}"/>
              </a:ext>
            </a:extLst>
          </p:cNvPr>
          <p:cNvCxnSpPr/>
          <p:nvPr/>
        </p:nvCxnSpPr>
        <p:spPr>
          <a:xfrm>
            <a:off x="4844562" y="545151"/>
            <a:ext cx="1251438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Subtitle 2">
            <a:extLst>
              <a:ext uri="{FF2B5EF4-FFF2-40B4-BE49-F238E27FC236}">
                <a16:creationId xmlns:a16="http://schemas.microsoft.com/office/drawing/2014/main" id="{23E079D2-DD4C-8593-444E-61E60C6C7022}"/>
              </a:ext>
            </a:extLst>
          </p:cNvPr>
          <p:cNvSpPr txBox="1">
            <a:spLocks/>
          </p:cNvSpPr>
          <p:nvPr/>
        </p:nvSpPr>
        <p:spPr>
          <a:xfrm>
            <a:off x="-119758" y="6047651"/>
            <a:ext cx="4829101" cy="810349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/>
              <a:t>Presented by </a:t>
            </a:r>
            <a:r>
              <a:rPr lang="en-US" sz="1800" b="1" dirty="0"/>
              <a:t>Daksh Vasani </a:t>
            </a:r>
          </a:p>
          <a:p>
            <a:r>
              <a:rPr lang="en-US" sz="1800" dirty="0"/>
              <a:t>ER. NO: </a:t>
            </a:r>
            <a:r>
              <a:rPr lang="en-US" sz="1800" b="1" dirty="0"/>
              <a:t>2504070500037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F89498E-9702-4AB7-4DB9-F812EBE8E5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998" y="220486"/>
            <a:ext cx="425149" cy="420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5509660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VTI">
  <a:themeElements>
    <a:clrScheme name="">
      <a:dk1>
        <a:srgbClr val="000000"/>
      </a:dk1>
      <a:lt1>
        <a:srgbClr val="FFFFFF"/>
      </a:lt1>
      <a:dk2>
        <a:srgbClr val="243541"/>
      </a:dk2>
      <a:lt2>
        <a:srgbClr val="E2E5E8"/>
      </a:lt2>
      <a:accent1>
        <a:srgbClr val="E88B33"/>
      </a:accent1>
      <a:accent2>
        <a:srgbClr val="AEA33A"/>
      </a:accent2>
      <a:accent3>
        <a:srgbClr val="8CAB4A"/>
      </a:accent3>
      <a:accent4>
        <a:srgbClr val="57B636"/>
      </a:accent4>
      <a:accent5>
        <a:srgbClr val="2EBA43"/>
      </a:accent5>
      <a:accent6>
        <a:srgbClr val="33B67D"/>
      </a:accent6>
      <a:hlink>
        <a:srgbClr val="5F84A8"/>
      </a:hlink>
      <a:folHlink>
        <a:srgbClr val="7F7F7F"/>
      </a:folHlink>
    </a:clrScheme>
    <a:fontScheme name="Retrospect">
      <a:majorFont>
        <a:latin typeface="Georgia Pro Cond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Speak Pro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VTI" id="{ABE3C30C-0FC0-4450-828E-52DE70F1BCCB}" vid="{A6E2497D-935A-4CFD-B9FD-6DCB15FA68B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Custom 40">
    <a:dk1>
      <a:sysClr val="windowText" lastClr="000000"/>
    </a:dk1>
    <a:lt1>
      <a:sysClr val="window" lastClr="FFFFFF"/>
    </a:lt1>
    <a:dk2>
      <a:srgbClr val="545D57"/>
    </a:dk2>
    <a:lt2>
      <a:srgbClr val="EBEBE8"/>
    </a:lt2>
    <a:accent1>
      <a:srgbClr val="579858"/>
    </a:accent1>
    <a:accent2>
      <a:srgbClr val="ED583E"/>
    </a:accent2>
    <a:accent3>
      <a:srgbClr val="D3BA59"/>
    </a:accent3>
    <a:accent4>
      <a:srgbClr val="4C94AC"/>
    </a:accent4>
    <a:accent5>
      <a:srgbClr val="A09E84"/>
    </a:accent5>
    <a:accent6>
      <a:srgbClr val="FC7D4A"/>
    </a:accent6>
    <a:hlink>
      <a:srgbClr val="04A2DA"/>
    </a:hlink>
    <a:folHlink>
      <a:srgbClr val="808080"/>
    </a:folHlink>
  </a:clrScheme>
</a:themeOverrid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F3CD65D-61A5-43C9-A837-6EC73C7DA8A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31F006B4-A9E1-4F39-85C8-FB836F91934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6377351-63A1-4C2E-8C9A-66CDD70F16A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{BC739600-0E98-45D2-87EC-51CE7D3CCDDC}TF235124e3-e6db-4c6d-93c8-733f2fadbc609fb6f57c_win32-b1e91d96f19e</Template>
  <TotalTime>126</TotalTime>
  <Words>968</Words>
  <Application>Microsoft Office PowerPoint</Application>
  <PresentationFormat>Widescreen</PresentationFormat>
  <Paragraphs>149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Algerian</vt:lpstr>
      <vt:lpstr>Arial</vt:lpstr>
      <vt:lpstr>Calibri</vt:lpstr>
      <vt:lpstr>Courier New</vt:lpstr>
      <vt:lpstr>Georgia Pro Cond Light</vt:lpstr>
      <vt:lpstr>Georgia Pro Cond Light (Headings)</vt:lpstr>
      <vt:lpstr>Speak Pro</vt:lpstr>
      <vt:lpstr>RetrospectVTI</vt:lpstr>
      <vt:lpstr>CyberMind AI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Daksh vasani</dc:creator>
  <cp:lastModifiedBy>Daksh vasani</cp:lastModifiedBy>
  <cp:revision>6</cp:revision>
  <dcterms:created xsi:type="dcterms:W3CDTF">2026-08-16T10:08:41Z</dcterms:created>
  <dcterms:modified xsi:type="dcterms:W3CDTF">2026-08-17T06:40:39Z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